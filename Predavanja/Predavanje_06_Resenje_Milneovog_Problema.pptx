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0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03ACFF-AF0E-18A5-4A31-C6BE7639D22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3B333-EE7B-2D81-D8ED-9AA44C320D6B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1E78A-FCC0-E096-9F39-2CAA5506001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BC827-D629-0BB6-325E-5563432F2E9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B6324928-F534-487E-BE78-EB613DE2D392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40796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3224F-D9EE-E17A-D25E-868ED90129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B20D5-6B51-A684-11D6-2871BB694D0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73AA415-6025-BF2B-045C-4603568B91C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8C68C-A048-C577-BD10-F0D84EA28CAB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FA5D1-25FA-259E-3E32-A7D073DB06B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17779-4037-6A0A-5351-2A1FA9CD76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E49B9EFD-E048-4BB7-965C-FAB82FC0A40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21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66E40-412F-D019-80D3-A677D8EAAEF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59B9CD9-80BD-44E5-9F3D-ED5A7F76DC31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EEC83-A783-F2F7-2380-170E8E64910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15485-327A-F2B7-9693-89CE8C9985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F557-07EB-BF9A-907B-6C901EA1B4F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930C318-DF44-48CD-87A3-E32350C0F76C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57CF3-FE35-4CA5-9FF2-DC0089D1EA8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7C3A2-3891-0EF3-2946-B0697C2A72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372FF-283E-8115-86E5-FAD25E04418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F17933-68AC-4ACB-8C47-10FD27187527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620BB-3C9B-C4B8-C4C9-39EEAD32030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058FC-63AA-4A98-9E2F-62B68E006ED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92805-FA26-87DB-40BF-246C937572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601453D-B13A-4FDC-872E-05092A65BAEB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696D0-22B8-ACCB-068E-67ADF2EEFA1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77EF9-26B0-53F6-B5E8-02340D25A23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9B0E3-9C0B-FCC8-DB7F-B08F8F0C3A8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B2D4F08-7529-4E0F-9ABD-A2184D2BD48B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DE1B4-5645-A7BB-4ADB-B146AB09C48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63B89-1A46-CB52-64F8-BAB35982C0B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32A4F-8143-892A-02E5-98FA21343A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16A8556-F0E8-4673-922B-A8E47EF776AA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3DD39-671F-B67C-84EB-AC5DCE28EBD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EB552-F398-474B-95E8-388795E454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9BC4E-9DB0-6893-7FDE-77E7E8F6773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4940BE0-59FD-4EF5-BA70-3858298DE79C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904A9-5FFD-FF4B-0290-A3D0FF6FD53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4CC9F-60F2-935E-75DF-74D2FD1E1B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508DC-3BA5-320D-79A8-E71248B9DE2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159D166-CDBD-436A-B131-813833C89E3D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72283-86FE-35CD-6FBF-C5FEA1ADD3B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26786-B199-8767-5384-B6FBC583BE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6ECDF-049C-9E82-FB71-493AD45E66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A646303-1249-4F4F-9CFB-252E628616D6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F45EF-1D5A-63AF-D1F9-D14C3A2B653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BB91F-276A-6BA3-F8E7-E1C51D201B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253A6-9D33-608D-A796-3A5A26B47F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68E19A5-9096-4A4D-8A34-F7D43D9F8600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B37C0-54B5-C8B0-A2F3-275064333BA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A500F-8024-8185-C467-C6EE1F5BFDF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C87A4-305A-B9D0-28B5-1F271A7A3F6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94DA64B-C59F-47AA-9E9A-7344327568EA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88C87-E4EA-BE21-BA5C-4A90FBC2EFA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DEBEF-C2C5-8FA6-E2F3-117D877314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2C0DC-F4FD-02A0-8684-647852C3DD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197CE64-E4A7-4D36-A75C-88B74A7E2526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E7181-830C-1C75-E30F-9BB7BA690E4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0A72B-B256-5643-90F0-C2D854BB6D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3F70F-F288-FF57-CE3B-378F38D12E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411903A-FC0C-48C4-BAEC-E13E2ACE0AE0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62354-8C05-BA9C-7646-398B8F2BB7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590CD-53A8-46C5-A0B8-1ABC4CE3A0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53B20-CB9C-32E0-EA8F-A2F926D87D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B030BD7-057B-400C-B6EA-D66395DFE563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C37E9-D904-1044-6ACF-B7CC1FD7904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489BE-9797-CA77-23DD-551B477945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F0D00-1904-D188-31F5-47537ABD0AF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E66E587-B3A9-41C5-AA57-179CE4D2B103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12FA9-7D82-B7EE-0FC0-98F1191EBCA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F41CE-5500-E799-F0B3-EE068C31C0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9483A-2AB9-AEAB-6C8D-49E4372369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1CB5518-548E-4038-BF4E-4155F4012A39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D46E6-1353-E1B8-6C4C-8A68E654ABB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11F4E-5D31-A092-5E89-094D2176A49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63BA6-50ED-B10F-6205-C46E9BA339A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9A25908-A9EE-4838-A0EF-A502125C0E24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DD104-96A3-4BCA-7507-D687C31F1EC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5CD66-04ED-27F0-8139-2CDC57C48B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F0C65-418D-503E-51E1-47DB349A9E6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051F07-4ECB-43A1-8C3D-1B6A12877193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998CB-596B-C227-DBA2-F7CA41FFEE0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C3281-5755-409D-240E-F7F7D57F8EE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5BA4D-1742-225B-9A72-58CFDADE608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EA5B28B-C373-4FCB-86BC-4A47701B2162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24533-F2E5-9447-703E-F70ED0934CA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2E122-0325-E330-163C-6485A59CF41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B2DFE-054B-E2AA-A99A-983B2246008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BE90457-EF43-4A76-8A10-6A9912F3060B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510B7-3E83-B4B3-3E57-C0ABCC4C998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D375B-7001-DA1D-3802-DB62F905B8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D58DB-D569-30B2-1104-D1DAAD56C54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D17C58E-AFB1-4BEF-9180-65C187BE3684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FD426-09CA-AEFF-8A2D-12269A0ECDB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F5E50-D6D2-CBF0-C51B-A12BD96EB85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8F4C5-2E04-ABC9-6AE3-AC2BBC12F40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BBD6DF3-103E-4E0C-8C67-7505A5085462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31608-7DB4-B25D-4EF7-8FC13C9FF17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F0DEA-5700-99ED-5B32-75C8258AADD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30FCF-8AB4-31CA-8AFF-F5E4347638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8323D47-08F2-45AE-9E0E-032108E2E73E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DB464-E145-A86A-9FFF-750D54A3677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32560-B6DF-DB57-CB09-8A219B7936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37C76-1B82-1965-0DB4-2BFEBD1036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B70F5BA-CF75-4888-BFE7-47A09F121FB4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0C9B5-8781-5D50-6454-11D382D395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48BA1-51E8-FD3E-FC79-321402821F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DDF8A-274F-90E3-82D9-0DBA19A9A5A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078FC70-4A38-4E4D-A2AC-297247ADA851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0D769-91DF-8D4E-CA3F-AAA4542702A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A1A1E-91AD-2609-3179-3FED9EFE72B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A7444-B17B-D3C3-0E55-95CC9CF6BA4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0CD1914-70AA-4988-91AA-F04AE7CD819B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A8B92-D896-BD1E-BDB1-EF855C07BF0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B86CC-0445-6314-E0A3-9892B4173F7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F8677-2868-4A36-57AC-3E46559D051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7B19223-CFBA-4B25-861E-9EEECEC433DB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6C2CE-FA2C-6E01-A852-343ECD0C533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F341F-17C3-79F8-D713-5AB6EB21D3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3CE5E-EAD9-C5BB-A71F-2A81D94C78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88877CF-66F8-415D-AFEB-AA596EB3CA74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1E100-30B8-7A50-DAE9-E19388C85C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4E499-6F25-387E-635B-DD178651DE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C151D-40FB-9756-98D6-66172842811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983D35B-65D4-4C13-8183-3472E372F779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1C82C-C7A2-7518-F101-4F3620EE9C2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0879E-729D-9154-F5CA-C8AF9D4C84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48BD3-F01C-DC4A-7C7D-30245F9EB9F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8F889F0-C40F-4683-BA91-D793B9C8D117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E67CB-46AC-721D-C4F6-36B8BB6122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D8B5F-8249-60D3-705F-37C3F28C2B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E154-B18D-7915-5344-DC59FB5E9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1FE0E-DAFD-501E-EC5F-E31710F08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455E9-655E-37CF-8A3D-165DEC92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AF582-9CB3-A4AE-DB4A-0926DD20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3EC34-983B-0D79-341B-FD3DE721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8FE4B2A-20D2-47E2-BA12-AB7420BF007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1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0C4A-8354-B293-3C3A-27F27FFCB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E270C-A9E4-4C6C-E1E5-08C12E630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F7E96-160B-74E9-FF1F-8DEF5082F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C3A61-C33C-0CCB-8A67-CF734C9A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6889-3120-BBB1-09AF-B0D0C21F8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BEFC24-B254-4807-BC5F-F695CD6289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5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F95E-BF7F-75B1-52E0-845C4028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CFF78-BD71-8817-8142-1AAB25AD8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D6DC3-DF9E-FDE6-3F05-39897154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A030A-50B4-D4AF-F1DF-16676FBE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AE94B-314B-9C0E-B3A1-352327612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9E5745-6CE8-4CEE-AE9D-8EA95E6C6B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4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126EE-5727-B906-A08B-EFF6B778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70F20-1E34-F50A-F2B5-1E61F566D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B2B0D-ADF7-A072-D91C-1EEF1BD0D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6657D-FB05-B7D5-B649-FC1CC9E8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F1300-D6E8-5C92-27E8-775B04B8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709E9-4A5E-DFFE-C7CE-444F7A04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1FE013-7C5F-478F-8D55-6F3344C7C6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2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93599-3ECF-19D7-C86B-70CFC161D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0C731-2E52-5EA8-18F8-79CDD6F76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CA953-0315-6E85-0F4F-5E7DFCFCB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222032-9712-75A9-08E1-CE314E6F4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79D38-F35F-DFB9-A0F5-7798D05051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8B2F4-4BA4-ECF8-AB79-4108860B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A45C30-56F1-DC32-3D70-4E1365A08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8CD9A-6D4C-7F19-A2D9-20F4536F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F1A09CB-987E-40CE-ACDF-6BEE6B5EF7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6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0369-51DD-BFB8-1124-44A5FE7A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15FACA-D75F-517B-6F6C-11AA6F301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F293C-11E3-4D52-E939-AB70B831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B51118-6B9D-9C30-7AEC-DD386387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23194CC-2C20-4F3A-BE3B-2A6B03A656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3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56070-6814-E2EC-8628-FF65A9CE8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22973-B099-5E75-9F04-1C61912D1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D5C55-0B44-5357-EB45-8E66B138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FA044D-4381-4254-BCAC-A6BF015FCB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043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1321-FFA7-99A3-98B6-C28A2CD4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7E556-071C-C231-862F-0767AFCD8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3B3A4-BDDF-1391-441D-CF99FA5DB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DD81C-CEB5-75BC-F35B-E4E01819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AB6A5-27C3-281F-7FCF-4D9594EEF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3EF11-AEB8-6C7C-D1AF-D9FC3C00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2A4978-982A-4C24-BF2B-BAECE6C5C3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92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1CB51-EE81-9F66-9FC9-F3D79B71B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A0C110-1EE7-31BC-9BCD-05BE83587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51EBE-FB34-E1FA-139D-4D0B54D8B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1A1F1-48FC-4596-9F1B-D1EDAD08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313B6-4095-BB4E-AB3E-24A91F56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F7E2C-BCA3-7A1A-9FC5-FD2DFA7A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08F588-C42B-4C0F-9F87-75779A61574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E615-EFB6-E84D-42FB-811DAD5E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8DE36-5CD7-A243-554B-0D4AAF6F2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9453A-C5C9-1DF4-F98C-EF7086838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568C7-417E-7286-4FF9-8D60F821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95528-2509-A793-D58C-6C9758C7C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81D4A5-C34C-403C-9F2A-FB6904722F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90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E0B1F4-72CD-91FF-ED9B-5483F12F0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A0420-87BD-046E-BC21-3785F5F08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C41DE-554F-A03E-68B2-BF130886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F66EC-8A39-F9E4-0863-BB2C91150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3A90B-C82D-FF00-96D2-51C289A5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E6136A7-72EA-4E34-981F-BB3DE339A2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8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CA57F-D649-16FD-5CF6-777D12141D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1B554-2DF2-77FB-7D69-8886A614D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96EAC-27B6-8AAC-1C8F-E8F7259FC0F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B148D-E0C7-7FC9-675E-B50136B0080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04912-B4E6-F988-4362-2711F65DBDD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207B4071-D610-4DAE-A1CB-7D4362351932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hangingPunct="0"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513B5C5-42B3-4F52-AA7A-806C0AE0C1B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168160"/>
            <a:ext cx="9141120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sz="2000" dirty="0">
                <a:latin typeface="Rubik" pitchFamily="18"/>
              </a:rPr>
              <a:t>23/12/2025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FBC30-C3F7-7742-81C9-52ABFA59968C}"/>
              </a:ext>
            </a:extLst>
          </p:cNvPr>
          <p:cNvSpPr txBox="1"/>
          <p:nvPr/>
        </p:nvSpPr>
        <p:spPr>
          <a:xfrm>
            <a:off x="111240" y="4668480"/>
            <a:ext cx="3483174" cy="4252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</a:t>
            </a:r>
            <a:r>
              <a:rPr lang="en-US" sz="2200" b="0" i="0" u="none" strike="noStrike" kern="1200" cap="none" dirty="0" err="1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Milić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 (MATF / KIS / AOB)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60407-348C-5AEA-E20D-6B08F4D5E180}"/>
              </a:ext>
            </a:extLst>
          </p:cNvPr>
          <p:cNvSpPr txBox="1"/>
          <p:nvPr/>
        </p:nvSpPr>
        <p:spPr>
          <a:xfrm>
            <a:off x="183240" y="3555000"/>
            <a:ext cx="9538560" cy="1107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dirty="0"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6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: Re</a:t>
            </a:r>
            <a:r>
              <a:rPr lang="sr-Latn-R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šavanje Milneovog Problema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61EAB1-AD17-5D36-FACC-7F0E5E813E6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001772" y="3782923"/>
            <a:ext cx="1600200" cy="156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AF0CAF-74EF-AB01-2E2F-26E892885B1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543799" y="87340"/>
            <a:ext cx="2304360" cy="172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7FDD2A-CF92-0674-1E40-730DA3D947CE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235880" y="228600"/>
            <a:ext cx="4936320" cy="335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Home: Institut für Sonnenphysik">
            <a:extLst>
              <a:ext uri="{FF2B5EF4-FFF2-40B4-BE49-F238E27FC236}">
                <a16:creationId xmlns:a16="http://schemas.microsoft.com/office/drawing/2014/main" id="{A607B5DC-326E-23E7-0971-24F3A7339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492" y="1799785"/>
            <a:ext cx="1986402" cy="1841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28928-9F40-C9E0-7225-C255710C4F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Pitanje za zagrevanje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0E696-43BB-62D9-D128-134C1FEAC1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Naći</a:t>
            </a:r>
            <a:r>
              <a:rPr lang="en-US" dirty="0"/>
              <a:t> </a:t>
            </a:r>
            <a:r>
              <a:rPr lang="en-US" dirty="0" err="1"/>
              <a:t>zavisnost</a:t>
            </a:r>
            <a:r>
              <a:rPr lang="en-US" dirty="0"/>
              <a:t> </a:t>
            </a:r>
            <a:r>
              <a:rPr lang="en-US" dirty="0" err="1"/>
              <a:t>intenziteta</a:t>
            </a:r>
            <a:r>
              <a:rPr lang="en-US" dirty="0"/>
              <a:t> od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pravca</a:t>
            </a:r>
            <a:r>
              <a:rPr lang="en-US" dirty="0"/>
              <a:t> za </a:t>
            </a:r>
            <a:r>
              <a:rPr lang="en-US" dirty="0" err="1"/>
              <a:t>sivu</a:t>
            </a:r>
            <a:r>
              <a:rPr lang="en-US" dirty="0"/>
              <a:t>, Milne-Eddington </a:t>
            </a:r>
            <a:r>
              <a:rPr lang="en-US" dirty="0" err="1"/>
              <a:t>atmosferu</a:t>
            </a:r>
            <a:r>
              <a:rPr lang="en-US" dirty="0"/>
              <a:t> (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je </a:t>
            </a:r>
            <a:r>
              <a:rPr lang="en-US" dirty="0" err="1"/>
              <a:t>linearna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Tabla</a:t>
            </a:r>
            <a:r>
              <a:rPr lang="en-US" b="1" dirty="0"/>
              <a:t>! (</a:t>
            </a:r>
            <a:r>
              <a:rPr lang="en-US" b="1" dirty="0" err="1"/>
              <a:t>Detalji</a:t>
            </a:r>
            <a:r>
              <a:rPr lang="en-US" b="1" dirty="0"/>
              <a:t> </a:t>
            </a:r>
            <a:r>
              <a:rPr lang="en-US" b="1" dirty="0" err="1"/>
              <a:t>ostaje</a:t>
            </a:r>
            <a:r>
              <a:rPr lang="en-US" b="1" dirty="0"/>
              <a:t> za </a:t>
            </a:r>
            <a:r>
              <a:rPr lang="en-US" b="1" dirty="0" err="1"/>
              <a:t>domaći</a:t>
            </a:r>
            <a:r>
              <a:rPr lang="en-US" b="1" dirty="0"/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38F03-7E3D-C726-12D6-67E3B4F307E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D9ADE-3E42-C409-9F73-DBD3D55271B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Upoznali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se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pojmom</a:t>
            </a:r>
            <a:r>
              <a:rPr lang="en-US" dirty="0"/>
              <a:t> </a:t>
            </a:r>
            <a:r>
              <a:rPr lang="en-US" b="1" dirty="0" err="1"/>
              <a:t>sive</a:t>
            </a:r>
            <a:r>
              <a:rPr lang="en-US" b="1" dirty="0"/>
              <a:t> </a:t>
            </a:r>
            <a:r>
              <a:rPr lang="en-US" b="1" dirty="0" err="1"/>
              <a:t>atmosfere</a:t>
            </a:r>
            <a:r>
              <a:rPr lang="en-US" b="1" dirty="0"/>
              <a:t>. </a:t>
            </a:r>
            <a:r>
              <a:rPr lang="en-US" dirty="0" err="1"/>
              <a:t>Sve</a:t>
            </a:r>
            <a:r>
              <a:rPr lang="en-US" dirty="0"/>
              <a:t> je </a:t>
            </a:r>
            <a:r>
              <a:rPr lang="en-US" dirty="0" err="1"/>
              <a:t>opisano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talasnom</a:t>
            </a:r>
            <a:r>
              <a:rPr lang="en-US" dirty="0"/>
              <a:t> </a:t>
            </a:r>
            <a:r>
              <a:rPr lang="en-US" dirty="0" err="1"/>
              <a:t>dužinom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Modelovanje</a:t>
            </a:r>
            <a:r>
              <a:rPr lang="en-US" b="1" dirty="0"/>
              <a:t>: </a:t>
            </a:r>
            <a:r>
              <a:rPr lang="en-US" dirty="0" err="1"/>
              <a:t>Nalazimo</a:t>
            </a:r>
            <a:r>
              <a:rPr lang="en-US" dirty="0"/>
              <a:t> </a:t>
            </a:r>
            <a:r>
              <a:rPr lang="en-US" dirty="0" err="1"/>
              <a:t>prihvatljive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</a:t>
            </a:r>
            <a:r>
              <a:rPr lang="en-US" dirty="0" err="1"/>
              <a:t>zvezdane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za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fluks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Prihvatljive</a:t>
            </a:r>
            <a:r>
              <a:rPr lang="en-US" b="1" dirty="0"/>
              <a:t>: </a:t>
            </a:r>
            <a:r>
              <a:rPr lang="en-US" dirty="0"/>
              <a:t>(</a:t>
            </a:r>
            <a:r>
              <a:rPr lang="en-US" dirty="0" err="1"/>
              <a:t>akka</a:t>
            </a:r>
            <a:r>
              <a:rPr lang="en-US" dirty="0"/>
              <a:t> “</a:t>
            </a:r>
            <a:r>
              <a:rPr lang="en-US" dirty="0" err="1"/>
              <a:t>samokonzistentne</a:t>
            </a:r>
            <a:r>
              <a:rPr lang="en-US" dirty="0"/>
              <a:t>”): </a:t>
            </a:r>
            <a:r>
              <a:rPr lang="en-US" dirty="0" err="1"/>
              <a:t>Ispunjavaju</a:t>
            </a:r>
            <a:r>
              <a:rPr lang="en-US" dirty="0"/>
              <a:t> </a:t>
            </a:r>
            <a:r>
              <a:rPr lang="en-US" dirty="0" err="1"/>
              <a:t>neki</a:t>
            </a:r>
            <a:r>
              <a:rPr lang="en-US" dirty="0"/>
              <a:t> set </a:t>
            </a:r>
            <a:r>
              <a:rPr lang="en-US" dirty="0" err="1"/>
              <a:t>pretpostavki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to (za </a:t>
            </a:r>
            <a:r>
              <a:rPr lang="en-US" dirty="0" err="1"/>
              <a:t>sada</a:t>
            </a:r>
            <a:r>
              <a:rPr lang="en-US" dirty="0"/>
              <a:t>): </a:t>
            </a:r>
            <a:r>
              <a:rPr lang="en-US" b="1" dirty="0" err="1"/>
              <a:t>Ravnoteža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 + </a:t>
            </a:r>
            <a:r>
              <a:rPr lang="en-US" b="1" dirty="0" err="1"/>
              <a:t>Jednačina</a:t>
            </a:r>
            <a:r>
              <a:rPr lang="en-US" b="1" dirty="0"/>
              <a:t> </a:t>
            </a:r>
            <a:r>
              <a:rPr lang="en-US" b="1" dirty="0" err="1"/>
              <a:t>Prenosa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(2-3 min </a:t>
            </a:r>
            <a:r>
              <a:rPr lang="en-US" b="1" dirty="0" err="1"/>
              <a:t>diskusija</a:t>
            </a:r>
            <a:r>
              <a:rPr lang="en-US" b="1" dirty="0"/>
              <a:t> o </a:t>
            </a:r>
            <a:r>
              <a:rPr lang="en-US" b="1" dirty="0" err="1"/>
              <a:t>konceptualnim</a:t>
            </a:r>
            <a:r>
              <a:rPr lang="en-US" b="1" dirty="0"/>
              <a:t> </a:t>
            </a:r>
            <a:r>
              <a:rPr lang="en-US" b="1" dirty="0" err="1"/>
              <a:t>razlikama</a:t>
            </a:r>
            <a:r>
              <a:rPr lang="en-US" b="1" dirty="0"/>
              <a:t> </a:t>
            </a:r>
            <a:r>
              <a:rPr lang="en-US" b="1" dirty="0" err="1"/>
              <a:t>izmedju</a:t>
            </a:r>
            <a:r>
              <a:rPr lang="en-US" b="1" dirty="0"/>
              <a:t> </a:t>
            </a:r>
            <a:r>
              <a:rPr lang="en-US" b="1" dirty="0" err="1"/>
              <a:t>ove</a:t>
            </a:r>
            <a:r>
              <a:rPr lang="en-US" b="1" dirty="0"/>
              <a:t> </a:t>
            </a:r>
            <a:r>
              <a:rPr lang="en-US" b="1" dirty="0" err="1"/>
              <a:t>dve</a:t>
            </a:r>
            <a:r>
              <a:rPr lang="en-US" b="1" dirty="0"/>
              <a:t> </a:t>
            </a:r>
            <a:r>
              <a:rPr lang="en-US" b="1" dirty="0" err="1"/>
              <a:t>pretpostavke</a:t>
            </a:r>
            <a:r>
              <a:rPr lang="en-US" b="1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sivoj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 </a:t>
            </a:r>
            <a:r>
              <a:rPr lang="en-US" dirty="0" err="1"/>
              <a:t>ravnoteža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jednostavan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: </a:t>
            </a:r>
            <a:r>
              <a:rPr lang="en-US" b="1" dirty="0"/>
              <a:t>S = J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to </a:t>
            </a:r>
            <a:r>
              <a:rPr lang="en-US" dirty="0" err="1"/>
              <a:t>dodamo</a:t>
            </a:r>
            <a:r>
              <a:rPr lang="en-US" dirty="0"/>
              <a:t> LTR (</a:t>
            </a:r>
            <a:r>
              <a:rPr lang="en-US" dirty="0" err="1"/>
              <a:t>treća</a:t>
            </a:r>
            <a:r>
              <a:rPr lang="en-US" dirty="0"/>
              <a:t> </a:t>
            </a:r>
            <a:r>
              <a:rPr lang="en-US" dirty="0" err="1"/>
              <a:t>pretpostavka</a:t>
            </a:r>
            <a:r>
              <a:rPr lang="en-US" dirty="0"/>
              <a:t>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86938-6251-DC63-8DA8-A297F209EE8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"/>
            <a:alphaModFix/>
          </a:blip>
          <a:srcRect/>
          <a:stretch>
            <a:fillRect/>
          </a:stretch>
        </p:blipFill>
        <p:spPr>
          <a:xfrm>
            <a:off x="3943800" y="4315320"/>
            <a:ext cx="1771200" cy="25668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B70D-D3C3-F052-12EA-DC4D18240BE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 dirty="0" err="1"/>
              <a:t>Prenos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u </a:t>
            </a:r>
            <a:r>
              <a:rPr lang="en-US" dirty="0" err="1"/>
              <a:t>unutrašnjosti</a:t>
            </a:r>
            <a:r>
              <a:rPr lang="en-US" dirty="0"/>
              <a:t> </a:t>
            </a:r>
            <a:r>
              <a:rPr lang="en-US" dirty="0" err="1"/>
              <a:t>zvezde</a:t>
            </a:r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FE014E5-C093-6363-E357-BF3F5D7358F5}"/>
              </a:ext>
            </a:extLst>
          </p:cNvPr>
          <p:cNvSpPr/>
          <p:nvPr/>
        </p:nvSpPr>
        <p:spPr>
          <a:xfrm>
            <a:off x="3200400" y="3657600"/>
            <a:ext cx="2743199" cy="973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6BF61-34AA-7BDC-548D-F05A0819FAB7}"/>
              </a:ext>
            </a:extLst>
          </p:cNvPr>
          <p:cNvSpPr txBox="1"/>
          <p:nvPr/>
        </p:nvSpPr>
        <p:spPr>
          <a:xfrm>
            <a:off x="1609200" y="4572000"/>
            <a:ext cx="68580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Čemu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je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srazmeran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fluks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? Da li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ima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smisla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? </a:t>
            </a:r>
            <a:r>
              <a:rPr lang="en-US" sz="18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(3 min </a:t>
            </a:r>
            <a:r>
              <a:rPr lang="en-US" sz="1800" b="1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diskusija</a:t>
            </a:r>
            <a:r>
              <a:rPr lang="en-US" sz="18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45686-B175-8039-09B7-7817B546587A}"/>
              </a:ext>
            </a:extLst>
          </p:cNvPr>
          <p:cNvSpPr txBox="1"/>
          <p:nvPr/>
        </p:nvSpPr>
        <p:spPr>
          <a:xfrm>
            <a:off x="6699600" y="734400"/>
            <a:ext cx="685799" cy="39060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JPZ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E33E3-2526-2B67-A293-CD168E28CC17}"/>
              </a:ext>
            </a:extLst>
          </p:cNvPr>
          <p:cNvSpPr txBox="1"/>
          <p:nvPr/>
        </p:nvSpPr>
        <p:spPr>
          <a:xfrm>
            <a:off x="6120000" y="1558800"/>
            <a:ext cx="1828800" cy="66204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Prvi moment JPZ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7BC2B-27A8-C028-BE1F-30550700F64D}"/>
              </a:ext>
            </a:extLst>
          </p:cNvPr>
          <p:cNvSpPr txBox="1"/>
          <p:nvPr/>
        </p:nvSpPr>
        <p:spPr>
          <a:xfrm>
            <a:off x="664200" y="1578600"/>
            <a:ext cx="1371599" cy="45720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 integral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A52A2-282A-18A2-B0F6-249BC1B14B0A}"/>
              </a:ext>
            </a:extLst>
          </p:cNvPr>
          <p:cNvSpPr txBox="1"/>
          <p:nvPr/>
        </p:nvSpPr>
        <p:spPr>
          <a:xfrm>
            <a:off x="6244200" y="3115800"/>
            <a:ext cx="1828800" cy="45720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Izotropija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+ LTR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D89EEB-67F7-1158-53C4-12F078B564E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11120" y="586080"/>
            <a:ext cx="4295520" cy="3981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95C0-9F5D-664E-69F1-76A065AD8EB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Šta je “K-integral”?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C7336-E7C7-5434-398D-3F84DC0035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Drugi</a:t>
            </a:r>
            <a:r>
              <a:rPr lang="en-US" dirty="0"/>
              <a:t> moment </a:t>
            </a:r>
            <a:r>
              <a:rPr lang="en-US" dirty="0" err="1"/>
              <a:t>intenziteta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ili</a:t>
            </a:r>
            <a:r>
              <a:rPr lang="en-US" dirty="0"/>
              <a:t>, za </a:t>
            </a:r>
            <a:r>
              <a:rPr lang="en-US" dirty="0" err="1"/>
              <a:t>sivu</a:t>
            </a:r>
            <a:r>
              <a:rPr lang="en-US" dirty="0"/>
              <a:t>, 1D </a:t>
            </a:r>
            <a:r>
              <a:rPr lang="en-US" dirty="0" err="1"/>
              <a:t>atmosferu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Koji je </a:t>
            </a:r>
            <a:r>
              <a:rPr lang="en-US" dirty="0" err="1"/>
              <a:t>fizički</a:t>
            </a:r>
            <a:r>
              <a:rPr lang="en-US" dirty="0"/>
              <a:t> </a:t>
            </a:r>
            <a:r>
              <a:rPr lang="en-US" dirty="0" err="1"/>
              <a:t>smisao</a:t>
            </a:r>
            <a:r>
              <a:rPr lang="en-US" dirty="0"/>
              <a:t> K </a:t>
            </a:r>
            <a:r>
              <a:rPr lang="en-US" dirty="0" err="1"/>
              <a:t>integrala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K integral je </a:t>
            </a:r>
            <a:r>
              <a:rPr lang="en-US" dirty="0" err="1"/>
              <a:t>proporcionalan</a:t>
            </a:r>
            <a:r>
              <a:rPr lang="en-US" dirty="0"/>
              <a:t> </a:t>
            </a:r>
            <a:r>
              <a:rPr lang="en-US" b="1" dirty="0" err="1"/>
              <a:t>pritisku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: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Takodje</a:t>
            </a:r>
            <a:r>
              <a:rPr lang="en-US" b="1" dirty="0"/>
              <a:t>, za </a:t>
            </a:r>
            <a:r>
              <a:rPr lang="en-US" b="1" dirty="0" err="1"/>
              <a:t>izotropno</a:t>
            </a:r>
            <a:r>
              <a:rPr lang="en-US" b="1" dirty="0"/>
              <a:t> </a:t>
            </a:r>
            <a:r>
              <a:rPr lang="en-US" b="1" dirty="0" err="1"/>
              <a:t>zračenje</a:t>
            </a:r>
            <a:r>
              <a:rPr lang="en-US" b="1" dirty="0"/>
              <a:t> J = 3K (</a:t>
            </a:r>
            <a:r>
              <a:rPr lang="en-US" b="1" dirty="0" err="1"/>
              <a:t>pokazati</a:t>
            </a:r>
            <a:r>
              <a:rPr lang="en-US" b="1" dirty="0"/>
              <a:t> </a:t>
            </a:r>
            <a:r>
              <a:rPr lang="en-US" b="1" dirty="0" err="1"/>
              <a:t>oboje</a:t>
            </a:r>
            <a:r>
              <a:rPr lang="en-US" b="1" dirty="0"/>
              <a:t> → </a:t>
            </a:r>
            <a:r>
              <a:rPr lang="en-US" b="1" dirty="0" err="1"/>
              <a:t>tabla</a:t>
            </a:r>
            <a:r>
              <a:rPr lang="en-US" b="1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trebati</a:t>
            </a:r>
            <a:r>
              <a:rPr lang="en-US" dirty="0"/>
              <a:t> </a:t>
            </a:r>
            <a:r>
              <a:rPr lang="en-US" dirty="0" err="1"/>
              <a:t>kasnije</a:t>
            </a:r>
            <a:r>
              <a:rPr lang="en-US" dirty="0"/>
              <a:t>. Sada </a:t>
            </a:r>
            <a:r>
              <a:rPr lang="en-US" dirty="0" err="1"/>
              <a:t>idemo</a:t>
            </a:r>
            <a:r>
              <a:rPr lang="en-US" dirty="0"/>
              <a:t> </a:t>
            </a:r>
            <a:r>
              <a:rPr lang="en-US" dirty="0" err="1"/>
              <a:t>nazad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Milneov</a:t>
            </a:r>
            <a:r>
              <a:rPr lang="en-US" dirty="0"/>
              <a:t> problem.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E7BCB-9BFF-86A2-ED50-888A87BAEFC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14400" y="1810079"/>
            <a:ext cx="2428560" cy="70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68AC9F-9CF9-D313-8DF1-542FE41A483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16039" y="2934000"/>
            <a:ext cx="1514160" cy="77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96B49D-3EFC-849E-B730-1838CB12070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546800" y="157680"/>
            <a:ext cx="4667040" cy="63792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B108-E364-6430-677B-BB0BEB7A1C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Momenti intenziteta (momenti polja zračenja)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BC6F7-CE15-2E13-F4B9-74B436C70A2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sive</a:t>
            </a:r>
            <a:r>
              <a:rPr lang="en-US" dirty="0"/>
              <a:t>, 1D plan </a:t>
            </a:r>
            <a:r>
              <a:rPr lang="en-US" dirty="0" err="1"/>
              <a:t>paralelne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. U </a:t>
            </a:r>
            <a:r>
              <a:rPr lang="en-US" dirty="0" err="1"/>
              <a:t>generalnom</a:t>
            </a:r>
            <a:r>
              <a:rPr lang="en-US" dirty="0"/>
              <a:t> </a:t>
            </a:r>
            <a:r>
              <a:rPr lang="en-US" dirty="0" err="1"/>
              <a:t>slučaju</a:t>
            </a:r>
            <a:r>
              <a:rPr lang="en-US" dirty="0"/>
              <a:t>,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zavise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integracija</a:t>
            </a:r>
            <a:r>
              <a:rPr lang="en-US" dirty="0"/>
              <a:t> se </a:t>
            </a:r>
            <a:r>
              <a:rPr lang="en-US" dirty="0" err="1"/>
              <a:t>vrši</a:t>
            </a:r>
            <a:r>
              <a:rPr lang="en-US" dirty="0"/>
              <a:t> po oba </a:t>
            </a:r>
            <a:r>
              <a:rPr lang="en-US" dirty="0" err="1"/>
              <a:t>ugla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je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izotropan</a:t>
            </a:r>
            <a:r>
              <a:rPr lang="en-US" dirty="0"/>
              <a:t>, </a:t>
            </a:r>
            <a:r>
              <a:rPr lang="en-US" dirty="0" err="1"/>
              <a:t>lako</a:t>
            </a:r>
            <a:r>
              <a:rPr lang="en-US" dirty="0"/>
              <a:t> se </a:t>
            </a:r>
            <a:r>
              <a:rPr lang="en-US" dirty="0" err="1"/>
              <a:t>dobija</a:t>
            </a:r>
            <a:r>
              <a:rPr lang="en-US" dirty="0"/>
              <a:t> da: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28E927-63A8-7A33-00A5-2735241F121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23920" y="1600560"/>
            <a:ext cx="2428560" cy="22856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5AF52C-F0A9-693E-8B29-D07F21EA185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708160" y="4125960"/>
            <a:ext cx="1533240" cy="6188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8A72-95ED-9F72-A096-38A50DB70A0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E1D67-0873-3D95-EBA2-D116B67B5A2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1371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samog</a:t>
            </a:r>
            <a:r>
              <a:rPr lang="en-US" dirty="0"/>
              <a:t> </a:t>
            </a:r>
            <a:r>
              <a:rPr lang="en-US" dirty="0" err="1"/>
              <a:t>sebe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b="1" dirty="0" err="1"/>
              <a:t>spregnutosti</a:t>
            </a:r>
            <a:r>
              <a:rPr lang="en-US" b="1" dirty="0"/>
              <a:t> (</a:t>
            </a:r>
            <a:r>
              <a:rPr lang="en-US" b="1" dirty="0" err="1"/>
              <a:t>kuplovanja</a:t>
            </a:r>
            <a:r>
              <a:rPr lang="en-US" b="1" dirty="0"/>
              <a:t>) </a:t>
            </a:r>
            <a:r>
              <a:rPr lang="en-US" dirty="0"/>
              <a:t>u </a:t>
            </a:r>
            <a:r>
              <a:rPr lang="en-US" dirty="0" err="1"/>
              <a:t>prenosu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 </a:t>
            </a:r>
            <a:r>
              <a:rPr lang="en-US" dirty="0" err="1"/>
              <a:t>Videćemo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ovakvih</a:t>
            </a:r>
            <a:r>
              <a:rPr lang="en-US" dirty="0"/>
              <a:t> </a:t>
            </a:r>
            <a:r>
              <a:rPr lang="en-US" dirty="0" err="1"/>
              <a:t>situacija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budemo</a:t>
            </a:r>
            <a:r>
              <a:rPr lang="en-US" dirty="0"/>
              <a:t> </a:t>
            </a:r>
            <a:r>
              <a:rPr lang="en-US" dirty="0" err="1"/>
              <a:t>razmatrali</a:t>
            </a:r>
            <a:r>
              <a:rPr lang="en-US" dirty="0"/>
              <a:t> </a:t>
            </a:r>
            <a:r>
              <a:rPr lang="en-US" dirty="0" err="1"/>
              <a:t>takozvanu</a:t>
            </a:r>
            <a:r>
              <a:rPr lang="en-US" dirty="0"/>
              <a:t> ne-LTR.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Integro-diferencijalne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I </a:t>
            </a:r>
            <a:r>
              <a:rPr lang="en-US" dirty="0" err="1"/>
              <a:t>zavisi</a:t>
            </a:r>
            <a:r>
              <a:rPr lang="en-US" dirty="0"/>
              <a:t> od J(S) a J </a:t>
            </a:r>
            <a:r>
              <a:rPr lang="en-US" dirty="0" err="1"/>
              <a:t>zavisi</a:t>
            </a:r>
            <a:r>
              <a:rPr lang="en-US" dirty="0"/>
              <a:t> od I, </a:t>
            </a:r>
            <a:r>
              <a:rPr lang="en-US" dirty="0" err="1"/>
              <a:t>ovo</a:t>
            </a:r>
            <a:r>
              <a:rPr lang="en-US" dirty="0"/>
              <a:t> je </a:t>
            </a:r>
            <a:r>
              <a:rPr lang="en-US" dirty="0" err="1"/>
              <a:t>spregnutost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Pitanje</a:t>
            </a:r>
            <a:r>
              <a:rPr lang="en-US" b="1" dirty="0"/>
              <a:t>: </a:t>
            </a:r>
            <a:r>
              <a:rPr lang="en-US" dirty="0"/>
              <a:t>Da li </a:t>
            </a:r>
            <a:r>
              <a:rPr lang="en-US" dirty="0" err="1"/>
              <a:t>izotermna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u </a:t>
            </a:r>
            <a:r>
              <a:rPr lang="en-US" dirty="0" err="1"/>
              <a:t>ravnoteži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C112A-D9A6-0A3D-216B-D82A80D17F7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601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A29C1F-5DAA-309B-B169-0A711858844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057120" y="3136320"/>
            <a:ext cx="3962160" cy="7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0E77-D51D-F35E-2308-74A62CCB2BB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E4A5D-E2CB-C00D-943C-E4C84F74E7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1371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Pitanje</a:t>
            </a:r>
            <a:r>
              <a:rPr lang="en-US" b="1" dirty="0"/>
              <a:t>: </a:t>
            </a:r>
            <a:r>
              <a:rPr lang="en-US" dirty="0"/>
              <a:t>Da li </a:t>
            </a:r>
            <a:r>
              <a:rPr lang="en-US" dirty="0" err="1"/>
              <a:t>izotermna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u LTR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u </a:t>
            </a:r>
            <a:r>
              <a:rPr lang="en-US" dirty="0" err="1"/>
              <a:t>ravnoteži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Izračunajmo</a:t>
            </a:r>
            <a:r>
              <a:rPr lang="en-US" dirty="0"/>
              <a:t> J 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izotermne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uporedimo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S. Ako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jednaki</a:t>
            </a:r>
            <a:r>
              <a:rPr lang="en-US" dirty="0"/>
              <a:t>, ne </a:t>
            </a:r>
            <a:r>
              <a:rPr lang="en-US" dirty="0" err="1"/>
              <a:t>može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B = const, </a:t>
            </a:r>
            <a:r>
              <a:rPr lang="en-US" dirty="0" err="1"/>
              <a:t>npr</a:t>
            </a:r>
            <a:r>
              <a:rPr lang="en-US" dirty="0"/>
              <a:t> B = 1. </a:t>
            </a:r>
            <a:r>
              <a:rPr lang="en-US" dirty="0" err="1"/>
              <a:t>Izračunajmo</a:t>
            </a:r>
            <a:r>
              <a:rPr lang="en-US" dirty="0"/>
              <a:t> I u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pravcu</a:t>
            </a:r>
            <a:r>
              <a:rPr lang="en-US" dirty="0"/>
              <a:t> </a:t>
            </a:r>
            <a:r>
              <a:rPr lang="en-US" dirty="0" err="1"/>
              <a:t>svuda</a:t>
            </a:r>
            <a:r>
              <a:rPr lang="en-US" dirty="0"/>
              <a:t> u </a:t>
            </a:r>
            <a:r>
              <a:rPr lang="en-US" dirty="0" err="1"/>
              <a:t>atmosferi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(</a:t>
            </a:r>
            <a:r>
              <a:rPr lang="en-US" b="1" dirty="0" err="1"/>
              <a:t>Tabla</a:t>
            </a:r>
            <a:r>
              <a:rPr lang="en-US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18B78-C28D-D2C8-711B-1EC0DED7343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601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E83D-16DA-C458-CEFF-E06BB41E537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E1781-ABEF-231B-49F1-D2DBC4F028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03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Pitanje</a:t>
            </a:r>
            <a:r>
              <a:rPr lang="en-US" b="1" dirty="0"/>
              <a:t>: </a:t>
            </a:r>
            <a:r>
              <a:rPr lang="en-US" dirty="0"/>
              <a:t>Da li </a:t>
            </a:r>
            <a:r>
              <a:rPr lang="en-US" dirty="0" err="1"/>
              <a:t>izotermna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u LTR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u </a:t>
            </a:r>
            <a:r>
              <a:rPr lang="en-US" dirty="0" err="1"/>
              <a:t>ravnoteži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Izračunajmo</a:t>
            </a:r>
            <a:r>
              <a:rPr lang="en-US" dirty="0"/>
              <a:t> J 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izotermne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uporedimo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 (</a:t>
            </a:r>
            <a:r>
              <a:rPr lang="en-US" dirty="0" err="1"/>
              <a:t>tj</a:t>
            </a:r>
            <a:r>
              <a:rPr lang="en-US" dirty="0"/>
              <a:t> B). </a:t>
            </a:r>
            <a:br>
              <a:rPr lang="en-US" dirty="0"/>
            </a:br>
            <a:r>
              <a:rPr lang="en-US" b="1" dirty="0" err="1"/>
              <a:t>Numeričko</a:t>
            </a:r>
            <a:r>
              <a:rPr lang="en-US" b="1" dirty="0"/>
              <a:t> </a:t>
            </a:r>
            <a:r>
              <a:rPr lang="en-US" b="1" dirty="0" err="1"/>
              <a:t>rešenje</a:t>
            </a:r>
            <a:r>
              <a:rPr lang="en-US" b="1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B72EA4-7198-7684-37DA-F69E9B9C61B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133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5C0396-E805-DF30-72CD-E23301D91F8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321169" y="2102708"/>
            <a:ext cx="6236390" cy="356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D91F-D346-E369-6548-ABA47484AD5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73EFA-5FFC-7367-39DA-DA042C5307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03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Pitanje</a:t>
            </a:r>
            <a:r>
              <a:rPr lang="en-US" b="1" dirty="0"/>
              <a:t>: </a:t>
            </a:r>
            <a:r>
              <a:rPr lang="en-US" dirty="0"/>
              <a:t>Da li </a:t>
            </a:r>
            <a:r>
              <a:rPr lang="en-US" dirty="0" err="1"/>
              <a:t>izotermna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u LTR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bude</a:t>
            </a:r>
            <a:r>
              <a:rPr lang="en-US" dirty="0"/>
              <a:t> u </a:t>
            </a:r>
            <a:r>
              <a:rPr lang="en-US" dirty="0" err="1"/>
              <a:t>ravnoteži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Izračunajmo</a:t>
            </a:r>
            <a:r>
              <a:rPr lang="en-US" dirty="0"/>
              <a:t> J pod </a:t>
            </a:r>
            <a:r>
              <a:rPr lang="en-US" dirty="0" err="1"/>
              <a:t>pretpostavkom</a:t>
            </a:r>
            <a:r>
              <a:rPr lang="en-US" dirty="0"/>
              <a:t> </a:t>
            </a:r>
            <a:r>
              <a:rPr lang="en-US" dirty="0" err="1"/>
              <a:t>izotermne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uporedimo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 (</a:t>
            </a:r>
            <a:r>
              <a:rPr lang="en-US" dirty="0" err="1"/>
              <a:t>tj</a:t>
            </a:r>
            <a:r>
              <a:rPr lang="en-US" dirty="0"/>
              <a:t> B). </a:t>
            </a:r>
            <a:br>
              <a:rPr lang="en-US" dirty="0"/>
            </a:br>
            <a:r>
              <a:rPr lang="en-US" b="1" dirty="0" err="1"/>
              <a:t>Numeričko</a:t>
            </a:r>
            <a:r>
              <a:rPr lang="en-US" b="1" dirty="0"/>
              <a:t> </a:t>
            </a:r>
            <a:r>
              <a:rPr lang="en-US" b="1" dirty="0" err="1"/>
              <a:t>rešenje</a:t>
            </a:r>
            <a:r>
              <a:rPr lang="en-US" b="1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DF7D4-3247-96E1-8F13-FCFB3356D38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133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A00B64-719C-66C0-85EB-F6403CB1B90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186331" y="2081782"/>
            <a:ext cx="6186267" cy="353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8D9C-0AF5-00EA-E94D-21A23262391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92EC8-F9CA-E00F-9234-6A4D77BE032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1371599"/>
            <a:ext cx="9685440" cy="39888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samog</a:t>
            </a:r>
            <a:r>
              <a:rPr lang="en-US" dirty="0"/>
              <a:t> </a:t>
            </a:r>
            <a:r>
              <a:rPr lang="en-US" dirty="0" err="1"/>
              <a:t>sebe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b="1" dirty="0" err="1"/>
              <a:t>spregnutosti</a:t>
            </a:r>
            <a:r>
              <a:rPr lang="en-US" b="1" dirty="0"/>
              <a:t> (</a:t>
            </a:r>
            <a:r>
              <a:rPr lang="en-US" b="1" dirty="0" err="1"/>
              <a:t>kuplovanja</a:t>
            </a:r>
            <a:r>
              <a:rPr lang="en-US" b="1" dirty="0"/>
              <a:t>) </a:t>
            </a:r>
            <a:r>
              <a:rPr lang="en-US" dirty="0"/>
              <a:t>u </a:t>
            </a:r>
            <a:r>
              <a:rPr lang="en-US" dirty="0" err="1"/>
              <a:t>prenosu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 </a:t>
            </a:r>
            <a:r>
              <a:rPr lang="en-US" dirty="0" err="1"/>
              <a:t>Videćemo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ovakvih</a:t>
            </a:r>
            <a:r>
              <a:rPr lang="en-US" dirty="0"/>
              <a:t> </a:t>
            </a:r>
            <a:r>
              <a:rPr lang="en-US" dirty="0" err="1"/>
              <a:t>situacija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budemo</a:t>
            </a:r>
            <a:r>
              <a:rPr lang="en-US" dirty="0"/>
              <a:t> </a:t>
            </a:r>
            <a:r>
              <a:rPr lang="en-US" dirty="0" err="1"/>
              <a:t>razmatrali</a:t>
            </a:r>
            <a:r>
              <a:rPr lang="en-US" dirty="0"/>
              <a:t> </a:t>
            </a:r>
            <a:r>
              <a:rPr lang="en-US" dirty="0" err="1"/>
              <a:t>takozvanu</a:t>
            </a:r>
            <a:r>
              <a:rPr lang="en-US" dirty="0"/>
              <a:t> ne-LTR.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primer </a:t>
            </a:r>
            <a:r>
              <a:rPr lang="en-US" dirty="0" err="1"/>
              <a:t>tzv</a:t>
            </a:r>
            <a:r>
              <a:rPr lang="en-US" dirty="0"/>
              <a:t>. </a:t>
            </a:r>
            <a:r>
              <a:rPr lang="en-US" dirty="0" err="1"/>
              <a:t>Integro-diferencijalne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I </a:t>
            </a:r>
            <a:r>
              <a:rPr lang="en-US" dirty="0" err="1"/>
              <a:t>zavisi</a:t>
            </a:r>
            <a:r>
              <a:rPr lang="en-US" dirty="0"/>
              <a:t> od J(S) a J </a:t>
            </a:r>
            <a:r>
              <a:rPr lang="en-US" dirty="0" err="1"/>
              <a:t>zavisi</a:t>
            </a:r>
            <a:r>
              <a:rPr lang="en-US" dirty="0"/>
              <a:t> od I, </a:t>
            </a:r>
            <a:r>
              <a:rPr lang="en-US" dirty="0" err="1"/>
              <a:t>ovo</a:t>
            </a:r>
            <a:r>
              <a:rPr lang="en-US" dirty="0"/>
              <a:t> je </a:t>
            </a:r>
            <a:r>
              <a:rPr lang="en-US" dirty="0" err="1"/>
              <a:t>spregnutost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Zar ne bi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lepo</a:t>
            </a:r>
            <a:r>
              <a:rPr lang="en-US" dirty="0"/>
              <a:t> da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napišemo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imamo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nepoznatu</a:t>
            </a:r>
            <a:r>
              <a:rPr lang="en-US" dirty="0"/>
              <a:t> </a:t>
            </a:r>
            <a:r>
              <a:rPr lang="en-US" b="1" dirty="0" err="1"/>
              <a:t>funkciju</a:t>
            </a:r>
            <a:r>
              <a:rPr lang="en-US" b="1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5436A-34AB-3419-26BD-F7BB4C191E5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33560" y="601560"/>
            <a:ext cx="2609640" cy="5900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3E74B1-8E1F-4F9D-C10F-15748FA59A7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057120" y="3136320"/>
            <a:ext cx="3962160" cy="70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DAA8D-1FA4-227E-1BAA-18997AC3604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Lambda operator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4F888-9488-DCCB-955D-3EDE56AC5EB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intergracije</a:t>
            </a:r>
            <a:r>
              <a:rPr lang="en-US" dirty="0"/>
              <a:t> JPZ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integracije</a:t>
            </a:r>
            <a:r>
              <a:rPr lang="en-US" dirty="0"/>
              <a:t> po </a:t>
            </a:r>
            <a:r>
              <a:rPr lang="en-US" dirty="0" err="1"/>
              <a:t>uglovima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zovemo</a:t>
            </a:r>
            <a:r>
              <a:rPr lang="en-US" dirty="0"/>
              <a:t> </a:t>
            </a:r>
            <a:r>
              <a:rPr lang="en-US" b="1" dirty="0" err="1"/>
              <a:t>operatorom</a:t>
            </a:r>
            <a:r>
              <a:rPr lang="en-US" b="1" dirty="0"/>
              <a:t>.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od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(S) </a:t>
            </a:r>
            <a:r>
              <a:rPr lang="en-US" dirty="0" err="1"/>
              <a:t>pravimo</a:t>
            </a:r>
            <a:r>
              <a:rPr lang="en-US" dirty="0"/>
              <a:t> </a:t>
            </a:r>
            <a:r>
              <a:rPr lang="en-US" dirty="0" err="1"/>
              <a:t>drugu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(J).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DA40D0-B707-10ED-3DA6-58BE017111A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04800" y="1658160"/>
            <a:ext cx="7067160" cy="25808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8B9C95-7411-0B2F-8FC5-A16DB8F12700}"/>
              </a:ext>
            </a:extLst>
          </p:cNvPr>
          <p:cNvSpPr txBox="1"/>
          <p:nvPr/>
        </p:nvSpPr>
        <p:spPr>
          <a:xfrm>
            <a:off x="5486399" y="4343400"/>
            <a:ext cx="3833447" cy="633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“Kernel”, u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ovom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slučaju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tzv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prvi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eksponencijalni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integral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5E5FBAE-267F-6649-068D-36D463BBF545}"/>
              </a:ext>
            </a:extLst>
          </p:cNvPr>
          <p:cNvSpPr/>
          <p:nvPr/>
        </p:nvSpPr>
        <p:spPr>
          <a:xfrm flipH="1" flipV="1">
            <a:off x="4343400" y="3657600"/>
            <a:ext cx="1142999" cy="91440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8E18F-2B0C-D0A6-B3A3-1EC5C42C7AF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Švarcšild-Milne jednačine. Momenti intenziteta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C4EC60-56C6-ECD7-0BBE-419A6C21339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44120" y="628560"/>
            <a:ext cx="8588160" cy="498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355B7-A789-B450-DC3E-24039F72DE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Šta su ove funkcije En?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FEFA-314C-691B-A5EF-80AFEB49C8F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Eksponencijalni</a:t>
            </a:r>
            <a:r>
              <a:rPr lang="en-US" dirty="0"/>
              <a:t> </a:t>
            </a:r>
            <a:r>
              <a:rPr lang="en-US" dirty="0" err="1"/>
              <a:t>integrali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</a:t>
            </a:r>
            <a:r>
              <a:rPr lang="en-US" dirty="0" err="1"/>
              <a:t>Kerneli</a:t>
            </a:r>
            <a:r>
              <a:rPr lang="en-US" dirty="0"/>
              <a:t>”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koji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omogućavaju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momente</a:t>
            </a:r>
            <a:r>
              <a:rPr lang="en-US" dirty="0"/>
              <a:t> </a:t>
            </a:r>
            <a:r>
              <a:rPr lang="en-US" dirty="0" err="1"/>
              <a:t>intenziteta</a:t>
            </a:r>
            <a:r>
              <a:rPr lang="en-US" dirty="0"/>
              <a:t> “</a:t>
            </a:r>
            <a:r>
              <a:rPr lang="en-US" dirty="0" err="1"/>
              <a:t>direktno</a:t>
            </a:r>
            <a:r>
              <a:rPr lang="en-US" dirty="0"/>
              <a:t>”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njih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definišemo</a:t>
            </a:r>
            <a:r>
              <a:rPr lang="en-US" dirty="0"/>
              <a:t> </a:t>
            </a:r>
            <a:r>
              <a:rPr lang="en-US" dirty="0" err="1"/>
              <a:t>operatore</a:t>
            </a:r>
            <a:r>
              <a:rPr lang="en-US" dirty="0"/>
              <a:t>, </a:t>
            </a:r>
            <a:r>
              <a:rPr lang="en-US" dirty="0" err="1"/>
              <a:t>slične</a:t>
            </a:r>
            <a:r>
              <a:rPr lang="en-US" dirty="0"/>
              <a:t> </a:t>
            </a:r>
            <a:r>
              <a:rPr lang="en-US" b="1" dirty="0"/>
              <a:t>Lambda </a:t>
            </a:r>
            <a:r>
              <a:rPr lang="en-US" dirty="0" err="1"/>
              <a:t>operatoru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Milneova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za </a:t>
            </a:r>
            <a:r>
              <a:rPr lang="en-US" dirty="0" err="1"/>
              <a:t>fluks</a:t>
            </a:r>
            <a:r>
              <a:rPr lang="en-US" dirty="0"/>
              <a:t> &amp; K-integral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Do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konstante</a:t>
            </a:r>
            <a:r>
              <a:rPr lang="en-US" dirty="0"/>
              <a:t>,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odredimo</a:t>
            </a:r>
            <a:br>
              <a:rPr lang="en-US" dirty="0"/>
            </a:br>
            <a:r>
              <a:rPr lang="en-US" dirty="0" err="1"/>
              <a:t>dimenzionom</a:t>
            </a:r>
            <a:r>
              <a:rPr lang="en-US" dirty="0"/>
              <a:t> </a:t>
            </a:r>
            <a:r>
              <a:rPr lang="en-US" dirty="0" err="1"/>
              <a:t>analizom</a:t>
            </a:r>
            <a:r>
              <a:rPr lang="en-US" dirty="0"/>
              <a:t>, </a:t>
            </a:r>
            <a:r>
              <a:rPr lang="en-US" dirty="0" err="1"/>
              <a:t>važi</a:t>
            </a:r>
            <a:r>
              <a:rPr lang="en-US" dirty="0"/>
              <a:t> da je: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n-</a:t>
            </a:r>
            <a:r>
              <a:rPr lang="en-US" b="1" dirty="0" err="1"/>
              <a:t>ti</a:t>
            </a:r>
            <a:r>
              <a:rPr lang="en-US" b="1" dirty="0"/>
              <a:t> moment </a:t>
            </a:r>
            <a:r>
              <a:rPr lang="en-US" b="1" dirty="0" err="1"/>
              <a:t>intenziteta</a:t>
            </a:r>
            <a:r>
              <a:rPr lang="en-US" b="1" dirty="0"/>
              <a:t> </a:t>
            </a:r>
            <a:r>
              <a:rPr lang="en-US" b="1" dirty="0" err="1"/>
              <a:t>zračenja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nekoj</a:t>
            </a:r>
            <a:r>
              <a:rPr lang="en-US" b="1" dirty="0"/>
              <a:t> </a:t>
            </a:r>
            <a:r>
              <a:rPr lang="en-US" b="1" dirty="0" err="1"/>
              <a:t>optičkoj</a:t>
            </a:r>
            <a:r>
              <a:rPr lang="en-US" b="1" dirty="0"/>
              <a:t> </a:t>
            </a:r>
            <a:r>
              <a:rPr lang="en-US" b="1" dirty="0" err="1"/>
              <a:t>dubini</a:t>
            </a:r>
            <a:r>
              <a:rPr lang="en-US" b="1" dirty="0"/>
              <a:t> </a:t>
            </a:r>
            <a:r>
              <a:rPr lang="en-US" b="1" dirty="0" err="1"/>
              <a:t>jednak</a:t>
            </a:r>
            <a:r>
              <a:rPr lang="en-US" b="1" dirty="0"/>
              <a:t> </a:t>
            </a:r>
            <a:r>
              <a:rPr lang="en-US" b="1" dirty="0" err="1"/>
              <a:t>integralu</a:t>
            </a:r>
            <a:r>
              <a:rPr lang="en-US" b="1" dirty="0"/>
              <a:t> </a:t>
            </a:r>
            <a:r>
              <a:rPr lang="en-US" b="1" dirty="0" err="1"/>
              <a:t>Funkcije</a:t>
            </a:r>
            <a:r>
              <a:rPr lang="en-US" b="1" dirty="0"/>
              <a:t> </a:t>
            </a:r>
            <a:r>
              <a:rPr lang="en-US" b="1" dirty="0" err="1"/>
              <a:t>izvora</a:t>
            </a:r>
            <a:r>
              <a:rPr lang="en-US" b="1" dirty="0"/>
              <a:t> puta </a:t>
            </a:r>
            <a:r>
              <a:rPr lang="en-US" b="1" dirty="0" err="1"/>
              <a:t>eksponencijalni</a:t>
            </a:r>
            <a:r>
              <a:rPr lang="en-US" b="1" dirty="0"/>
              <a:t> integral n+1-og </a:t>
            </a:r>
            <a:r>
              <a:rPr lang="en-US" b="1" dirty="0" err="1"/>
              <a:t>reda</a:t>
            </a:r>
            <a:r>
              <a:rPr lang="en-US" b="1" dirty="0"/>
              <a:t>, po </a:t>
            </a:r>
            <a:r>
              <a:rPr lang="en-US" b="1" dirty="0" err="1"/>
              <a:t>optičkoj</a:t>
            </a:r>
            <a:r>
              <a:rPr lang="en-US" b="1" dirty="0"/>
              <a:t> </a:t>
            </a:r>
            <a:r>
              <a:rPr lang="en-US" b="1" dirty="0" err="1"/>
              <a:t>dubini</a:t>
            </a:r>
            <a:r>
              <a:rPr lang="en-US" b="1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DB0D1-91F8-4B32-F54A-4128F903DE3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57800" y="40320"/>
            <a:ext cx="3342960" cy="133128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2CCC13-B858-979C-3437-9CE2FD03B60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932799" y="3009240"/>
            <a:ext cx="1875960" cy="98064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62CD-02ED-83CE-934E-19B306BFBA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Srednji intenzitet kroz Lambda operator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FA341-E2DF-9203-1ABB-E275C12F25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Razložimo</a:t>
            </a:r>
            <a:r>
              <a:rPr lang="en-US" dirty="0"/>
              <a:t> </a:t>
            </a:r>
            <a:r>
              <a:rPr lang="en-US" dirty="0" err="1"/>
              <a:t>detaljno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formalnog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Hajde</a:t>
            </a:r>
            <a:r>
              <a:rPr lang="en-US" dirty="0"/>
              <a:t> da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dirty="0" err="1"/>
              <a:t>raspodela</a:t>
            </a:r>
            <a:r>
              <a:rPr lang="en-US" dirty="0"/>
              <a:t> od J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dubinom</a:t>
            </a:r>
            <a:r>
              <a:rPr lang="en-US" dirty="0"/>
              <a:t> za </a:t>
            </a:r>
            <a:r>
              <a:rPr lang="en-US" dirty="0" err="1"/>
              <a:t>neke</a:t>
            </a:r>
            <a:r>
              <a:rPr lang="en-US" dirty="0"/>
              <a:t> date S(t), 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b="1" dirty="0" err="1"/>
              <a:t>transformacija</a:t>
            </a:r>
            <a:r>
              <a:rPr lang="en-US" b="1" dirty="0"/>
              <a:t> S u J.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C2B8A-388E-CAA6-0F30-93EA9CFF02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90880" y="1565640"/>
            <a:ext cx="7676640" cy="2238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1B92-1CFD-4B30-781F-8C338B1060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Konstantno 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79D732-6F56-4414-093E-383E9785B56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42559" y="914400"/>
            <a:ext cx="7991280" cy="4562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9489-F905-6887-513C-97731BFE47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S linearno opada sa log tau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17CB0B-524D-FA49-CAD0-CA3FA1C3F79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69919" y="916200"/>
            <a:ext cx="7936560" cy="4530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33BA-E154-D2FB-ED12-10DCBFB510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S je kvadratna funkcija od logtau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53E14B-5ABC-1C26-485D-9651AC89016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55799" y="894240"/>
            <a:ext cx="8165160" cy="466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53EA-87F1-9427-7ECF-B38492A902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Milneov problem zapisan preko lambda operatora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64974-9DF4-7CB0-2233-7A87CA1AA29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8600" y="685799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Setimo</a:t>
            </a:r>
            <a:r>
              <a:rPr lang="en-US" dirty="0"/>
              <a:t> se da je: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Naš</a:t>
            </a:r>
            <a:r>
              <a:rPr lang="en-US" dirty="0"/>
              <a:t> problem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zapisati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Ovo je primer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b="1" dirty="0" err="1"/>
              <a:t>integralne</a:t>
            </a:r>
            <a:r>
              <a:rPr lang="en-US" b="1" dirty="0"/>
              <a:t> </a:t>
            </a:r>
            <a:r>
              <a:rPr lang="en-US" b="1" dirty="0" err="1"/>
              <a:t>jednačine</a:t>
            </a:r>
            <a:r>
              <a:rPr lang="en-US" b="1" dirty="0"/>
              <a:t>. </a:t>
            </a:r>
            <a:r>
              <a:rPr lang="en-US" dirty="0"/>
              <a:t>Mi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relativno</a:t>
            </a:r>
            <a:r>
              <a:rPr lang="en-US" dirty="0"/>
              <a:t> </a:t>
            </a:r>
            <a:r>
              <a:rPr lang="en-US" dirty="0" err="1"/>
              <a:t>lako</a:t>
            </a:r>
            <a:r>
              <a:rPr lang="en-US" dirty="0"/>
              <a:t> da je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numerički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74EDC-F34F-CDAD-BF05-C70202DFFD7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29040" y="1155960"/>
            <a:ext cx="7676640" cy="223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9EAA57-4DCA-FA90-40EB-59D296C8918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15120" y="3915000"/>
            <a:ext cx="4600079" cy="6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13974-46AB-8257-FF62-4EB8FBD6936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Kako su ovaj problem rešili pre 100 godina?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A3714-D15B-5F8C-FF21-A915EC2D06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9099635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“</a:t>
            </a:r>
            <a:r>
              <a:rPr lang="en-US" dirty="0" err="1"/>
              <a:t>Egzaktno</a:t>
            </a:r>
            <a:r>
              <a:rPr lang="en-US" dirty="0"/>
              <a:t>” </a:t>
            </a:r>
            <a:r>
              <a:rPr lang="en-US" dirty="0" err="1"/>
              <a:t>rešenje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moguće</a:t>
            </a:r>
            <a:r>
              <a:rPr lang="en-US" dirty="0"/>
              <a:t>, </a:t>
            </a:r>
            <a:r>
              <a:rPr lang="en-US" dirty="0" err="1"/>
              <a:t>zato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moguće</a:t>
            </a:r>
            <a:r>
              <a:rPr lang="en-US" dirty="0"/>
              <a:t> </a:t>
            </a:r>
            <a:r>
              <a:rPr lang="en-US" dirty="0" err="1"/>
              <a:t>analitički</a:t>
            </a:r>
            <a:r>
              <a:rPr lang="en-US" dirty="0"/>
              <a:t> “</a:t>
            </a:r>
            <a:r>
              <a:rPr lang="en-US" dirty="0" err="1"/>
              <a:t>invertovati</a:t>
            </a:r>
            <a:r>
              <a:rPr lang="en-US" dirty="0"/>
              <a:t>” </a:t>
            </a:r>
            <a:r>
              <a:rPr lang="en-US" dirty="0" err="1"/>
              <a:t>ovaj</a:t>
            </a:r>
            <a:r>
              <a:rPr lang="en-US" dirty="0"/>
              <a:t> integral.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Oba </a:t>
            </a:r>
            <a:r>
              <a:rPr lang="en-US" dirty="0" err="1"/>
              <a:t>rešenja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izvesti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uporediti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posmatranjima</a:t>
            </a:r>
            <a:r>
              <a:rPr lang="en-US" dirty="0"/>
              <a:t>) se </a:t>
            </a:r>
            <a:r>
              <a:rPr lang="en-US" dirty="0" err="1"/>
              <a:t>oslanjaju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neke</a:t>
            </a:r>
            <a:r>
              <a:rPr lang="en-US" dirty="0"/>
              <a:t> </a:t>
            </a:r>
            <a:r>
              <a:rPr lang="en-US" dirty="0" err="1"/>
              <a:t>aproksimacije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Poredjenje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posmatranjima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u </a:t>
            </a:r>
            <a:r>
              <a:rPr lang="en-US" dirty="0" err="1"/>
              <a:t>stvari</a:t>
            </a:r>
            <a:r>
              <a:rPr lang="en-US" dirty="0"/>
              <a:t> </a:t>
            </a:r>
            <a:r>
              <a:rPr lang="en-US" dirty="0" err="1"/>
              <a:t>reći</a:t>
            </a:r>
            <a:r>
              <a:rPr lang="en-US" dirty="0"/>
              <a:t> </a:t>
            </a:r>
            <a:r>
              <a:rPr lang="en-US" b="1" dirty="0" err="1"/>
              <a:t>koja</a:t>
            </a:r>
            <a:r>
              <a:rPr lang="en-US" b="1" dirty="0"/>
              <a:t> od </a:t>
            </a:r>
            <a:r>
              <a:rPr lang="en-US" b="1" dirty="0" err="1"/>
              <a:t>tih</a:t>
            </a:r>
            <a:r>
              <a:rPr lang="en-US" b="1" dirty="0"/>
              <a:t> </a:t>
            </a:r>
            <a:r>
              <a:rPr lang="en-US" b="1" dirty="0" err="1"/>
              <a:t>aproksimacija</a:t>
            </a:r>
            <a:r>
              <a:rPr lang="en-US" b="1" dirty="0"/>
              <a:t> je </a:t>
            </a:r>
            <a:r>
              <a:rPr lang="en-US" b="1" dirty="0" err="1"/>
              <a:t>bliža</a:t>
            </a:r>
            <a:r>
              <a:rPr lang="en-US" b="1" dirty="0"/>
              <a:t> </a:t>
            </a:r>
            <a:r>
              <a:rPr lang="en-US" b="1" dirty="0" err="1"/>
              <a:t>realnosti</a:t>
            </a: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4319-5A9E-7C30-2F7C-6D32298D72B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Momenti JPZ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B8B8C-48E1-8C83-28F6-4647682D96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Pomnožimo sa μ</a:t>
            </a:r>
            <a:r>
              <a:rPr lang="en-US" baseline="33000"/>
              <a:t>n</a:t>
            </a:r>
            <a:r>
              <a:rPr lang="en-US"/>
              <a:t>, integralimo u podelimo sa 2 (tj. Usrednjimo po uglovima).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Četiri promenljive (I, J, F, K) i tri jednačine. Ne možemo da “zatvorimo” sistem. Trebaju nam neke dodatne pretpostavke.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C3A3C-57A9-07DA-83F6-A5F09C3FC56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67120" y="1557359"/>
            <a:ext cx="5924160" cy="254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A60B-60A5-673B-8715-99B5E83407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Švarcšild-Šusterovo rešenje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E102C-32B1-17C1-EC1E-36F04707811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582840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ulazni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izotropni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odgovarajućih</a:t>
            </a:r>
            <a:r>
              <a:rPr lang="en-US" dirty="0"/>
              <a:t> </a:t>
            </a:r>
            <a:r>
              <a:rPr lang="en-US" dirty="0" err="1"/>
              <a:t>intervala</a:t>
            </a:r>
            <a:r>
              <a:rPr lang="en-US" dirty="0"/>
              <a:t> →  </a:t>
            </a:r>
            <a:r>
              <a:rPr lang="en-US" dirty="0" err="1"/>
              <a:t>Eliminišemo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B0E7C-9277-A87F-43B1-712008A0178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00320" y="1371599"/>
            <a:ext cx="4171679" cy="226656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CD855B-4C92-168D-653F-E526F707F98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486399" y="1362600"/>
            <a:ext cx="4314600" cy="275220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5AC44D8-4216-59C7-1006-6ABF0F8D1143}"/>
              </a:ext>
            </a:extLst>
          </p:cNvPr>
          <p:cNvSpPr/>
          <p:nvPr/>
        </p:nvSpPr>
        <p:spPr>
          <a:xfrm>
            <a:off x="4800600" y="2514600"/>
            <a:ext cx="457200" cy="2286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90000" tIns="45000" rIns="90000" bIns="450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43CBE63-8F4A-981F-512E-C8CBD6F4F3C9}"/>
              </a:ext>
            </a:extLst>
          </p:cNvPr>
          <p:cNvSpPr/>
          <p:nvPr/>
        </p:nvSpPr>
        <p:spPr>
          <a:xfrm>
            <a:off x="5365800" y="3501000"/>
            <a:ext cx="4572000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45FE2B-B6EC-2B06-A0DD-EE4D2C61CBE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820120" y="4343400"/>
            <a:ext cx="3781080" cy="59004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DF3864-173E-F27F-561E-48FEA9BC67B1}"/>
              </a:ext>
            </a:extLst>
          </p:cNvPr>
          <p:cNvSpPr txBox="1"/>
          <p:nvPr/>
        </p:nvSpPr>
        <p:spPr>
          <a:xfrm>
            <a:off x="685799" y="4464000"/>
            <a:ext cx="4171679" cy="633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Kako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naći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konstantu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C?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Diskusija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nekoliko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minuta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6C9A4-FFE0-B764-4B15-072CC8DCA84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Švarcšild-Šusterovo rešenje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FDA3D-8C03-1353-74B9-61E6195CCCE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582840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Izlazni intenzitet i ulazni intenzitet su izotropni unutar odgovarajućih intervala →  Eliminišemo intenzitet.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7084E-7017-9FFB-5B18-45938858FEB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85799" y="1371599"/>
            <a:ext cx="3781080" cy="59004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36FF83-1D53-19EC-0A27-2AB391292A7A}"/>
              </a:ext>
            </a:extLst>
          </p:cNvPr>
          <p:cNvSpPr txBox="1"/>
          <p:nvPr/>
        </p:nvSpPr>
        <p:spPr>
          <a:xfrm>
            <a:off x="685799" y="3905099"/>
            <a:ext cx="4466880" cy="1447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 bez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nameštanja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dobili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funkcija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izvora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linearno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zavisi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od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optičke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dubine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 Milne-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Eddingtonova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aproksimacija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ima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smisla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 (Ali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nije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konzistentna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pretpostavkom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početka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7108FF-5861-556E-8606-BA6144A1F1C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2419560"/>
            <a:ext cx="4466880" cy="1238039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BC75B-3E04-B42C-534D-E9062D23DD0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486399" y="2743199"/>
            <a:ext cx="4343400" cy="23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6075-18DA-315D-D763-76EE68D4F63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Proverimo numerički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E0A67-A6E4-799C-2768-DF81B5D816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34039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</a:pPr>
            <a:r>
              <a:rPr lang="en-US"/>
              <a:t>Nimalo loše!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5774D8-FD48-2CC5-10D5-EB843950FDF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24120" y="1107000"/>
            <a:ext cx="7991280" cy="4562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2797A3-3CEA-3ED3-04CA-2D0611B30317}"/>
              </a:ext>
            </a:extLst>
          </p:cNvPr>
          <p:cNvSpPr/>
          <p:nvPr/>
        </p:nvSpPr>
        <p:spPr>
          <a:xfrm>
            <a:off x="6172200" y="914400"/>
            <a:ext cx="2743199" cy="2057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29160">
            <a:solidFill>
              <a:srgbClr val="8D281E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1AA1-FB0A-23FC-5B44-ADDDA41B8E3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Eddingtonovo rešenje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2BDE5-0742-20E0-881A-CD6EC760C1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/>
              <a:t>Pretpostavimo da je K = J/3 i na površini! Eliminišemo K!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8F4AE0-0FCF-3ED5-3DCB-9434C1D2527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62400" y="1600200"/>
            <a:ext cx="3314519" cy="32284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1C17FD4-08C3-E814-6419-80E09DD9716E}"/>
              </a:ext>
            </a:extLst>
          </p:cNvPr>
          <p:cNvSpPr/>
          <p:nvPr/>
        </p:nvSpPr>
        <p:spPr>
          <a:xfrm>
            <a:off x="493200" y="2250000"/>
            <a:ext cx="2971800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1024D8A-F539-49B1-2264-6F5E355106F2}"/>
              </a:ext>
            </a:extLst>
          </p:cNvPr>
          <p:cNvSpPr/>
          <p:nvPr/>
        </p:nvSpPr>
        <p:spPr>
          <a:xfrm>
            <a:off x="914400" y="3546000"/>
            <a:ext cx="1371599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864624-92C2-6309-827A-E0CA82EB1BA4}"/>
              </a:ext>
            </a:extLst>
          </p:cNvPr>
          <p:cNvSpPr txBox="1"/>
          <p:nvPr/>
        </p:nvSpPr>
        <p:spPr>
          <a:xfrm>
            <a:off x="3657600" y="2338560"/>
            <a:ext cx="43434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Eddingtonova aproksimacija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297B2-9162-9DDB-8F84-16F208AABE92}"/>
              </a:ext>
            </a:extLst>
          </p:cNvPr>
          <p:cNvSpPr txBox="1"/>
          <p:nvPr/>
        </p:nvSpPr>
        <p:spPr>
          <a:xfrm>
            <a:off x="2514600" y="3657600"/>
            <a:ext cx="43434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II Eddingtonova aproksimacija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D6149D9-0E46-BDEE-7631-ACC42268231F}"/>
              </a:ext>
            </a:extLst>
          </p:cNvPr>
          <p:cNvSpPr/>
          <p:nvPr/>
        </p:nvSpPr>
        <p:spPr>
          <a:xfrm>
            <a:off x="662400" y="4236204"/>
            <a:ext cx="2538000" cy="6857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C9211E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F1BE-2FED-030B-1934-7CE51CCC4CD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Proverimo numerički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BEDB6-15C1-178B-A341-1661929FC3F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34039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</a:pPr>
            <a:r>
              <a:rPr lang="en-US"/>
              <a:t>Nimalo loše!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62E461-A481-559F-115B-BF795B9E914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33559" y="1107000"/>
            <a:ext cx="7991280" cy="4562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26922C5-4C44-59AF-55B0-F37859973939}"/>
              </a:ext>
            </a:extLst>
          </p:cNvPr>
          <p:cNvSpPr/>
          <p:nvPr/>
        </p:nvSpPr>
        <p:spPr>
          <a:xfrm>
            <a:off x="6172560" y="914400"/>
            <a:ext cx="2743199" cy="2057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29160">
            <a:solidFill>
              <a:srgbClr val="8D281E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8455D5E-F4DC-2394-F59F-7C8200E79002}"/>
              </a:ext>
            </a:extLst>
          </p:cNvPr>
          <p:cNvSpPr/>
          <p:nvPr/>
        </p:nvSpPr>
        <p:spPr>
          <a:xfrm>
            <a:off x="1600200" y="3200400"/>
            <a:ext cx="2057400" cy="20574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29160">
            <a:solidFill>
              <a:srgbClr val="8D281E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6475E4-9707-A327-7E8C-EB36C448B92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52720" y="5760"/>
            <a:ext cx="775296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3218413-FFF4-3A35-85CD-DC9244824D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Poredjenje: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1384F-47AC-98D9-59D1-CBB897F61BA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en-US"/>
              <a:t>Posmatrački 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07666-59DB-6E76-24F9-1D5EE8D0AC9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Gledamo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/>
              <a:t> </a:t>
            </a:r>
            <a:r>
              <a:rPr lang="en-US" dirty="0" err="1"/>
              <a:t>reprodukuju</a:t>
            </a:r>
            <a:r>
              <a:rPr lang="en-US" dirty="0"/>
              <a:t> </a:t>
            </a:r>
            <a:r>
              <a:rPr lang="en-US" dirty="0" err="1"/>
              <a:t>potamnjenje</a:t>
            </a:r>
            <a:r>
              <a:rPr lang="en-US" dirty="0"/>
              <a:t> ka </a:t>
            </a:r>
            <a:r>
              <a:rPr lang="en-US" dirty="0" err="1"/>
              <a:t>rubu</a:t>
            </a:r>
            <a:r>
              <a:rPr lang="en-US" dirty="0"/>
              <a:t> </a:t>
            </a:r>
            <a:r>
              <a:rPr lang="en-US" dirty="0" err="1"/>
              <a:t>Sunčevog</a:t>
            </a:r>
            <a:r>
              <a:rPr lang="en-US" dirty="0"/>
              <a:t> </a:t>
            </a:r>
            <a:r>
              <a:rPr lang="en-US" dirty="0" err="1"/>
              <a:t>diska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6E507B-6C9E-47F0-F99F-6DFD25C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1246680"/>
            <a:ext cx="9091440" cy="44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50DD-A3FF-881C-A291-23CDFC00CDD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Tačno rešenje: tzv Hopfovo rešenje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2FE0-2F82-A187-DB7B-7958819B393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1582"/>
              </a:spcAft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68ADF-6546-95B4-007A-8197EF96C71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19680" y="628560"/>
            <a:ext cx="4019040" cy="13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86367AF-A7FF-6629-4D5B-0417CC12E627}"/>
              </a:ext>
            </a:extLst>
          </p:cNvPr>
          <p:cNvSpPr/>
          <p:nvPr/>
        </p:nvSpPr>
        <p:spPr>
          <a:xfrm>
            <a:off x="5715000" y="662040"/>
            <a:ext cx="685799" cy="68579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29160">
            <a:solidFill>
              <a:srgbClr val="8D281E"/>
            </a:solidFill>
            <a:prstDash val="solid"/>
          </a:ln>
        </p:spPr>
        <p:txBody>
          <a:bodyPr wrap="none" lIns="104400" tIns="59400" rIns="104400" bIns="59400" anchor="ctr" anchorCtr="0" compatLnSpc="0">
            <a:noAutofit/>
          </a:bodyPr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5510D4-ACA9-9916-2322-17139F901C1A}"/>
              </a:ext>
            </a:extLst>
          </p:cNvPr>
          <p:cNvSpPr txBox="1"/>
          <p:nvPr/>
        </p:nvSpPr>
        <p:spPr>
          <a:xfrm>
            <a:off x="6629400" y="734400"/>
            <a:ext cx="2971800" cy="361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Hopfova funkcija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DAD3AC-B59E-D2B7-7759-23D8720825E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830960" y="2007360"/>
            <a:ext cx="6414480" cy="366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0B75-D8EE-FD12-CBCC-3ADED360D2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rtl="0"/>
            <a:r>
              <a:rPr lang="en-US"/>
              <a:t>Medjutim, najveći problem je pretpostavka sive atmosfere: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C3813D-D2DB-B850-4279-BC8B3916B47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33480" y="685799"/>
            <a:ext cx="6196320" cy="48063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97997-A8AE-F321-9B17-6A27D9A3420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360936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Optička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drastično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odaberemo</a:t>
            </a:r>
            <a:r>
              <a:rPr lang="en-US" dirty="0"/>
              <a:t> </a:t>
            </a:r>
            <a:r>
              <a:rPr lang="en-US" dirty="0" err="1"/>
              <a:t>srednju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 za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momenat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neće</a:t>
            </a:r>
            <a:r>
              <a:rPr lang="en-US" dirty="0"/>
              <a:t>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odgovarajuća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za </a:t>
            </a:r>
            <a:r>
              <a:rPr lang="en-US" dirty="0" err="1"/>
              <a:t>ostale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To je </a:t>
            </a:r>
            <a:r>
              <a:rPr lang="en-US" dirty="0" err="1"/>
              <a:t>najveći</a:t>
            </a:r>
            <a:r>
              <a:rPr lang="en-US" dirty="0"/>
              <a:t> </a:t>
            </a:r>
            <a:r>
              <a:rPr lang="en-US" dirty="0" err="1"/>
              <a:t>izvor</a:t>
            </a:r>
            <a:r>
              <a:rPr lang="en-US" dirty="0"/>
              <a:t> </a:t>
            </a:r>
            <a:r>
              <a:rPr lang="en-US" dirty="0" err="1"/>
              <a:t>greške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u </a:t>
            </a:r>
            <a:r>
              <a:rPr lang="en-US" dirty="0" err="1"/>
              <a:t>praksi</a:t>
            </a:r>
            <a:r>
              <a:rPr lang="en-US" dirty="0"/>
              <a:t> </a:t>
            </a:r>
            <a:r>
              <a:rPr lang="en-US" dirty="0" err="1"/>
              <a:t>razmatramo</a:t>
            </a:r>
            <a:r>
              <a:rPr lang="en-US" dirty="0"/>
              <a:t> ne-</a:t>
            </a:r>
            <a:r>
              <a:rPr lang="en-US" dirty="0" err="1"/>
              <a:t>Sive</a:t>
            </a:r>
            <a:r>
              <a:rPr lang="en-US" dirty="0"/>
              <a:t> </a:t>
            </a:r>
            <a:r>
              <a:rPr lang="en-US" dirty="0" err="1"/>
              <a:t>atmosfere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Takodje</a:t>
            </a:r>
            <a:r>
              <a:rPr lang="en-US" dirty="0"/>
              <a:t>, </a:t>
            </a:r>
            <a:r>
              <a:rPr lang="en-US" dirty="0" err="1"/>
              <a:t>želimo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zavisnost</a:t>
            </a:r>
            <a:r>
              <a:rPr lang="en-US" dirty="0"/>
              <a:t> od </a:t>
            </a:r>
            <a:r>
              <a:rPr lang="en-US" dirty="0" err="1"/>
              <a:t>visine</a:t>
            </a:r>
            <a:r>
              <a:rPr lang="en-US" dirty="0"/>
              <a:t>, a ne od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19737</TotalTime>
  <Words>1137</Words>
  <Application>Microsoft Office PowerPoint</Application>
  <PresentationFormat>Custom</PresentationFormat>
  <Paragraphs>134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Pitanje za zagrevanje</vt:lpstr>
      <vt:lpstr>Podsetnik</vt:lpstr>
      <vt:lpstr>Prenos zračenja u unutrašnjosti zvezde</vt:lpstr>
      <vt:lpstr>Šta je “K-integral”?</vt:lpstr>
      <vt:lpstr>Momenti intenziteta (momenti polja zračenja)</vt:lpstr>
      <vt:lpstr>Milneov problem</vt:lpstr>
      <vt:lpstr>Milneov problem</vt:lpstr>
      <vt:lpstr>Milneov problem</vt:lpstr>
      <vt:lpstr>Milneov problem</vt:lpstr>
      <vt:lpstr>Milneov problem</vt:lpstr>
      <vt:lpstr>Lambda operator</vt:lpstr>
      <vt:lpstr>Švarcšild-Milne jednačine. Momenti intenziteta</vt:lpstr>
      <vt:lpstr>Šta su ove funkcije En?</vt:lpstr>
      <vt:lpstr>Srednji intenzitet kroz Lambda operator</vt:lpstr>
      <vt:lpstr>Konstantno S</vt:lpstr>
      <vt:lpstr>S linearno opada sa log tau</vt:lpstr>
      <vt:lpstr>S je kvadratna funkcija od logtau</vt:lpstr>
      <vt:lpstr>Milneov problem zapisan preko lambda operatora</vt:lpstr>
      <vt:lpstr>Kako su ovaj problem rešili pre 100 godina?</vt:lpstr>
      <vt:lpstr>Momenti JPZ</vt:lpstr>
      <vt:lpstr>Švarcšild-Šusterovo rešenje</vt:lpstr>
      <vt:lpstr>Švarcšild-Šusterovo rešenje</vt:lpstr>
      <vt:lpstr>Proverimo numerički</vt:lpstr>
      <vt:lpstr>Eddingtonovo rešenje</vt:lpstr>
      <vt:lpstr>Proverimo numerički</vt:lpstr>
      <vt:lpstr>Poredjenje:</vt:lpstr>
      <vt:lpstr>Posmatrački test</vt:lpstr>
      <vt:lpstr>Tačno rešenje: tzv Hopfovo rešenje</vt:lpstr>
      <vt:lpstr>Medjutim, najveći problem je pretpostavka sive atmosfere: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Milic</cp:lastModifiedBy>
  <cp:revision>2288</cp:revision>
  <dcterms:created xsi:type="dcterms:W3CDTF">2021-01-12T21:16:47Z</dcterms:created>
  <dcterms:modified xsi:type="dcterms:W3CDTF">2025-12-30T14:08:56Z</dcterms:modified>
</cp:coreProperties>
</file>