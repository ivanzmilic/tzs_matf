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389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60450C-F5D7-CDC8-23F3-13B1756FDAC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FAEE0E-6E4D-79DB-EFCF-33C232A2F707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24A62-D914-3E7A-636E-139C7DD90C4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DAE52-6C00-2EEA-F3AF-9601C370A96B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B1FAFE17-A7B4-46F1-A63C-76E2B32784CA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62997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682CA-5CD1-DD06-1054-70FEEFD35F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FBDE8-2B7B-CCF1-CC40-1163AAB9EE3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FB43C36-5C16-BD56-93CF-E484F9E71A5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E1C59-C8D9-B42D-72CF-A93BB3781762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82E6C-822C-4C4F-03BB-47D5CEA409D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4BE78-CB54-E730-D622-4DE5A96C60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3D068C8D-CB82-4416-AA91-B27052A75D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66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EF0B0-ACAF-DCB1-9C24-2BE22822F3E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83D6C43-1932-49D1-9487-E03601DA1F18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B1337-E8FE-C68A-E88E-E3D6946009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B7572-20CC-32D7-B19C-50825BAE36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E610-89E1-EC64-DBEF-2D2218C496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0CFDBCB-D95C-4E3D-AA79-72DC53108E02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CFE0E-53FE-3BAA-85EE-BF06027BFBA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E2193-BC34-FCFD-76F1-72F9581ACE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77F42-566F-C69A-B325-584301A140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FC21807-FC56-4DE0-B9F3-1A89B04453D5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C5B44-BBCF-6226-8764-A9A7D0C3899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87CDF-9E61-83D6-9618-F70E544846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DED43-CF04-7767-ACEF-5F1AA15682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C843A5C-4EEE-4781-BE84-881DBDC28775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EF5D9-5E41-34DC-E5E1-6E347736776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3AF44-4091-69A5-C608-F15C507467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A49F9-277E-BFB1-F2A9-59A81C198A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6FBD7B8-B204-4412-8A62-A9B3F837D923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293BE-0399-D7F4-0D67-AE1FBCBAA2D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4041B-0A3C-05DF-906C-240B533F91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0FD59-6EBB-13E0-740E-C27C06818E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4A07167-96A5-421D-A88A-855A94A56A6F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AD6B2-E430-58F1-7EA1-B3987993C2E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38CA7-3B70-546F-6144-A2C9BD9994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F4C9D-CF56-0775-53F2-C16EA4BA8F3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67DD044-E3A2-4BF2-86DE-DD5D4DCA658A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B7497-CDDC-B45C-EA13-0B68A8C2FC9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0A0AC-6636-C19F-EBF9-1B55677481D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F8943-23EF-F6DC-086B-7C7465AD48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119AA93-3329-4DD0-AC8B-B68D781609A0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0AF63F-30B2-658D-C7FC-47E8A115AC1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03DF7-B34F-5E73-1179-13690B3E04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207AD-1F84-E508-5B14-7B0E5C95FB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FABBAB3-FC88-4BB5-9F5E-7116F8CFC02E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4155C-64D4-4D33-BBB0-8E1460A2DE2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0A8A4-3B92-9D0E-7B84-1A8332147DA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5BD4F-9C5A-7F46-9128-6C2CB3A7CE2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F2AE3F8-4D6B-4711-9224-F0C798E15FAA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2A775-72C1-0038-5407-117180A7692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6D213-D079-4021-F850-CBD476A995D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6C614-1468-80FC-2D2A-1B202620815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4F3F101-A0E4-4CFD-9709-69B7A2CC8477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D2841-B9BE-F2AA-6A54-2665358EAA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349D3-79C6-86F3-AABD-A48DF8C6B8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241EF-6690-5097-FB38-6EA3710A4F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7F48E9-750F-4D58-BC4B-8787F7AC5AC9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0A7C3-F3D1-F455-C2A1-64EADB38C82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99142-FB92-DC35-1DA1-53AAA27623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F1502-39A3-7964-CC43-D43F946106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373517A-772A-4CBE-9371-FD9A8468A558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073D1-344D-68D9-F146-FFB7F20E328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5EB30-BEF7-56F1-2407-FE9217968F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7C8A9-9E70-FAC1-521A-FF714B12DA2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1C74245-C0EF-41F8-BFD8-7EA69B010754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44AED-421E-B007-BDC3-B044655066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07F6B-4AFF-BF64-8B42-72DA556DB0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9405D-3559-D7C6-2C98-D0277A7359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F2CF13B-A6E6-4BF9-84AA-53B64CD64042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C5C9D-E28D-B101-57E7-E31608C1A1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53C0F-EEFB-30D9-5CD4-ED265C1D01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0227D-58AD-FA94-B9DE-6B1CEFB3215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85FDA53-B9F4-4565-AE7B-631046392135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3BCF1-E0B1-F23F-C408-62E2444DBCE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12E7A-BAE4-E550-6915-04218CD1FB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53BD-B50C-0AC7-EC4E-F16BE40539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FC0C9DF-45B5-40CD-9AF1-63CDD1EA8C31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2E46A-9C8F-7D5A-A677-17E54A9B807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49C16-B6DB-C30A-F0B9-8DAEE60F2D3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AC888-74D0-8900-9833-CB31BC83278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BF7F706-5CFF-4101-BDE7-927EB9D9DE93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B300A-499F-ACDC-A4EB-40B954A2A3D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6EB25-7390-5EA1-923B-CB19B70D997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587F6-C996-5C83-0D56-A1A66BAE90D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7AE09F7-0E24-479A-A006-7926A3F65A55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ACC09-5C7F-C075-9A15-C74EECFB2C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194AD-8C9F-9AC7-37B3-A6E762026A6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9C26D-FDED-AE9A-1473-D79312D486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5FADEAB-5991-4F76-AB91-B259E70BB99C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55750-F437-FF9C-7606-21A09095EFC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330B0-8789-B43D-2620-37BA59BEB4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71710-6101-9981-F928-CE2F4536FD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4167804-E297-44B1-986F-316511D6203D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F47C1-D95B-9032-6AB3-5A9C6D90B96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29EE3-09F3-B2FE-BFD0-ACBB7072CDF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19F56-CCE0-729C-5CFE-F5DC1AB1429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2164A5E-A0E2-477B-BE2C-D1E205400731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2963A-CD64-A3A6-E563-379DB5F92C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4A54B-24BC-4F28-FAF5-F8C7AFBE1D7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36FF4-4A19-6A03-D64A-0437281F08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29F66F4-3F43-4FDD-BBBB-EC721079C4A4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F141F-1210-3971-9C0F-3A33A50357C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1C397-4BE9-E118-DF37-64FD7A4231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CF08C-6662-7F0F-CCDB-FFD60648D7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A56CF71-8C05-454E-A347-AE38E0FEC398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00B28-590A-31C6-DADB-E92BBC36D1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6316E-8413-4769-E6DA-41E89F2FA62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58DB8-8313-9FF7-36FC-DDBCD4FE8BE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7FE1B6E-E997-4334-A99D-12534B68C4AA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24AC1-0AE9-9C5A-82E2-DA626792A3C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34969-2181-49C9-EA9E-E6B9EC7E61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53ECD-4107-6F42-2DC0-C75A861E1A7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1DEA069-10C9-4D5F-8B28-01062B0033FF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B612B-D59B-B621-E895-0F8C8A8C2E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E3F6F-0FFE-097D-5EE0-E3A4969762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54CBE-BAE4-F4F9-7524-4E5B193DD60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3E97F06-CB39-4D1E-B7A8-146EEDE473CD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7FDD5-4F7D-24A6-899E-35006CDE83E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1B5D3-6D3E-674A-2293-38D78A962C8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176A7-F32E-6D6F-F10B-EAD039139E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E633E12-FFE2-4C3E-90E5-CEE60589211C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16DCF-C39E-9152-2640-C1CBC858CF1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96061-C326-F3AA-E2F9-E5D619CBAE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6B73B-B12A-DEF0-32A5-19CF466F989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2F24CBF-B932-4F71-AA13-97CA6BE7B038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3A4C9-6917-1B68-C7FD-49D50D997E3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46B01-ACEA-81F9-AA16-E1A81252224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70CF1-BF50-1682-F321-5CA0AA88E8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0A5DE42-B96A-436A-8DFF-B5CD49D2D22B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C3A58-E48F-01FD-C15C-ED47659693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0D4B8-ED4D-B716-842D-8422613D5FE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3AFED-CF44-3EE1-8822-34FA6DF1F1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BE376C1-5F8F-48A8-8015-AA479159D920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5FEB2-CB07-261A-D088-46343EABCB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21008-E157-3F04-EAF0-C2FE23B0AD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62D21-D722-7519-6DA4-9A854BD7A12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37D452D-09C4-48D4-BE64-B31BDCDD1650}" type="slidenum">
              <a:t>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F152A-B040-3EAC-3DD6-D706E8C5EF4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C650D-F4B5-E2BA-5A63-181CBF0691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84797-4210-1BAA-C2A5-63FFFB68EA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E6DB29-31C9-4A39-A53B-D12F32DFB5C2}" type="slidenum"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89B5B-3B99-B25B-933E-70870AA8B9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8D13B-6D82-6422-B4EA-A2F2D3D25F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E42B0-894A-20B5-B288-A3F5B9B6349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8A077D8-550E-4F71-998B-58589648347B}" type="slidenum">
              <a:t>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DEF36-B12E-6731-4714-2446B58C84C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BED99-448A-C985-146E-E307C031F7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6F3F8-C7C1-4A45-7B5E-69C9DA2EA2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2902C65-D70B-4959-92D4-7C7D4E93323A}" type="slidenum">
              <a:t>35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EDB51-A682-71D0-2CBE-3825AC5B0E9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97102-6BC2-6125-D0DC-5067D0BDEA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D7D7-7072-1A1C-0371-A4ED92416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E9C4F-DB03-AAEF-2612-442BC9E5F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9E0FD-B049-F698-CCDC-94093E206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8121C-FAEF-0A64-7CCD-81058B9AB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A213B-0497-D070-2C26-D3AA46460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8C61DC-4A0C-4D18-A1CF-268ED6DE60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0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4E1B-7A3A-F2DE-F1FF-41EB0FEC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F773-D4E1-9651-740A-02846B88C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D569F-C03E-DD06-9CF2-2D4DFA0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9CA26-0B25-5522-8617-ACCA5ABE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2648-45D5-AA89-43FC-46908219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3C84EB8-9972-4CC6-94FC-18FA1FCE31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30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30EE-EF60-1DBC-F4FB-11A80E01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28DFA-80AD-7A3E-D49E-41B3AE198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E31AD-22A0-B3B6-30F1-10D6D0A9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FEEAB-7FA7-E9CC-D19D-117B0147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51F2D-E924-D41A-79D2-5D5B218C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94056DD-CDEC-424C-A61A-7C704303B3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85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490A0-37EF-1ED3-64C1-6CE8DAD0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1C95A-37A5-AD4E-26D9-174849876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A24D0-3A42-0135-73CC-E9DCC2E70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42387-E404-3DBB-3600-4F9CEC5D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09FAC-B4E8-718E-DC0A-58387327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EA055-CF44-FC96-6E43-2C6BBDD9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F23D3AD-E811-43E4-AACF-A746FDCAA3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7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59B11-35DF-6B73-B08B-00D96948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3FB59-E35D-662F-435E-B1259759A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993B7-1306-3C19-C30E-BA7BCD862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76478-7111-3A45-7FB9-CD995795B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1CCE1-62C8-36E8-886D-C1FF31661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D5E011-32A1-3F44-9A26-E2A449F51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6B0CA-5686-7928-58AF-23B9EE5D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53EFB-7927-65D6-6FBA-0E49CAB0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E7DC15-CA9A-44C0-83E4-A261F3D4BE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3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1EE8-5941-40E4-3C74-011486BE7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D423B-A32B-E50B-90DA-74FD1D34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44A0B-4AFE-FCCD-FEC1-DBB8C248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1F5FB-5281-F914-CE2F-852FCFA5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5F4565-9793-4E14-9EE1-6EC8126951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4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BC9A6-6697-08FC-2E7C-3E3772577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64DAE-E9F8-1066-2B64-C65FCDE5B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26357-5A0F-4211-A051-FA6F6615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42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7B02-C947-2B93-B500-F1557FDE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90459-1610-BF11-B525-C065A0DF2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D61B8-0D94-0CC0-024D-0DE259520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2524F-91E3-CDB8-D30F-1D2DD927A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7A9FB-9505-D89E-B1BA-73D5906B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05C52-6976-C8A8-1008-2C4C9699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22F4D7-5A5F-4738-B738-6178FC02EE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3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216A-CEF9-D40E-A3D6-2FEB944B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3314-A89E-794C-A7E7-C7D9A61CC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A5EFA-E26D-A2FE-B9AD-BF7CB3A7E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9C504-39FF-653F-09ED-B8CE9BA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01AD8-004C-8DB8-142B-D6AC43EBB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7F2BE-E4EC-C5B5-05EC-788B06FF6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2963C4-A19F-4339-A8AF-C085FE553C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68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942E-E5A6-E1FF-89C2-55CADCA7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58BB6-861E-93ED-ED6B-EBE78344A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3C330-DD2E-2D04-45FA-2E36C283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BEB52-4FC2-76B9-1355-457FC4FC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BE05C-F913-CFF6-F1B4-8D474B2A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ACBD21-EEAE-43DE-B7C2-4433A2E85A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6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E3226-2AE6-041A-73A0-63FB70250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8241-D0A5-F338-7DE4-FE30734C0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ECF0C-420D-8079-6302-FD1C3490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CA267-0741-5A7D-DBA4-CECE3100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72322-567F-B3F7-E8D4-0568A5C2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D8D0D6-8F9F-4E80-9EB8-F4C614425D9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46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17E87-B0D7-FB86-2C0C-EF7CE94C86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F6586-5105-4FD7-E6D7-1C9ADC6C1C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2CC67-FF4C-1970-B460-A34A2873FEA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92AC4-9EA6-404C-F3D5-A485E9AFB7F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BC04-9EF6-3D9E-3759-46157D7893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DEA21D5E-18C6-4A36-A638-6A166DB00407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hangingPunct="0">
        <a:tabLst/>
        <a:defRPr lang="en-US" sz="2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20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20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20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vanzmilic/TZS_matf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vanzmilic.github.io/TZS_matf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2F82AC5-58D6-DB42-466D-24F3B1AD026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dirty="0">
                <a:latin typeface="Rubik" pitchFamily="18"/>
              </a:rPr>
              <a:t>09/10/2026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D90BE-1A7B-1032-7BE6-7B47F34A9255}"/>
              </a:ext>
            </a:extLst>
          </p:cNvPr>
          <p:cNvSpPr txBox="1"/>
          <p:nvPr/>
        </p:nvSpPr>
        <p:spPr>
          <a:xfrm>
            <a:off x="111240" y="4668480"/>
            <a:ext cx="3483174" cy="4252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</a:t>
            </a:r>
            <a:r>
              <a:rPr lang="en-US" sz="2200" b="0" i="0" u="none" strike="noStrike" kern="1200" cap="none" dirty="0" err="1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Milić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 (</a:t>
            </a:r>
            <a:r>
              <a:rPr lang="en-US" sz="2200" dirty="0">
                <a:latin typeface="Rubik" pitchFamily="18"/>
                <a:ea typeface="Microsoft YaHei" pitchFamily="2"/>
                <a:cs typeface="Arial" pitchFamily="2"/>
              </a:rPr>
              <a:t>MATF / KIS / AOB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30B1A-40AD-B3FE-729F-E9F1F2039F43}"/>
              </a:ext>
            </a:extLst>
          </p:cNvPr>
          <p:cNvSpPr txBox="1"/>
          <p:nvPr/>
        </p:nvSpPr>
        <p:spPr>
          <a:xfrm>
            <a:off x="183240" y="3555000"/>
            <a:ext cx="9538560" cy="1107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 Zvezdanih Spektara</a:t>
            </a:r>
          </a:p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 1: Uvod u Kurs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0772B-A1FD-677F-4D56-56449C5AEE5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364067" y="3657600"/>
            <a:ext cx="1610452" cy="157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24F156-E936-B8A3-F1AB-552CD681FC5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445436" y="3416499"/>
            <a:ext cx="2743199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BB087-9388-7541-4B38-DFC29645923E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80000" y="236160"/>
            <a:ext cx="6769440" cy="310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D3E1C7-2036-A023-F5AA-11B61CC3A99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7294679" y="292680"/>
            <a:ext cx="2535120" cy="298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D2F9F-460A-E60F-A4BB-5030FB5A4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0825" y="3702171"/>
            <a:ext cx="1543050" cy="142875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120C1-DA2D-F994-482A-CB563208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3C64-B20B-E305-CBA3-3C18299A701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bavi</a:t>
            </a:r>
            <a:r>
              <a:rPr lang="en-US" dirty="0"/>
              <a:t>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kurs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C4A87-1655-9F88-0AF9-5EF9F990A19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Teorija</a:t>
            </a:r>
            <a:r>
              <a:rPr lang="en-US" b="1" dirty="0"/>
              <a:t> </a:t>
            </a:r>
            <a:r>
              <a:rPr lang="en-US" b="1" dirty="0" err="1"/>
              <a:t>Zvezdanih</a:t>
            </a:r>
            <a:r>
              <a:rPr lang="en-US" b="1" dirty="0"/>
              <a:t> </a:t>
            </a:r>
            <a:r>
              <a:rPr lang="en-US" b="1" dirty="0" err="1"/>
              <a:t>Spektara</a:t>
            </a:r>
            <a:r>
              <a:rPr lang="en-US" b="1" dirty="0"/>
              <a:t>: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, </a:t>
            </a:r>
            <a:r>
              <a:rPr lang="en-US" dirty="0" err="1"/>
              <a:t>Prenos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, </a:t>
            </a:r>
            <a:r>
              <a:rPr lang="en-US" dirty="0" err="1"/>
              <a:t>Radijativni</a:t>
            </a:r>
            <a:r>
              <a:rPr lang="en-US" dirty="0"/>
              <a:t> </a:t>
            </a:r>
            <a:r>
              <a:rPr lang="en-US" dirty="0" err="1"/>
              <a:t>Procesi</a:t>
            </a:r>
            <a:r>
              <a:rPr lang="en-US" dirty="0"/>
              <a:t>, </a:t>
            </a:r>
            <a:r>
              <a:rPr lang="en-US" dirty="0" err="1"/>
              <a:t>Atomski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Molekularni</a:t>
            </a:r>
            <a:r>
              <a:rPr lang="en-US" dirty="0"/>
              <a:t> </a:t>
            </a:r>
            <a:r>
              <a:rPr lang="en-US" dirty="0" err="1"/>
              <a:t>Procesi</a:t>
            </a:r>
            <a:r>
              <a:rPr lang="en-US" dirty="0"/>
              <a:t>…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Bavimo</a:t>
            </a:r>
            <a:r>
              <a:rPr lang="en-US" dirty="0"/>
              <a:t> se </a:t>
            </a:r>
            <a:r>
              <a:rPr lang="en-US" dirty="0" err="1"/>
              <a:t>interakcijom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dirty="0" err="1"/>
              <a:t>fotona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materije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dirty="0" err="1"/>
              <a:t>atoma</a:t>
            </a:r>
            <a:r>
              <a:rPr lang="en-US" b="1" dirty="0"/>
              <a:t>, </a:t>
            </a:r>
            <a:r>
              <a:rPr lang="en-US" b="1" dirty="0" err="1"/>
              <a:t>jona</a:t>
            </a:r>
            <a:r>
              <a:rPr lang="en-US" b="1" dirty="0"/>
              <a:t>, </a:t>
            </a:r>
            <a:r>
              <a:rPr lang="en-US" b="1" dirty="0" err="1"/>
              <a:t>molekula</a:t>
            </a:r>
            <a:r>
              <a:rPr lang="en-US" b="1" dirty="0"/>
              <a:t>, </a:t>
            </a:r>
            <a:r>
              <a:rPr lang="en-US" b="1" dirty="0" err="1"/>
              <a:t>elektrona</a:t>
            </a:r>
            <a:r>
              <a:rPr lang="en-US" b="1" dirty="0"/>
              <a:t>)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Materija</a:t>
            </a:r>
            <a:r>
              <a:rPr lang="en-US" dirty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zračenje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dirty="0" err="1"/>
              <a:t>zrači</a:t>
            </a:r>
            <a:r>
              <a:rPr lang="en-US" b="1" dirty="0"/>
              <a:t>),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zračenje</a:t>
            </a:r>
            <a:r>
              <a:rPr lang="en-US" dirty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materiju</a:t>
            </a:r>
            <a:r>
              <a:rPr lang="en-US" dirty="0"/>
              <a:t> (</a:t>
            </a:r>
            <a:r>
              <a:rPr lang="en-US" b="1" dirty="0" err="1"/>
              <a:t>eksitacija</a:t>
            </a:r>
            <a:r>
              <a:rPr lang="en-US" b="1" dirty="0"/>
              <a:t>, </a:t>
            </a:r>
            <a:r>
              <a:rPr lang="en-US" b="1" dirty="0" err="1"/>
              <a:t>jonizacija</a:t>
            </a:r>
            <a:r>
              <a:rPr lang="en-US" b="1" dirty="0"/>
              <a:t>, </a:t>
            </a:r>
            <a:r>
              <a:rPr lang="en-US" b="1" dirty="0" err="1"/>
              <a:t>pritisak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, </a:t>
            </a:r>
            <a:r>
              <a:rPr lang="en-US" b="1" dirty="0" err="1"/>
              <a:t>grejanje</a:t>
            </a:r>
            <a:r>
              <a:rPr lang="en-US" b="1" dirty="0"/>
              <a:t>, </a:t>
            </a:r>
            <a:r>
              <a:rPr lang="en-US" b="1" dirty="0" err="1"/>
              <a:t>hladjenje</a:t>
            </a:r>
            <a:r>
              <a:rPr lang="en-US" b="1" dirty="0"/>
              <a:t>…)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Naš</a:t>
            </a:r>
            <a:r>
              <a:rPr lang="en-US" dirty="0"/>
              <a:t> </a:t>
            </a:r>
            <a:r>
              <a:rPr lang="en-US" dirty="0" err="1"/>
              <a:t>zadatak</a:t>
            </a:r>
            <a:r>
              <a:rPr lang="en-US" dirty="0"/>
              <a:t> je da </a:t>
            </a:r>
            <a:r>
              <a:rPr lang="en-US" dirty="0" err="1"/>
              <a:t>opišemo</a:t>
            </a:r>
            <a:r>
              <a:rPr lang="en-US" dirty="0"/>
              <a:t> </a:t>
            </a:r>
            <a:r>
              <a:rPr lang="en-US" dirty="0" err="1"/>
              <a:t>ovu</a:t>
            </a:r>
            <a:r>
              <a:rPr lang="en-US" dirty="0"/>
              <a:t> </a:t>
            </a:r>
            <a:r>
              <a:rPr lang="en-US" dirty="0" err="1"/>
              <a:t>interakciju</a:t>
            </a:r>
            <a:r>
              <a:rPr lang="en-US" dirty="0"/>
              <a:t> (</a:t>
            </a:r>
            <a:r>
              <a:rPr lang="en-US" dirty="0" err="1"/>
              <a:t>spregnutost</a:t>
            </a:r>
            <a:r>
              <a:rPr lang="en-US" dirty="0"/>
              <a:t>) u oba </a:t>
            </a:r>
            <a:r>
              <a:rPr lang="en-US" dirty="0" err="1"/>
              <a:t>smera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ista</a:t>
            </a:r>
            <a:r>
              <a:rPr lang="en-US" dirty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ono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posmatramo</a:t>
            </a:r>
            <a:r>
              <a:rPr lang="en-US" dirty="0"/>
              <a:t> (</a:t>
            </a:r>
            <a:r>
              <a:rPr lang="en-US" dirty="0" err="1"/>
              <a:t>spektre</a:t>
            </a:r>
            <a:r>
              <a:rPr lang="en-US" dirty="0"/>
              <a:t>),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fiziku</a:t>
            </a:r>
            <a:r>
              <a:rPr lang="en-US" dirty="0"/>
              <a:t> </a:t>
            </a:r>
            <a:r>
              <a:rPr lang="en-US" dirty="0" err="1"/>
              <a:t>zvezdanih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astrofizičku</a:t>
            </a:r>
            <a:r>
              <a:rPr lang="en-US" dirty="0"/>
              <a:t> </a:t>
            </a:r>
            <a:r>
              <a:rPr lang="en-US" dirty="0" err="1"/>
              <a:t>plazmu</a:t>
            </a:r>
            <a:r>
              <a:rPr lang="en-US" dirty="0"/>
              <a:t> </a:t>
            </a:r>
            <a:r>
              <a:rPr lang="en-US" dirty="0" err="1"/>
              <a:t>uopšte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Prirodan</a:t>
            </a:r>
            <a:r>
              <a:rPr lang="en-US" dirty="0"/>
              <a:t> </a:t>
            </a:r>
            <a:r>
              <a:rPr lang="en-US" dirty="0" err="1"/>
              <a:t>nastavak</a:t>
            </a:r>
            <a:r>
              <a:rPr lang="en-US" dirty="0"/>
              <a:t> </a:t>
            </a:r>
            <a:r>
              <a:rPr lang="en-US" b="1" dirty="0" err="1"/>
              <a:t>fizike</a:t>
            </a:r>
            <a:r>
              <a:rPr lang="en-US" b="1" dirty="0"/>
              <a:t> </a:t>
            </a:r>
            <a:r>
              <a:rPr lang="en-US" b="1" dirty="0" err="1"/>
              <a:t>astrofizičke</a:t>
            </a:r>
            <a:r>
              <a:rPr lang="en-US" b="1" dirty="0"/>
              <a:t> </a:t>
            </a:r>
            <a:r>
              <a:rPr lang="en-US" b="1" dirty="0" err="1"/>
              <a:t>plazme</a:t>
            </a:r>
            <a:r>
              <a:rPr lang="en-US" b="1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kurs</a:t>
            </a:r>
            <a:r>
              <a:rPr lang="en-US" dirty="0"/>
              <a:t> se </a:t>
            </a:r>
            <a:r>
              <a:rPr lang="en-US" dirty="0" err="1"/>
              <a:t>nastavlja</a:t>
            </a:r>
            <a:r>
              <a:rPr lang="en-US" dirty="0"/>
              <a:t> </a:t>
            </a:r>
            <a:r>
              <a:rPr lang="en-US" b="1" dirty="0" err="1"/>
              <a:t>interpretacija</a:t>
            </a:r>
            <a:r>
              <a:rPr lang="en-US" b="1" dirty="0"/>
              <a:t> </a:t>
            </a:r>
            <a:r>
              <a:rPr lang="en-US" b="1" dirty="0" err="1"/>
              <a:t>astronomskih</a:t>
            </a:r>
            <a:r>
              <a:rPr lang="en-US" b="1" dirty="0"/>
              <a:t> </a:t>
            </a:r>
            <a:r>
              <a:rPr lang="en-US" b="1" dirty="0" err="1"/>
              <a:t>spektara</a:t>
            </a:r>
            <a:r>
              <a:rPr lang="en-US" b="1" dirty="0"/>
              <a:t> (master </a:t>
            </a:r>
            <a:r>
              <a:rPr lang="en-US" b="1" dirty="0" err="1"/>
              <a:t>kurs</a:t>
            </a:r>
            <a:r>
              <a:rPr lang="en-US" b="1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1709C-9808-FF22-D30F-4496D5180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9EBBA-7A64-FFA6-6D1F-D1DB0DDABBC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Šta treba da znamo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C548B-2755-BC9D-A0A0-DF1A654B0B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Osnove</a:t>
            </a:r>
            <a:r>
              <a:rPr lang="en-US" dirty="0"/>
              <a:t> </a:t>
            </a:r>
            <a:r>
              <a:rPr lang="en-US" dirty="0" err="1"/>
              <a:t>kvantne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statističke</a:t>
            </a:r>
            <a:r>
              <a:rPr lang="en-US" dirty="0"/>
              <a:t> </a:t>
            </a:r>
            <a:r>
              <a:rPr lang="en-US" dirty="0" err="1"/>
              <a:t>fizike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Najosnovniju</a:t>
            </a:r>
            <a:r>
              <a:rPr lang="en-US" dirty="0"/>
              <a:t> </a:t>
            </a:r>
            <a:r>
              <a:rPr lang="en-US" dirty="0" err="1"/>
              <a:t>matematičku</a:t>
            </a:r>
            <a:r>
              <a:rPr lang="en-US" dirty="0"/>
              <a:t> </a:t>
            </a:r>
            <a:r>
              <a:rPr lang="en-US" dirty="0" err="1"/>
              <a:t>analizu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Osnove</a:t>
            </a:r>
            <a:r>
              <a:rPr lang="en-US" dirty="0"/>
              <a:t> </a:t>
            </a:r>
            <a:r>
              <a:rPr lang="en-US" dirty="0" err="1"/>
              <a:t>elektromagnetizma</a:t>
            </a:r>
            <a:r>
              <a:rPr lang="en-US" dirty="0"/>
              <a:t>, </a:t>
            </a:r>
            <a:r>
              <a:rPr lang="en-US" dirty="0" err="1"/>
              <a:t>optike</a:t>
            </a:r>
            <a:r>
              <a:rPr lang="en-US" dirty="0"/>
              <a:t>, </a:t>
            </a:r>
            <a:r>
              <a:rPr lang="en-US" dirty="0" err="1"/>
              <a:t>opšte</a:t>
            </a:r>
            <a:r>
              <a:rPr lang="en-US" dirty="0"/>
              <a:t> </a:t>
            </a:r>
            <a:r>
              <a:rPr lang="en-US" dirty="0" err="1"/>
              <a:t>astrofizike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Za </a:t>
            </a:r>
            <a:r>
              <a:rPr lang="en-US" b="1" dirty="0" err="1"/>
              <a:t>vežbe</a:t>
            </a:r>
            <a:r>
              <a:rPr lang="en-US" b="1" dirty="0"/>
              <a:t>: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Poželjno</a:t>
            </a:r>
            <a:r>
              <a:rPr lang="en-US" dirty="0"/>
              <a:t> je da </a:t>
            </a:r>
            <a:r>
              <a:rPr lang="en-US" dirty="0" err="1"/>
              <a:t>znamo</a:t>
            </a:r>
            <a:r>
              <a:rPr lang="en-US" dirty="0"/>
              <a:t> python (</a:t>
            </a:r>
            <a:r>
              <a:rPr lang="en-US" dirty="0" err="1"/>
              <a:t>ostali</a:t>
            </a:r>
            <a:r>
              <a:rPr lang="en-US" dirty="0"/>
              <a:t> </a:t>
            </a:r>
            <a:r>
              <a:rPr lang="en-US" dirty="0" err="1"/>
              <a:t>jezici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naravno</a:t>
            </a:r>
            <a:r>
              <a:rPr lang="en-US" dirty="0"/>
              <a:t> OK)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Osnove</a:t>
            </a:r>
            <a:r>
              <a:rPr lang="en-US" dirty="0"/>
              <a:t> </a:t>
            </a:r>
            <a:r>
              <a:rPr lang="en-US" dirty="0" err="1"/>
              <a:t>numeričke</a:t>
            </a:r>
            <a:r>
              <a:rPr lang="en-US" dirty="0"/>
              <a:t> </a:t>
            </a:r>
            <a:r>
              <a:rPr lang="en-US" dirty="0" err="1"/>
              <a:t>matematike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astronomskih</a:t>
            </a:r>
            <a:r>
              <a:rPr lang="en-US" dirty="0"/>
              <a:t> </a:t>
            </a:r>
            <a:r>
              <a:rPr lang="en-US" dirty="0" err="1"/>
              <a:t>posmatranja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E16B7-17B9-7CD3-E718-28B93E5C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E8B02-E90A-AD95-5C94-8BD9DC2249B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posmatramo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67BE7-806F-0AC1-491D-2F26FA16EA5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Spektar</a:t>
            </a:r>
            <a:r>
              <a:rPr lang="en-US" b="1" dirty="0"/>
              <a:t>: </a:t>
            </a:r>
            <a:r>
              <a:rPr lang="en-US" dirty="0" err="1"/>
              <a:t>Spektralnu</a:t>
            </a:r>
            <a:r>
              <a:rPr lang="en-US" dirty="0"/>
              <a:t> </a:t>
            </a:r>
            <a:r>
              <a:rPr lang="en-US" dirty="0" err="1"/>
              <a:t>raspodelu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zvezde</a:t>
            </a:r>
            <a:r>
              <a:rPr lang="en-US" dirty="0"/>
              <a:t>, </a:t>
            </a:r>
            <a:r>
              <a:rPr lang="en-US" dirty="0" err="1"/>
              <a:t>integrisanu</a:t>
            </a:r>
            <a:r>
              <a:rPr lang="en-US" dirty="0"/>
              <a:t> po </a:t>
            </a:r>
            <a:r>
              <a:rPr lang="en-US" dirty="0" err="1"/>
              <a:t>vidljivoj</a:t>
            </a:r>
            <a:r>
              <a:rPr lang="en-US" dirty="0"/>
              <a:t> </a:t>
            </a:r>
            <a:r>
              <a:rPr lang="en-US" dirty="0" err="1"/>
              <a:t>strani</a:t>
            </a:r>
            <a:r>
              <a:rPr lang="en-US" dirty="0"/>
              <a:t> </a:t>
            </a:r>
            <a:r>
              <a:rPr lang="en-US" dirty="0" err="1"/>
              <a:t>zvezdanog</a:t>
            </a:r>
            <a:r>
              <a:rPr lang="en-US" dirty="0"/>
              <a:t> </a:t>
            </a:r>
            <a:r>
              <a:rPr lang="en-US" dirty="0" err="1"/>
              <a:t>diska</a:t>
            </a:r>
            <a:r>
              <a:rPr lang="en-US" dirty="0"/>
              <a:t>.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slučaju</a:t>
            </a:r>
            <a:r>
              <a:rPr lang="en-US" dirty="0"/>
              <a:t> </a:t>
            </a:r>
            <a:r>
              <a:rPr lang="en-US" dirty="0" err="1"/>
              <a:t>razlučenih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(</a:t>
            </a:r>
            <a:r>
              <a:rPr lang="en-US" dirty="0" err="1"/>
              <a:t>Sunce</a:t>
            </a:r>
            <a:r>
              <a:rPr lang="en-US" dirty="0"/>
              <a:t> </a:t>
            </a:r>
            <a:r>
              <a:rPr lang="en-US" dirty="0" err="1"/>
              <a:t>npr</a:t>
            </a:r>
            <a:r>
              <a:rPr lang="en-US" dirty="0"/>
              <a:t>): </a:t>
            </a:r>
            <a:r>
              <a:rPr lang="en-US" dirty="0" err="1"/>
              <a:t>Spektralnu</a:t>
            </a:r>
            <a:r>
              <a:rPr lang="en-US" dirty="0"/>
              <a:t> </a:t>
            </a:r>
            <a:r>
              <a:rPr lang="en-US" dirty="0" err="1"/>
              <a:t>raspodelu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datog</a:t>
            </a:r>
            <a:r>
              <a:rPr lang="en-US" dirty="0"/>
              <a:t> </a:t>
            </a:r>
            <a:r>
              <a:rPr lang="en-US" dirty="0" err="1"/>
              <a:t>površinskog</a:t>
            </a:r>
            <a:r>
              <a:rPr lang="en-US" dirty="0"/>
              <a:t> </a:t>
            </a:r>
            <a:r>
              <a:rPr lang="en-US" dirty="0" err="1"/>
              <a:t>elementa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Izlazni</a:t>
            </a:r>
            <a:r>
              <a:rPr lang="en-US" b="1" dirty="0"/>
              <a:t> </a:t>
            </a:r>
            <a:r>
              <a:rPr lang="en-US" dirty="0" err="1"/>
              <a:t>spektar</a:t>
            </a:r>
            <a:r>
              <a:rPr lang="en-US" dirty="0"/>
              <a:t> je </a:t>
            </a:r>
            <a:r>
              <a:rPr lang="en-US" dirty="0" err="1"/>
              <a:t>odredjen</a:t>
            </a:r>
            <a:r>
              <a:rPr lang="en-US" dirty="0"/>
              <a:t> </a:t>
            </a:r>
            <a:r>
              <a:rPr lang="en-US" dirty="0" err="1"/>
              <a:t>fizičkim</a:t>
            </a:r>
            <a:r>
              <a:rPr lang="en-US" dirty="0"/>
              <a:t> </a:t>
            </a:r>
            <a:r>
              <a:rPr lang="en-US" dirty="0" err="1"/>
              <a:t>uslovima</a:t>
            </a:r>
            <a:r>
              <a:rPr lang="en-US" dirty="0"/>
              <a:t>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zračenje</a:t>
            </a:r>
            <a:r>
              <a:rPr lang="en-US" dirty="0"/>
              <a:t> </a:t>
            </a:r>
            <a:r>
              <a:rPr lang="en-US" b="1" dirty="0" err="1"/>
              <a:t>unutar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samu</a:t>
            </a:r>
            <a:r>
              <a:rPr lang="en-US" dirty="0"/>
              <a:t> </a:t>
            </a:r>
            <a:r>
              <a:rPr lang="en-US" dirty="0" err="1"/>
              <a:t>atmosferu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D1473-EB61-8DDE-33AD-3E02E705CB9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836600" y="2945520"/>
            <a:ext cx="482724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862A93-ED47-9C5C-9937-F65117841383}"/>
              </a:ext>
            </a:extLst>
          </p:cNvPr>
          <p:cNvSpPr txBox="1"/>
          <p:nvPr/>
        </p:nvSpPr>
        <p:spPr>
          <a:xfrm>
            <a:off x="1291542" y="4600385"/>
            <a:ext cx="3359160" cy="82030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Nekoliko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delova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spektra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zvezde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EK Eridani –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obratite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pažnju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razlike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medju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raznim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spektralnim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linijama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0CFD-EDDA-FB54-C600-A4D25942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2E4C9A-2D74-B204-F62C-81F39F84D48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274320"/>
            <a:ext cx="9372600" cy="523727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EC520-ED15-15C7-ED07-9D3C84A7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1DA2-7D83-A82B-9D67-48F032D192D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dirty="0" err="1"/>
              <a:t>Spektri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zvezda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CD948-D248-9372-3798-E082299D57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Oslikavaju</a:t>
            </a:r>
            <a:r>
              <a:rPr lang="en-US" dirty="0"/>
              <a:t> </a:t>
            </a:r>
            <a:r>
              <a:rPr lang="en-US" dirty="0" err="1"/>
              <a:t>razlike</a:t>
            </a:r>
            <a:r>
              <a:rPr lang="en-US" dirty="0"/>
              <a:t> u </a:t>
            </a:r>
            <a:r>
              <a:rPr lang="en-US" dirty="0" err="1"/>
              <a:t>njihovim</a:t>
            </a:r>
            <a:r>
              <a:rPr lang="en-US" dirty="0"/>
              <a:t> </a:t>
            </a:r>
            <a:r>
              <a:rPr lang="en-US" dirty="0" err="1"/>
              <a:t>fizičkim</a:t>
            </a:r>
            <a:r>
              <a:rPr lang="en-US" dirty="0"/>
              <a:t> </a:t>
            </a:r>
            <a:r>
              <a:rPr lang="en-US" dirty="0" err="1"/>
              <a:t>karakteristikama</a:t>
            </a:r>
            <a:r>
              <a:rPr lang="en-US" dirty="0"/>
              <a:t> </a:t>
            </a:r>
            <a:r>
              <a:rPr lang="en-US" b="1" dirty="0"/>
              <a:t>(5 min </a:t>
            </a:r>
            <a:r>
              <a:rPr lang="en-US" b="1" dirty="0" err="1"/>
              <a:t>diskusija</a:t>
            </a:r>
            <a:r>
              <a:rPr lang="en-US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98504-3EA9-18D1-3144-2E08D59A032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64439" y="1371599"/>
            <a:ext cx="814788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1ECE7-C64A-3882-642B-8D9372E5E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846F-689C-B7AC-4318-D8E21BA07D8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Spektri različitih zvezda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DCBCE-45AC-A443-DBCB-19E0B8868DE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34039"/>
            <a:ext cx="5209560" cy="4752360"/>
          </a:xfrm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različit</a:t>
            </a:r>
            <a:r>
              <a:rPr lang="en-US" dirty="0"/>
              <a:t> </a:t>
            </a:r>
            <a:r>
              <a:rPr lang="en-US" dirty="0" err="1"/>
              <a:t>nagib</a:t>
            </a:r>
            <a:r>
              <a:rPr lang="en-US" dirty="0"/>
              <a:t> </a:t>
            </a:r>
            <a:r>
              <a:rPr lang="en-US" dirty="0" err="1"/>
              <a:t>kontinuuma</a:t>
            </a:r>
            <a:r>
              <a:rPr lang="en-US" dirty="0"/>
              <a:t>, </a:t>
            </a:r>
            <a:r>
              <a:rPr lang="en-US" dirty="0" err="1"/>
              <a:t>jačinu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linija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Obratite</a:t>
            </a:r>
            <a:r>
              <a:rPr lang="en-US" dirty="0"/>
              <a:t> </a:t>
            </a:r>
            <a:r>
              <a:rPr lang="en-US" dirty="0" err="1"/>
              <a:t>pažnju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Balmerov</a:t>
            </a:r>
            <a:r>
              <a:rPr lang="en-US" dirty="0"/>
              <a:t> </a:t>
            </a:r>
            <a:r>
              <a:rPr lang="en-US" dirty="0" err="1"/>
              <a:t>skok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Takodje</a:t>
            </a:r>
            <a:r>
              <a:rPr lang="en-US" dirty="0"/>
              <a:t>, </a:t>
            </a:r>
            <a:r>
              <a:rPr lang="en-US" dirty="0" err="1"/>
              <a:t>nijedna</a:t>
            </a:r>
            <a:r>
              <a:rPr lang="en-US" dirty="0"/>
              <a:t> od </a:t>
            </a:r>
            <a:r>
              <a:rPr lang="en-US" dirty="0" err="1"/>
              <a:t>ovih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crno</a:t>
            </a:r>
            <a:r>
              <a:rPr lang="en-US" dirty="0"/>
              <a:t> </a:t>
            </a:r>
            <a:r>
              <a:rPr lang="en-US" dirty="0" err="1"/>
              <a:t>telo</a:t>
            </a:r>
            <a:r>
              <a:rPr lang="en-US" dirty="0"/>
              <a:t>!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(Da li se </a:t>
            </a:r>
            <a:r>
              <a:rPr lang="en-US" b="1" dirty="0" err="1"/>
              <a:t>neko</a:t>
            </a:r>
            <a:r>
              <a:rPr lang="en-US" b="1" dirty="0"/>
              <a:t> </a:t>
            </a:r>
            <a:r>
              <a:rPr lang="en-US" b="1" dirty="0" err="1"/>
              <a:t>seća</a:t>
            </a:r>
            <a:r>
              <a:rPr lang="en-US" b="1" dirty="0"/>
              <a:t> </a:t>
            </a:r>
            <a:r>
              <a:rPr lang="en-US" b="1" dirty="0" err="1"/>
              <a:t>zašto</a:t>
            </a:r>
            <a:r>
              <a:rPr lang="en-US" b="1" dirty="0"/>
              <a:t>?)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72F8E-4A48-6F53-942F-A8C9300DBF5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15000" y="360"/>
            <a:ext cx="406188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4A71D-AF77-8FA4-8521-B7C072AA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57EFE-FC9F-BE28-9E58-4DC0A86A4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Počeci spektroskopije: Fraunhofer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FFE0-BB30-D9D4-366F-275DB00D10F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806040"/>
            <a:ext cx="9685440" cy="4680360"/>
          </a:xfrm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Poznat</a:t>
            </a:r>
            <a:r>
              <a:rPr lang="en-US" dirty="0"/>
              <a:t> po </a:t>
            </a:r>
            <a:r>
              <a:rPr lang="en-US" dirty="0" err="1"/>
              <a:t>Fraunhoferovoj</a:t>
            </a:r>
            <a:r>
              <a:rPr lang="en-US" dirty="0"/>
              <a:t> </a:t>
            </a:r>
            <a:r>
              <a:rPr lang="en-US" dirty="0" err="1"/>
              <a:t>difrakciji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1814</a:t>
            </a:r>
            <a:r>
              <a:rPr lang="en-US" dirty="0"/>
              <a:t> je </a:t>
            </a:r>
            <a:r>
              <a:rPr lang="en-US" dirty="0" err="1"/>
              <a:t>posmatrao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 </a:t>
            </a:r>
            <a:r>
              <a:rPr lang="en-US" dirty="0" err="1"/>
              <a:t>Sunca</a:t>
            </a:r>
            <a:r>
              <a:rPr lang="en-US" dirty="0"/>
              <a:t> (William Wollaston je </a:t>
            </a:r>
            <a:r>
              <a:rPr lang="en-US" dirty="0" err="1"/>
              <a:t>verovatno</a:t>
            </a:r>
            <a:r>
              <a:rPr lang="en-US" dirty="0"/>
              <a:t> </a:t>
            </a:r>
            <a:r>
              <a:rPr lang="en-US" dirty="0" err="1"/>
              <a:t>posmatrao</a:t>
            </a:r>
            <a:r>
              <a:rPr lang="en-US" dirty="0"/>
              <a:t> pre </a:t>
            </a:r>
            <a:r>
              <a:rPr lang="en-US" dirty="0" err="1"/>
              <a:t>njega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imenovao</a:t>
            </a:r>
            <a:r>
              <a:rPr lang="en-US" dirty="0"/>
              <a:t>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Fraunhoferove</a:t>
            </a:r>
            <a:r>
              <a:rPr lang="en-US" dirty="0"/>
              <a:t> </a:t>
            </a:r>
            <a:r>
              <a:rPr lang="en-US" dirty="0" err="1"/>
              <a:t>linije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Spektar</a:t>
            </a:r>
            <a:r>
              <a:rPr lang="en-US" dirty="0"/>
              <a:t> </a:t>
            </a:r>
            <a:r>
              <a:rPr lang="en-US" dirty="0" err="1"/>
              <a:t>Sunca</a:t>
            </a:r>
            <a:r>
              <a:rPr lang="en-US" dirty="0"/>
              <a:t> je </a:t>
            </a:r>
            <a:r>
              <a:rPr lang="en-US" dirty="0" err="1"/>
              <a:t>sličan</a:t>
            </a:r>
            <a:r>
              <a:rPr lang="en-US" dirty="0"/>
              <a:t> </a:t>
            </a:r>
            <a:r>
              <a:rPr lang="en-US" dirty="0" err="1"/>
              <a:t>spektrima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→ </a:t>
            </a:r>
            <a:r>
              <a:rPr lang="en-US" b="1" dirty="0" err="1"/>
              <a:t>Sunce</a:t>
            </a:r>
            <a:r>
              <a:rPr lang="en-US" b="1" dirty="0"/>
              <a:t> je </a:t>
            </a:r>
            <a:r>
              <a:rPr lang="en-US" b="1" dirty="0" err="1"/>
              <a:t>zvezda</a:t>
            </a:r>
            <a:endParaRPr lang="en-US" b="1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1859 –</a:t>
            </a:r>
            <a:r>
              <a:rPr lang="en-US" dirty="0"/>
              <a:t> </a:t>
            </a:r>
            <a:r>
              <a:rPr lang="en-US" dirty="0" err="1"/>
              <a:t>Spektralna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identifikacija</a:t>
            </a:r>
            <a:r>
              <a:rPr lang="en-US" dirty="0"/>
              <a:t> </a:t>
            </a:r>
            <a:r>
              <a:rPr lang="en-US" dirty="0" err="1"/>
              <a:t>hemijskih</a:t>
            </a:r>
            <a:r>
              <a:rPr lang="en-US" dirty="0"/>
              <a:t> </a:t>
            </a:r>
            <a:r>
              <a:rPr lang="en-US" dirty="0" err="1"/>
              <a:t>elemenata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1913 </a:t>
            </a:r>
            <a:r>
              <a:rPr lang="en-US" b="1" dirty="0" err="1"/>
              <a:t>Borov</a:t>
            </a:r>
            <a:r>
              <a:rPr lang="en-US" b="1" dirty="0"/>
              <a:t> model </a:t>
            </a:r>
            <a:r>
              <a:rPr lang="en-US" b="1" dirty="0" err="1"/>
              <a:t>atoma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prvi</a:t>
            </a:r>
            <a:r>
              <a:rPr lang="en-US" b="1" dirty="0"/>
              <a:t> </a:t>
            </a:r>
            <a:r>
              <a:rPr lang="en-US" b="1" dirty="0" err="1"/>
              <a:t>pokušaj</a:t>
            </a:r>
            <a:r>
              <a:rPr lang="en-US" b="1" dirty="0"/>
              <a:t> da se </a:t>
            </a:r>
            <a:r>
              <a:rPr lang="en-US" b="1" dirty="0" err="1"/>
              <a:t>spektralne</a:t>
            </a:r>
            <a:r>
              <a:rPr lang="en-US" b="1" dirty="0"/>
              <a:t> </a:t>
            </a:r>
            <a:r>
              <a:rPr lang="en-US" b="1" dirty="0" err="1"/>
              <a:t>linije</a:t>
            </a:r>
            <a:r>
              <a:rPr lang="en-US" b="1" dirty="0"/>
              <a:t> </a:t>
            </a:r>
            <a:r>
              <a:rPr lang="en-US" b="1" dirty="0" err="1"/>
              <a:t>teorijski</a:t>
            </a:r>
            <a:r>
              <a:rPr lang="en-US" b="1" dirty="0"/>
              <a:t> </a:t>
            </a:r>
            <a:r>
              <a:rPr lang="en-US" b="1" dirty="0" err="1"/>
              <a:t>objasne</a:t>
            </a:r>
            <a:r>
              <a:rPr lang="en-US" b="1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FE42CF-55E0-66A6-9FD7-23AF57F83EA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38240" y="3187800"/>
            <a:ext cx="8000280" cy="16808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A73F9-77BD-7E84-4D1F-6895BD83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72F9-C653-B4D4-28F1-76ADBDAD97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Kirchhoff i Bunsen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F54BE-1684-EBE0-8212-E1BFF4A838E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6352560" cy="4446360"/>
          </a:xfrm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Uspostavili</a:t>
            </a:r>
            <a:r>
              <a:rPr lang="en-US" dirty="0"/>
              <a:t> </a:t>
            </a:r>
            <a:r>
              <a:rPr lang="en-US" dirty="0" err="1"/>
              <a:t>vezu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hemijskih</a:t>
            </a:r>
            <a:r>
              <a:rPr lang="en-US" dirty="0"/>
              <a:t> </a:t>
            </a:r>
            <a:r>
              <a:rPr lang="en-US" dirty="0" err="1"/>
              <a:t>elemenata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njihovih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karakteristika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Razvili</a:t>
            </a:r>
            <a:r>
              <a:rPr lang="en-US" dirty="0"/>
              <a:t> </a:t>
            </a:r>
            <a:r>
              <a:rPr lang="en-US" dirty="0" err="1"/>
              <a:t>posmatračke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laboratorijske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da </a:t>
            </a:r>
            <a:r>
              <a:rPr lang="en-US" dirty="0" err="1"/>
              <a:t>uporede</a:t>
            </a:r>
            <a:r>
              <a:rPr lang="en-US" dirty="0"/>
              <a:t> </a:t>
            </a:r>
            <a:r>
              <a:rPr lang="en-US" dirty="0" err="1"/>
              <a:t>spektre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spektrom</a:t>
            </a:r>
            <a:r>
              <a:rPr lang="en-US" dirty="0"/>
              <a:t> </a:t>
            </a:r>
            <a:r>
              <a:rPr lang="en-US" dirty="0" err="1"/>
              <a:t>gasova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Kirchhoff je, </a:t>
            </a:r>
            <a:r>
              <a:rPr lang="en-US" dirty="0" err="1"/>
              <a:t>postavio</a:t>
            </a:r>
            <a:r>
              <a:rPr lang="en-US" dirty="0"/>
              <a:t> </a:t>
            </a:r>
            <a:r>
              <a:rPr lang="en-US" dirty="0" err="1"/>
              <a:t>temelje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 err="1"/>
              <a:t>predvideo</a:t>
            </a:r>
            <a:r>
              <a:rPr lang="en-US" b="1" dirty="0"/>
              <a:t> </a:t>
            </a:r>
            <a:r>
              <a:rPr lang="en-US" b="1" dirty="0" err="1"/>
              <a:t>postojanje</a:t>
            </a:r>
            <a:r>
              <a:rPr lang="en-US" b="1" dirty="0"/>
              <a:t> </a:t>
            </a:r>
            <a:r>
              <a:rPr lang="en-US" b="1" dirty="0" err="1"/>
              <a:t>koncepta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 </a:t>
            </a:r>
            <a:r>
              <a:rPr lang="en-US" b="1" dirty="0" err="1"/>
              <a:t>crnog</a:t>
            </a:r>
            <a:r>
              <a:rPr lang="en-US" b="1" dirty="0"/>
              <a:t> </a:t>
            </a:r>
            <a:r>
              <a:rPr lang="en-US" b="1" dirty="0" err="1"/>
              <a:t>tela</a:t>
            </a:r>
            <a:r>
              <a:rPr lang="en-US" b="1" dirty="0"/>
              <a:t> </a:t>
            </a:r>
            <a:r>
              <a:rPr lang="en-US" b="1" dirty="0" err="1"/>
              <a:t>kao</a:t>
            </a:r>
            <a:r>
              <a:rPr lang="en-US" b="1" dirty="0"/>
              <a:t> </a:t>
            </a:r>
            <a:r>
              <a:rPr lang="en-US" b="1" dirty="0" err="1"/>
              <a:t>opštog</a:t>
            </a:r>
            <a:r>
              <a:rPr lang="en-US" b="1" dirty="0"/>
              <a:t> </a:t>
            </a:r>
            <a:r>
              <a:rPr lang="en-US" b="1" dirty="0" err="1"/>
              <a:t>zakona</a:t>
            </a:r>
            <a:r>
              <a:rPr lang="en-US" b="1" dirty="0"/>
              <a:t> za </a:t>
            </a:r>
            <a:r>
              <a:rPr lang="en-US" b="1" dirty="0" err="1"/>
              <a:t>tela</a:t>
            </a:r>
            <a:r>
              <a:rPr lang="en-US" b="1" dirty="0"/>
              <a:t> u </a:t>
            </a:r>
            <a:r>
              <a:rPr lang="en-US" b="1" dirty="0" err="1"/>
              <a:t>termalnoj</a:t>
            </a:r>
            <a:r>
              <a:rPr lang="en-US" b="1" dirty="0"/>
              <a:t> </a:t>
            </a:r>
            <a:r>
              <a:rPr lang="en-US" b="1" dirty="0" err="1"/>
              <a:t>ravnoteži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pokrićemo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vežbama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E7038-8944-807F-3484-D9E42B7BC11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530924" y="186396"/>
            <a:ext cx="3495599" cy="52959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97A75-740A-6F38-37EB-EDF78DC6F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162A-E230-7E31-0312-0236355BD1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Kirchhoff i Bunsen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7523E-0A1E-ACF3-97AD-B7B6F6DA1E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70039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“Bunsen Burner”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8D0F3-4FD9-B476-7480-B0048BB6C31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600560" y="1371599"/>
            <a:ext cx="6857640" cy="40802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7FDB9-1F18-C44A-82A9-6F11A881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1A51-A667-3BAF-F554-0E26A6CA9B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Kirchhoff i Bunsen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A0D11-7F3B-3114-E3E8-4A8C02D95E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626040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“Opisna” teorija prenosa zračenja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E5BCF4-A5CD-1A68-53D6-ACAE0C4BCEA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1599" y="1054800"/>
            <a:ext cx="7543799" cy="461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9248F-D3BF-A68E-F23B-2B5D089E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D7DE-08FD-F064-5F0B-C29398F8EA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399" y="9720"/>
            <a:ext cx="9675360" cy="603720"/>
          </a:xfrm>
        </p:spPr>
        <p:txBody>
          <a:bodyPr vert="horz"/>
          <a:lstStyle/>
          <a:p>
            <a:pPr lvl="0" rtl="0"/>
            <a:r>
              <a:rPr lang="en-US"/>
              <a:t>Najlepši spektar ikada (ili bar najdetaljniji)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B91B10-9D98-6BE3-08D6-4F21CDE788F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43000" y="590400"/>
            <a:ext cx="7618680" cy="507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0C89F-FA2C-416B-462A-C13613B8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C5E2-A23D-50AE-AFFC-B13703A4181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Spektar Sunca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8217B-ACA9-9C68-C78B-B87FB25D4EE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3609360" cy="4446360"/>
          </a:xfrm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crno</a:t>
            </a:r>
            <a:r>
              <a:rPr lang="en-US" dirty="0"/>
              <a:t> </a:t>
            </a:r>
            <a:r>
              <a:rPr lang="en-US" dirty="0" err="1"/>
              <a:t>telo</a:t>
            </a:r>
            <a:r>
              <a:rPr lang="en-US" dirty="0"/>
              <a:t>!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li </a:t>
            </a:r>
            <a:r>
              <a:rPr lang="en-US" dirty="0" err="1"/>
              <a:t>neko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ideju</a:t>
            </a:r>
            <a:r>
              <a:rPr lang="en-US" dirty="0"/>
              <a:t> </a:t>
            </a:r>
            <a:r>
              <a:rPr lang="en-US" dirty="0" err="1"/>
              <a:t>zašto</a:t>
            </a:r>
            <a:r>
              <a:rPr lang="en-US" dirty="0"/>
              <a:t> </a:t>
            </a:r>
            <a:r>
              <a:rPr lang="en-US" dirty="0" err="1"/>
              <a:t>ultraljubičastog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crnog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?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A0E02-28EA-CC81-D20D-A7CF417F941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00400" y="0"/>
            <a:ext cx="662832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8CA38-3661-A3EE-9BB4-E243CE49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DFFA-4EDB-88CC-41FF-BEE6F055A5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 dirty="0"/>
              <a:t>Model </a:t>
            </a:r>
            <a:r>
              <a:rPr lang="en-US" dirty="0" err="1"/>
              <a:t>sunčeve</a:t>
            </a:r>
            <a:r>
              <a:rPr lang="en-US" dirty="0"/>
              <a:t> </a:t>
            </a:r>
            <a:r>
              <a:rPr lang="en-US" dirty="0" err="1"/>
              <a:t>atmosfere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17FBC-26A1-9D35-6944-D55BD77662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0840" y="914039"/>
            <a:ext cx="3609360" cy="4446360"/>
          </a:xfrm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detaljne</a:t>
            </a:r>
            <a:r>
              <a:rPr lang="en-US" dirty="0"/>
              <a:t> </a:t>
            </a:r>
            <a:r>
              <a:rPr lang="en-US" dirty="0" err="1"/>
              <a:t>analize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modelovanja</a:t>
            </a:r>
            <a:r>
              <a:rPr lang="en-US" dirty="0"/>
              <a:t>) </a:t>
            </a:r>
            <a:r>
              <a:rPr lang="en-US" dirty="0" err="1"/>
              <a:t>Sunčevog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spektra</a:t>
            </a:r>
            <a:r>
              <a:rPr lang="en-US" dirty="0"/>
              <a:t>, </a:t>
            </a:r>
            <a:r>
              <a:rPr lang="en-US" dirty="0" err="1"/>
              <a:t>dobijena</a:t>
            </a:r>
            <a:r>
              <a:rPr lang="en-US" dirty="0"/>
              <a:t> je </a:t>
            </a:r>
            <a:r>
              <a:rPr lang="en-US" dirty="0" err="1"/>
              <a:t>raspodela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temperature u </a:t>
            </a:r>
            <a:r>
              <a:rPr lang="en-US" dirty="0" err="1"/>
              <a:t>Sunčevoj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atmosferi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našeg</a:t>
            </a:r>
            <a:r>
              <a:rPr lang="en-US" dirty="0"/>
              <a:t> </a:t>
            </a:r>
            <a:r>
              <a:rPr lang="en-US" dirty="0" err="1"/>
              <a:t>kursa</a:t>
            </a:r>
            <a:r>
              <a:rPr lang="en-US" dirty="0"/>
              <a:t> je da</a:t>
            </a:r>
            <a:br>
              <a:rPr lang="en-US" dirty="0"/>
            </a:br>
            <a:r>
              <a:rPr lang="en-US" dirty="0" err="1"/>
              <a:t>shvatimo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došli</a:t>
            </a:r>
            <a:br>
              <a:rPr lang="en-US" dirty="0"/>
            </a:br>
            <a:r>
              <a:rPr lang="en-US" dirty="0"/>
              <a:t>do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grafika</a:t>
            </a:r>
            <a:r>
              <a:rPr lang="en-US" dirty="0"/>
              <a:t>!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Gde</a:t>
            </a:r>
            <a:r>
              <a:rPr lang="en-US" dirty="0"/>
              <a:t> je “</a:t>
            </a:r>
            <a:r>
              <a:rPr lang="en-US" dirty="0" err="1"/>
              <a:t>nula</a:t>
            </a:r>
            <a:r>
              <a:rPr lang="en-US" dirty="0"/>
              <a:t>”? </a:t>
            </a:r>
            <a:br>
              <a:rPr lang="en-US" dirty="0"/>
            </a:br>
            <a:r>
              <a:rPr lang="en-US" b="1" dirty="0"/>
              <a:t>(3 min </a:t>
            </a:r>
            <a:r>
              <a:rPr lang="en-US" b="1" dirty="0" err="1"/>
              <a:t>diskusija</a:t>
            </a:r>
            <a:r>
              <a:rPr lang="en-US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E35AE-3654-8974-98D3-12388655FD5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93600" y="914760"/>
            <a:ext cx="6370920" cy="45716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CCA72-D3C5-932C-3C24-BDF95B1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223B-6749-30EB-F9A2-9814A074EC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Temperatura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92324-6B0F-B385-6509-1848877823F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Temperatura</a:t>
            </a:r>
            <a:r>
              <a:rPr lang="en-US" dirty="0"/>
              <a:t> je </a:t>
            </a:r>
            <a:r>
              <a:rPr lang="en-US" dirty="0" err="1"/>
              <a:t>najvažnija</a:t>
            </a:r>
            <a:r>
              <a:rPr lang="en-US" dirty="0"/>
              <a:t> </a:t>
            </a:r>
            <a:r>
              <a:rPr lang="en-US" dirty="0" err="1"/>
              <a:t>fizička</a:t>
            </a:r>
            <a:r>
              <a:rPr lang="en-US" dirty="0"/>
              <a:t> </a:t>
            </a:r>
            <a:r>
              <a:rPr lang="en-US" dirty="0" err="1"/>
              <a:t>veličina</a:t>
            </a:r>
            <a:r>
              <a:rPr lang="en-US" dirty="0"/>
              <a:t> za </a:t>
            </a:r>
            <a:r>
              <a:rPr lang="en-US" dirty="0" err="1"/>
              <a:t>izgled</a:t>
            </a:r>
            <a:r>
              <a:rPr lang="en-US" dirty="0"/>
              <a:t> </a:t>
            </a:r>
            <a:r>
              <a:rPr lang="en-US" dirty="0" err="1"/>
              <a:t>spektra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zvezde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Zašto</a:t>
            </a:r>
            <a:r>
              <a:rPr lang="en-US" dirty="0"/>
              <a:t>? </a:t>
            </a:r>
            <a:r>
              <a:rPr lang="en-US" b="1" dirty="0"/>
              <a:t>(5 + 5 </a:t>
            </a:r>
            <a:r>
              <a:rPr lang="en-US" b="1" dirty="0" err="1"/>
              <a:t>minuta</a:t>
            </a:r>
            <a:r>
              <a:rPr lang="en-US" b="1" dirty="0"/>
              <a:t> za </a:t>
            </a:r>
            <a:r>
              <a:rPr lang="en-US" b="1" dirty="0" err="1"/>
              <a:t>diskusiju</a:t>
            </a:r>
            <a:r>
              <a:rPr lang="en-US" b="1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44512-C3FF-7C33-7B1D-506297EF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E83B-0A64-6B5A-C752-B8E78456B7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Temperatura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2B4CA-71C7-4F6F-8754-CB584D20B5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Temperatura</a:t>
            </a:r>
            <a:r>
              <a:rPr lang="en-US" dirty="0"/>
              <a:t> je </a:t>
            </a:r>
            <a:r>
              <a:rPr lang="en-US" dirty="0" err="1"/>
              <a:t>najvažnija</a:t>
            </a:r>
            <a:r>
              <a:rPr lang="en-US" dirty="0"/>
              <a:t> </a:t>
            </a:r>
            <a:r>
              <a:rPr lang="en-US" dirty="0" err="1"/>
              <a:t>fizička</a:t>
            </a:r>
            <a:r>
              <a:rPr lang="en-US" dirty="0"/>
              <a:t> </a:t>
            </a:r>
            <a:r>
              <a:rPr lang="en-US" dirty="0" err="1"/>
              <a:t>veličina</a:t>
            </a:r>
            <a:r>
              <a:rPr lang="en-US" dirty="0"/>
              <a:t> za </a:t>
            </a:r>
            <a:r>
              <a:rPr lang="en-US" dirty="0" err="1"/>
              <a:t>izgled</a:t>
            </a:r>
            <a:r>
              <a:rPr lang="en-US" dirty="0"/>
              <a:t> </a:t>
            </a:r>
            <a:r>
              <a:rPr lang="en-US" dirty="0" err="1"/>
              <a:t>spektra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zvezde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jonizaciju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Postojanje</a:t>
            </a:r>
            <a:r>
              <a:rPr lang="en-US" dirty="0"/>
              <a:t> </a:t>
            </a:r>
            <a:r>
              <a:rPr lang="en-US" dirty="0" err="1"/>
              <a:t>molekula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Eksitaciju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linija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Količinu</a:t>
            </a:r>
            <a:r>
              <a:rPr lang="en-US" dirty="0"/>
              <a:t> </a:t>
            </a:r>
            <a:r>
              <a:rPr lang="en-US" dirty="0" err="1"/>
              <a:t>sudara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321F1-C388-789E-394A-35A95582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14899-9BDD-B703-D860-712B26CBDB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Harvardska klasifikacija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11993-CE99-4D8D-5EA7-F330BD3FDB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7656" y="914039"/>
            <a:ext cx="5438160" cy="4446360"/>
          </a:xfrm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Znali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da se </a:t>
            </a:r>
            <a:r>
              <a:rPr lang="en-US" dirty="0" err="1"/>
              <a:t>zvezde</a:t>
            </a:r>
            <a:r>
              <a:rPr lang="en-US" dirty="0"/>
              <a:t> </a:t>
            </a:r>
            <a:r>
              <a:rPr lang="en-US" dirty="0" err="1"/>
              <a:t>razlikuju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nismo</a:t>
            </a:r>
            <a:r>
              <a:rPr lang="en-US" dirty="0"/>
              <a:t> </a:t>
            </a:r>
            <a:r>
              <a:rPr lang="en-US" dirty="0" err="1"/>
              <a:t>znali</a:t>
            </a:r>
            <a:r>
              <a:rPr lang="en-US" dirty="0"/>
              <a:t> </a:t>
            </a:r>
            <a:r>
              <a:rPr lang="en-US" dirty="0" err="1"/>
              <a:t>zašto</a:t>
            </a:r>
            <a:r>
              <a:rPr lang="en-US" dirty="0"/>
              <a:t>!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Logična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: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b="1" dirty="0" err="1"/>
              <a:t>hemijskog</a:t>
            </a:r>
            <a:r>
              <a:rPr lang="en-US" b="1" dirty="0"/>
              <a:t> </a:t>
            </a:r>
            <a:r>
              <a:rPr lang="en-US" b="1" dirty="0" err="1"/>
              <a:t>sastava</a:t>
            </a:r>
            <a:r>
              <a:rPr lang="en-US" b="1" dirty="0"/>
              <a:t>!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Tačno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ne u </a:t>
            </a:r>
            <a:r>
              <a:rPr lang="en-US" dirty="0" err="1"/>
              <a:t>bukvalnom</a:t>
            </a:r>
            <a:r>
              <a:rPr lang="en-US" dirty="0"/>
              <a:t> </a:t>
            </a:r>
            <a:r>
              <a:rPr lang="en-US" dirty="0" err="1"/>
              <a:t>smislu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reči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Tri </a:t>
            </a:r>
            <a:r>
              <a:rPr lang="en-US" dirty="0" err="1"/>
              <a:t>zakona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temperatura</a:t>
            </a:r>
            <a:r>
              <a:rPr lang="en-US" dirty="0"/>
              <a:t> </a:t>
            </a:r>
            <a:r>
              <a:rPr lang="en-US" dirty="0" err="1"/>
              <a:t>figuriše</a:t>
            </a:r>
            <a:r>
              <a:rPr lang="en-US" dirty="0"/>
              <a:t>: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Štefan</a:t>
            </a:r>
            <a:r>
              <a:rPr lang="en-US" b="1" dirty="0"/>
              <a:t> – </a:t>
            </a:r>
            <a:r>
              <a:rPr lang="en-US" b="1" dirty="0" err="1"/>
              <a:t>Boltzmannov</a:t>
            </a:r>
            <a:r>
              <a:rPr lang="en-US" b="1" dirty="0"/>
              <a:t> </a:t>
            </a:r>
            <a:r>
              <a:rPr lang="en-US" b="1" dirty="0" err="1"/>
              <a:t>zakon</a:t>
            </a:r>
            <a:br>
              <a:rPr lang="en-US" b="1" dirty="0"/>
            </a:br>
            <a:r>
              <a:rPr lang="en-US" b="1" dirty="0" err="1"/>
              <a:t>Wienov</a:t>
            </a:r>
            <a:r>
              <a:rPr lang="en-US" b="1" dirty="0"/>
              <a:t> </a:t>
            </a:r>
            <a:r>
              <a:rPr lang="en-US" b="1" dirty="0" err="1"/>
              <a:t>zakon</a:t>
            </a:r>
            <a:r>
              <a:rPr lang="en-US" b="1" dirty="0"/>
              <a:t> </a:t>
            </a:r>
            <a:r>
              <a:rPr lang="en-US" b="1" dirty="0" err="1"/>
              <a:t>pomeranja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 err="1"/>
              <a:t>Planckov</a:t>
            </a:r>
            <a:r>
              <a:rPr lang="en-US" b="1" dirty="0"/>
              <a:t> </a:t>
            </a:r>
            <a:r>
              <a:rPr lang="en-US" b="1" dirty="0" err="1"/>
              <a:t>zakon</a:t>
            </a:r>
            <a:endParaRPr lang="en-US" b="1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0F06E-1F5A-C63D-50A3-988169B68DC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329800" y="36360"/>
            <a:ext cx="474876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93FCF-34DA-91C3-E898-60463DB0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6360-D6D6-A6A0-6238-FC3D683DA0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Medjutim, nijedan od ovih zakona ne važi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F3E87-E06A-3B2D-CB12-37D49F5EDCC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Zvezde</a:t>
            </a:r>
            <a:r>
              <a:rPr lang="en-US" dirty="0"/>
              <a:t> </a:t>
            </a:r>
            <a:r>
              <a:rPr lang="en-US" b="1" dirty="0" err="1"/>
              <a:t>nisu</a:t>
            </a:r>
            <a:r>
              <a:rPr lang="en-US" b="1" dirty="0"/>
              <a:t> </a:t>
            </a:r>
            <a:r>
              <a:rPr lang="en-US" dirty="0" err="1"/>
              <a:t>crna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!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</a:t>
            </a:r>
            <a:r>
              <a:rPr lang="en-US" dirty="0" err="1"/>
              <a:t>jesu</a:t>
            </a:r>
            <a:r>
              <a:rPr lang="en-US" dirty="0"/>
              <a:t>, </a:t>
            </a:r>
            <a:r>
              <a:rPr lang="en-US" dirty="0" err="1"/>
              <a:t>zračenje</a:t>
            </a:r>
            <a:r>
              <a:rPr lang="en-US" dirty="0"/>
              <a:t> ne bi </a:t>
            </a:r>
            <a:r>
              <a:rPr lang="en-US" dirty="0" err="1"/>
              <a:t>napuštalo</a:t>
            </a:r>
            <a:r>
              <a:rPr lang="en-US" dirty="0"/>
              <a:t> </a:t>
            </a:r>
            <a:r>
              <a:rPr lang="en-US" dirty="0" err="1"/>
              <a:t>zvezdu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bi </a:t>
            </a:r>
            <a:r>
              <a:rPr lang="en-US" dirty="0" err="1"/>
              <a:t>postojao</a:t>
            </a:r>
            <a:r>
              <a:rPr lang="en-US" dirty="0"/>
              <a:t> transport </a:t>
            </a:r>
            <a:r>
              <a:rPr lang="en-US" dirty="0" err="1"/>
              <a:t>energije</a:t>
            </a:r>
            <a:r>
              <a:rPr lang="en-US" dirty="0"/>
              <a:t> (</a:t>
            </a:r>
            <a:r>
              <a:rPr lang="en-US" dirty="0" err="1"/>
              <a:t>fluks</a:t>
            </a:r>
            <a:r>
              <a:rPr lang="en-US" dirty="0"/>
              <a:t>), </a:t>
            </a:r>
            <a:r>
              <a:rPr lang="en-US" dirty="0" err="1"/>
              <a:t>potrebno</a:t>
            </a:r>
            <a:r>
              <a:rPr lang="en-US" dirty="0"/>
              <a:t> je da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b="1" dirty="0" err="1"/>
              <a:t>gradijent</a:t>
            </a:r>
            <a:r>
              <a:rPr lang="en-US" b="1" dirty="0"/>
              <a:t> temperature </a:t>
            </a:r>
            <a:r>
              <a:rPr lang="en-US" dirty="0"/>
              <a:t>(</a:t>
            </a:r>
            <a:r>
              <a:rPr lang="en-US" dirty="0" err="1"/>
              <a:t>obratite</a:t>
            </a:r>
            <a:r>
              <a:rPr lang="en-US" dirty="0"/>
              <a:t> </a:t>
            </a:r>
            <a:r>
              <a:rPr lang="en-US" dirty="0" err="1"/>
              <a:t>pažnju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kurs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fizičkih</a:t>
            </a:r>
            <a:r>
              <a:rPr lang="en-US" dirty="0"/>
              <a:t> </a:t>
            </a:r>
            <a:r>
              <a:rPr lang="en-US" dirty="0" err="1"/>
              <a:t>principa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)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Da li </a:t>
            </a:r>
            <a:r>
              <a:rPr lang="en-US" b="1" dirty="0" err="1"/>
              <a:t>apsolutno</a:t>
            </a:r>
            <a:r>
              <a:rPr lang="en-US" b="1" dirty="0"/>
              <a:t> </a:t>
            </a:r>
            <a:r>
              <a:rPr lang="en-US" b="1" dirty="0" err="1"/>
              <a:t>crno</a:t>
            </a:r>
            <a:r>
              <a:rPr lang="en-US" b="1" dirty="0"/>
              <a:t> </a:t>
            </a:r>
            <a:r>
              <a:rPr lang="en-US" b="1" dirty="0" err="1"/>
              <a:t>telo</a:t>
            </a:r>
            <a:r>
              <a:rPr lang="en-US" b="1" dirty="0"/>
              <a:t> </a:t>
            </a:r>
            <a:r>
              <a:rPr lang="en-US" b="1" dirty="0" err="1"/>
              <a:t>može</a:t>
            </a:r>
            <a:r>
              <a:rPr lang="en-US" b="1" dirty="0"/>
              <a:t> da </a:t>
            </a:r>
            <a:r>
              <a:rPr lang="en-US" b="1" dirty="0" err="1"/>
              <a:t>ima</a:t>
            </a:r>
            <a:r>
              <a:rPr lang="en-US" b="1" dirty="0"/>
              <a:t> </a:t>
            </a:r>
            <a:r>
              <a:rPr lang="en-US" b="1" dirty="0" err="1"/>
              <a:t>spektralne</a:t>
            </a:r>
            <a:r>
              <a:rPr lang="en-US" b="1" dirty="0"/>
              <a:t> </a:t>
            </a:r>
            <a:r>
              <a:rPr lang="en-US" b="1" dirty="0" err="1"/>
              <a:t>linije</a:t>
            </a:r>
            <a:r>
              <a:rPr lang="en-US" b="1" dirty="0"/>
              <a:t>? (5 min </a:t>
            </a:r>
            <a:r>
              <a:rPr lang="en-US" b="1" dirty="0" err="1"/>
              <a:t>diskusija</a:t>
            </a:r>
            <a:r>
              <a:rPr lang="en-US" b="1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5141B-F495-9273-14B4-2C08AC53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D03A-6B5D-7C8E-D264-F7776E4B79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Medjutim, nijedan od ovih zakona ne važi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77B66-D2EE-F02E-1233-15EE057169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Zvezde</a:t>
            </a:r>
            <a:r>
              <a:rPr lang="en-US" dirty="0"/>
              <a:t> </a:t>
            </a:r>
            <a:r>
              <a:rPr lang="en-US" b="1" dirty="0" err="1"/>
              <a:t>nisu</a:t>
            </a:r>
            <a:r>
              <a:rPr lang="en-US" b="1" dirty="0"/>
              <a:t> </a:t>
            </a:r>
            <a:r>
              <a:rPr lang="en-US" dirty="0" err="1"/>
              <a:t>crna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!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</a:t>
            </a:r>
            <a:r>
              <a:rPr lang="en-US" dirty="0" err="1"/>
              <a:t>jesu</a:t>
            </a:r>
            <a:r>
              <a:rPr lang="en-US" dirty="0"/>
              <a:t>, </a:t>
            </a:r>
            <a:r>
              <a:rPr lang="en-US" dirty="0" err="1"/>
              <a:t>zračenje</a:t>
            </a:r>
            <a:r>
              <a:rPr lang="en-US" dirty="0"/>
              <a:t> ne bi </a:t>
            </a:r>
            <a:r>
              <a:rPr lang="en-US" dirty="0" err="1"/>
              <a:t>napuštalo</a:t>
            </a:r>
            <a:r>
              <a:rPr lang="en-US" dirty="0"/>
              <a:t> </a:t>
            </a:r>
            <a:r>
              <a:rPr lang="en-US" dirty="0" err="1"/>
              <a:t>zvezdu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bi </a:t>
            </a:r>
            <a:r>
              <a:rPr lang="en-US" dirty="0" err="1"/>
              <a:t>postojao</a:t>
            </a:r>
            <a:r>
              <a:rPr lang="en-US" dirty="0"/>
              <a:t> transport </a:t>
            </a:r>
            <a:r>
              <a:rPr lang="en-US" dirty="0" err="1"/>
              <a:t>energije</a:t>
            </a:r>
            <a:r>
              <a:rPr lang="en-US" dirty="0"/>
              <a:t> (</a:t>
            </a:r>
            <a:r>
              <a:rPr lang="en-US" dirty="0" err="1"/>
              <a:t>fluks</a:t>
            </a:r>
            <a:r>
              <a:rPr lang="en-US" dirty="0"/>
              <a:t>), </a:t>
            </a:r>
            <a:r>
              <a:rPr lang="en-US" dirty="0" err="1"/>
              <a:t>potrebno</a:t>
            </a:r>
            <a:r>
              <a:rPr lang="en-US" dirty="0"/>
              <a:t> je da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b="1" dirty="0" err="1"/>
              <a:t>gradijent</a:t>
            </a:r>
            <a:r>
              <a:rPr lang="en-US" b="1" dirty="0"/>
              <a:t> temperature </a:t>
            </a:r>
            <a:r>
              <a:rPr lang="en-US" dirty="0"/>
              <a:t>(</a:t>
            </a:r>
            <a:r>
              <a:rPr lang="en-US" dirty="0" err="1"/>
              <a:t>obratite</a:t>
            </a:r>
            <a:r>
              <a:rPr lang="en-US" dirty="0"/>
              <a:t> </a:t>
            </a:r>
            <a:r>
              <a:rPr lang="en-US" dirty="0" err="1"/>
              <a:t>pažnju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kurs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fizičkih</a:t>
            </a:r>
            <a:r>
              <a:rPr lang="en-US" dirty="0"/>
              <a:t> </a:t>
            </a:r>
            <a:r>
              <a:rPr lang="en-US" dirty="0" err="1"/>
              <a:t>principa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)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Da li </a:t>
            </a:r>
            <a:r>
              <a:rPr lang="en-US" b="1" dirty="0" err="1"/>
              <a:t>apsolutno</a:t>
            </a:r>
            <a:r>
              <a:rPr lang="en-US" b="1" dirty="0"/>
              <a:t> </a:t>
            </a:r>
            <a:r>
              <a:rPr lang="en-US" b="1" dirty="0" err="1"/>
              <a:t>crno</a:t>
            </a:r>
            <a:r>
              <a:rPr lang="en-US" b="1" dirty="0"/>
              <a:t> </a:t>
            </a:r>
            <a:r>
              <a:rPr lang="en-US" b="1" dirty="0" err="1"/>
              <a:t>telo</a:t>
            </a:r>
            <a:r>
              <a:rPr lang="en-US" b="1" dirty="0"/>
              <a:t> </a:t>
            </a:r>
            <a:r>
              <a:rPr lang="en-US" b="1" dirty="0" err="1"/>
              <a:t>može</a:t>
            </a:r>
            <a:r>
              <a:rPr lang="en-US" b="1" dirty="0"/>
              <a:t> da </a:t>
            </a:r>
            <a:r>
              <a:rPr lang="en-US" b="1" dirty="0" err="1"/>
              <a:t>ima</a:t>
            </a:r>
            <a:r>
              <a:rPr lang="en-US" b="1" dirty="0"/>
              <a:t> </a:t>
            </a:r>
            <a:r>
              <a:rPr lang="en-US" b="1" dirty="0" err="1"/>
              <a:t>spektralne</a:t>
            </a:r>
            <a:r>
              <a:rPr lang="en-US" b="1" dirty="0"/>
              <a:t> </a:t>
            </a:r>
            <a:r>
              <a:rPr lang="en-US" b="1" dirty="0" err="1"/>
              <a:t>linije</a:t>
            </a:r>
            <a:r>
              <a:rPr lang="en-US" b="1" dirty="0"/>
              <a:t>?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Ne </a:t>
            </a:r>
            <a:r>
              <a:rPr lang="en-US" b="1" dirty="0" err="1"/>
              <a:t>može</a:t>
            </a:r>
            <a:r>
              <a:rPr lang="en-US" b="1" dirty="0"/>
              <a:t>!!! (</a:t>
            </a:r>
            <a:r>
              <a:rPr lang="en-US" b="1" dirty="0" err="1"/>
              <a:t>Tokom</a:t>
            </a:r>
            <a:r>
              <a:rPr lang="en-US" b="1" dirty="0"/>
              <a:t> </a:t>
            </a:r>
            <a:r>
              <a:rPr lang="en-US" b="1" dirty="0" err="1"/>
              <a:t>kursa</a:t>
            </a:r>
            <a:r>
              <a:rPr lang="en-US" b="1" dirty="0"/>
              <a:t> </a:t>
            </a:r>
            <a:r>
              <a:rPr lang="en-US" b="1" dirty="0" err="1"/>
              <a:t>ćemo</a:t>
            </a:r>
            <a:r>
              <a:rPr lang="en-US" b="1" dirty="0"/>
              <a:t> u </a:t>
            </a:r>
            <a:r>
              <a:rPr lang="en-US" b="1" dirty="0" err="1"/>
              <a:t>potpunosti</a:t>
            </a:r>
            <a:r>
              <a:rPr lang="en-US" b="1" dirty="0"/>
              <a:t> </a:t>
            </a:r>
            <a:r>
              <a:rPr lang="en-US" b="1" dirty="0" err="1"/>
              <a:t>shvatiti</a:t>
            </a:r>
            <a:r>
              <a:rPr lang="en-US" b="1" dirty="0"/>
              <a:t> </a:t>
            </a:r>
            <a:r>
              <a:rPr lang="en-US" b="1" dirty="0" err="1"/>
              <a:t>zašto</a:t>
            </a:r>
            <a:r>
              <a:rPr lang="en-US" b="1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FEDE-0648-C341-1385-70AF8D4B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E7F8-CB10-AE1B-A3B1-E1DF46862A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Prvi pokušaji da se objasni spektar Sunca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DBBAA-529C-C7F7-7D75-C59C59BC38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7724160" cy="444636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Radjanje</a:t>
            </a:r>
            <a:r>
              <a:rPr lang="en-US" dirty="0"/>
              <a:t> “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”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Arthur Schuster, </a:t>
            </a:r>
            <a:r>
              <a:rPr lang="en-US" i="1" dirty="0"/>
              <a:t>“Radiation through a foggy atmosphere”</a:t>
            </a:r>
            <a:r>
              <a:rPr lang="en-US" dirty="0"/>
              <a:t>, 1905, </a:t>
            </a:r>
            <a:r>
              <a:rPr lang="en-US" dirty="0" err="1"/>
              <a:t>ApJ</a:t>
            </a:r>
            <a:r>
              <a:rPr lang="en-US" dirty="0"/>
              <a:t>, 21, 1; </a:t>
            </a:r>
            <a:r>
              <a:rPr lang="en-US" dirty="0" err="1"/>
              <a:t>formulisao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uočio</a:t>
            </a:r>
            <a:r>
              <a:rPr lang="en-US" dirty="0"/>
              <a:t> </a:t>
            </a:r>
            <a:r>
              <a:rPr lang="en-US" dirty="0" err="1"/>
              <a:t>značaj</a:t>
            </a:r>
            <a:r>
              <a:rPr lang="en-US" dirty="0"/>
              <a:t> </a:t>
            </a:r>
            <a:r>
              <a:rPr lang="en-US" dirty="0" err="1"/>
              <a:t>rasejanja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Karl </a:t>
            </a:r>
            <a:r>
              <a:rPr lang="en-US" dirty="0" err="1"/>
              <a:t>Schwarcshild</a:t>
            </a:r>
            <a:r>
              <a:rPr lang="en-US" dirty="0"/>
              <a:t> (da, </a:t>
            </a:r>
            <a:r>
              <a:rPr lang="en-US" dirty="0" err="1"/>
              <a:t>onaj</a:t>
            </a:r>
            <a:r>
              <a:rPr lang="en-US" dirty="0"/>
              <a:t> koji se </a:t>
            </a:r>
            <a:r>
              <a:rPr lang="en-US" dirty="0" err="1"/>
              <a:t>bavio</a:t>
            </a:r>
            <a:r>
              <a:rPr lang="en-US" dirty="0"/>
              <a:t> </a:t>
            </a:r>
            <a:r>
              <a:rPr lang="en-US" dirty="0" err="1"/>
              <a:t>crnim</a:t>
            </a:r>
            <a:r>
              <a:rPr lang="en-US" dirty="0"/>
              <a:t> </a:t>
            </a:r>
            <a:r>
              <a:rPr lang="en-US" dirty="0" err="1"/>
              <a:t>rupama</a:t>
            </a:r>
            <a:r>
              <a:rPr lang="en-US" dirty="0"/>
              <a:t>), 1914, </a:t>
            </a:r>
            <a:r>
              <a:rPr lang="en-US" i="1" dirty="0"/>
              <a:t>“Diffusion and Absorption in Sun’s Atmosphere”</a:t>
            </a:r>
            <a:r>
              <a:rPr lang="en-US" dirty="0"/>
              <a:t>, </a:t>
            </a:r>
            <a:r>
              <a:rPr lang="en-US" dirty="0" err="1"/>
              <a:t>formulisao</a:t>
            </a:r>
            <a:r>
              <a:rPr lang="en-US" dirty="0"/>
              <a:t> </a:t>
            </a:r>
            <a:r>
              <a:rPr lang="en-US" dirty="0" err="1"/>
              <a:t>razliku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termalne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rasejanja</a:t>
            </a:r>
            <a:r>
              <a:rPr lang="en-US" dirty="0"/>
              <a:t>,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u </a:t>
            </a:r>
            <a:r>
              <a:rPr lang="en-US" dirty="0" err="1"/>
              <a:t>integralnom</a:t>
            </a:r>
            <a:r>
              <a:rPr lang="en-US" dirty="0"/>
              <a:t> </a:t>
            </a:r>
            <a:r>
              <a:rPr lang="en-US" dirty="0" err="1"/>
              <a:t>obliku</a:t>
            </a:r>
            <a:r>
              <a:rPr lang="en-US" dirty="0"/>
              <a:t>, </a:t>
            </a:r>
            <a:r>
              <a:rPr lang="en-US" dirty="0" err="1"/>
              <a:t>pokazao</a:t>
            </a:r>
            <a:r>
              <a:rPr lang="en-US" dirty="0"/>
              <a:t> da je </a:t>
            </a:r>
            <a:r>
              <a:rPr lang="en-US" dirty="0" err="1"/>
              <a:t>promena</a:t>
            </a:r>
            <a:r>
              <a:rPr lang="en-US" dirty="0"/>
              <a:t> </a:t>
            </a:r>
            <a:r>
              <a:rPr lang="en-US" dirty="0" err="1"/>
              <a:t>sjaja</a:t>
            </a:r>
            <a:r>
              <a:rPr lang="en-US" dirty="0"/>
              <a:t> </a:t>
            </a:r>
            <a:r>
              <a:rPr lang="en-US" dirty="0" err="1"/>
              <a:t>Sunca</a:t>
            </a:r>
            <a:r>
              <a:rPr lang="en-US" dirty="0"/>
              <a:t> od centra ka </a:t>
            </a:r>
            <a:r>
              <a:rPr lang="en-US" dirty="0" err="1"/>
              <a:t>rubu</a:t>
            </a:r>
            <a:r>
              <a:rPr lang="en-US" dirty="0"/>
              <a:t> (limb darkening)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skladu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radijativnom</a:t>
            </a:r>
            <a:r>
              <a:rPr lang="en-US" dirty="0"/>
              <a:t> a ne </a:t>
            </a:r>
            <a:r>
              <a:rPr lang="en-US" dirty="0" err="1"/>
              <a:t>konvektivnom</a:t>
            </a:r>
            <a:r>
              <a:rPr lang="en-US" dirty="0"/>
              <a:t> </a:t>
            </a:r>
            <a:r>
              <a:rPr lang="en-US" dirty="0" err="1"/>
              <a:t>ravnotežom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8245D-E14E-4081-EF5C-71F71F9A655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229600" y="360"/>
            <a:ext cx="177084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F3038-B30C-9812-47E9-AE35456F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3C539-60EC-8245-784F-C200A49CDC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Objašnjenje Harvardske klasifikacije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177CB-9C0B-6648-24F6-5628FD57A7C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7266960" cy="444636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Cecilia Payne – </a:t>
            </a:r>
            <a:r>
              <a:rPr lang="en-US" dirty="0" err="1"/>
              <a:t>Gaposchkin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Primenila</a:t>
            </a:r>
            <a:r>
              <a:rPr lang="en-US" dirty="0"/>
              <a:t> </a:t>
            </a:r>
            <a:r>
              <a:rPr lang="en-US" dirty="0" err="1"/>
              <a:t>teoriju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 </a:t>
            </a:r>
            <a:r>
              <a:rPr lang="en-US" dirty="0" err="1"/>
              <a:t>koju</a:t>
            </a:r>
            <a:r>
              <a:rPr lang="en-US" dirty="0"/>
              <a:t> je </a:t>
            </a:r>
            <a:r>
              <a:rPr lang="en-US" dirty="0" err="1"/>
              <a:t>razvio</a:t>
            </a:r>
            <a:r>
              <a:rPr lang="en-US" dirty="0"/>
              <a:t> Meghnad Saha, da </a:t>
            </a:r>
            <a:r>
              <a:rPr lang="en-US" dirty="0" err="1"/>
              <a:t>analizira</a:t>
            </a:r>
            <a:r>
              <a:rPr lang="en-US" dirty="0"/>
              <a:t> </a:t>
            </a:r>
            <a:r>
              <a:rPr lang="en-US" dirty="0" err="1"/>
              <a:t>zavisnost</a:t>
            </a:r>
            <a:r>
              <a:rPr lang="en-US" dirty="0"/>
              <a:t> </a:t>
            </a:r>
            <a:r>
              <a:rPr lang="en-US" dirty="0" err="1"/>
              <a:t>količine</a:t>
            </a:r>
            <a:r>
              <a:rPr lang="en-US" dirty="0"/>
              <a:t> </a:t>
            </a:r>
            <a:r>
              <a:rPr lang="en-US" dirty="0" err="1"/>
              <a:t>apsorbera</a:t>
            </a:r>
            <a:r>
              <a:rPr lang="en-US" dirty="0"/>
              <a:t> od temperature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Pokazala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b="1" dirty="0" err="1"/>
              <a:t>razlike</a:t>
            </a:r>
            <a:r>
              <a:rPr lang="en-US" b="1" dirty="0"/>
              <a:t> u </a:t>
            </a:r>
            <a:r>
              <a:rPr lang="en-US" b="1" dirty="0" err="1"/>
              <a:t>prisustvu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jačini</a:t>
            </a:r>
            <a:r>
              <a:rPr lang="en-US" b="1" dirty="0"/>
              <a:t> </a:t>
            </a:r>
            <a:r>
              <a:rPr lang="en-US" b="1" dirty="0" err="1"/>
              <a:t>spektralnih</a:t>
            </a:r>
            <a:r>
              <a:rPr lang="en-US" b="1" dirty="0"/>
              <a:t> </a:t>
            </a:r>
            <a:r>
              <a:rPr lang="en-US" b="1" dirty="0" err="1"/>
              <a:t>linija</a:t>
            </a:r>
            <a:r>
              <a:rPr lang="en-US" b="1" dirty="0"/>
              <a:t> </a:t>
            </a:r>
            <a:r>
              <a:rPr lang="en-US" b="1" dirty="0" err="1"/>
              <a:t>kod</a:t>
            </a:r>
            <a:r>
              <a:rPr lang="en-US" b="1" dirty="0"/>
              <a:t> </a:t>
            </a:r>
            <a:r>
              <a:rPr lang="en-US" b="1" dirty="0" err="1"/>
              <a:t>zvezda</a:t>
            </a:r>
            <a:r>
              <a:rPr lang="en-US" b="1" dirty="0"/>
              <a:t> </a:t>
            </a:r>
            <a:r>
              <a:rPr lang="en-US" b="1" dirty="0" err="1"/>
              <a:t>različitih</a:t>
            </a:r>
            <a:r>
              <a:rPr lang="en-US" b="1" dirty="0"/>
              <a:t> </a:t>
            </a:r>
            <a:r>
              <a:rPr lang="en-US" b="1" dirty="0" err="1"/>
              <a:t>klasa</a:t>
            </a:r>
            <a:r>
              <a:rPr lang="en-US" b="1" dirty="0"/>
              <a:t>, </a:t>
            </a:r>
            <a:r>
              <a:rPr lang="en-US" b="1" dirty="0" err="1"/>
              <a:t>posledica</a:t>
            </a:r>
            <a:r>
              <a:rPr lang="en-US" b="1" dirty="0"/>
              <a:t> </a:t>
            </a:r>
            <a:r>
              <a:rPr lang="en-US" b="1" dirty="0" err="1"/>
              <a:t>razlike</a:t>
            </a:r>
            <a:r>
              <a:rPr lang="en-US" b="1" dirty="0"/>
              <a:t> u </a:t>
            </a:r>
            <a:r>
              <a:rPr lang="en-US" b="1" dirty="0" err="1"/>
              <a:t>jonizaciji</a:t>
            </a:r>
            <a:r>
              <a:rPr lang="en-US" b="1" dirty="0"/>
              <a:t> </a:t>
            </a:r>
            <a:r>
              <a:rPr lang="en-US" b="1" dirty="0" err="1"/>
              <a:t>odgovarajućih</a:t>
            </a:r>
            <a:r>
              <a:rPr lang="en-US" b="1" dirty="0"/>
              <a:t> </a:t>
            </a:r>
            <a:r>
              <a:rPr lang="en-US" b="1" dirty="0" err="1"/>
              <a:t>elemenata</a:t>
            </a:r>
            <a:endParaRPr lang="en-US" b="1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Praktično</a:t>
            </a:r>
            <a:r>
              <a:rPr lang="en-US" dirty="0"/>
              <a:t>, </a:t>
            </a:r>
            <a:r>
              <a:rPr lang="en-US" dirty="0" err="1"/>
              <a:t>pokazala</a:t>
            </a:r>
            <a:r>
              <a:rPr lang="en-US" dirty="0"/>
              <a:t> da je </a:t>
            </a:r>
            <a:r>
              <a:rPr lang="en-US" dirty="0" err="1"/>
              <a:t>vodonik</a:t>
            </a:r>
            <a:r>
              <a:rPr lang="en-US" dirty="0"/>
              <a:t> </a:t>
            </a:r>
            <a:r>
              <a:rPr lang="en-US" dirty="0" err="1"/>
              <a:t>ipak</a:t>
            </a:r>
            <a:r>
              <a:rPr lang="en-US" dirty="0"/>
              <a:t> </a:t>
            </a:r>
            <a:r>
              <a:rPr lang="en-US" dirty="0" err="1"/>
              <a:t>najzastupljeniji</a:t>
            </a:r>
            <a:r>
              <a:rPr lang="en-US" dirty="0"/>
              <a:t> element u </a:t>
            </a:r>
            <a:r>
              <a:rPr lang="en-US" dirty="0" err="1"/>
              <a:t>zvezdama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“the most brilliant Ph.D. thesis ever written in astronomy” – Otto Struve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4B834F-A6F6-3FC4-A3B6-CACF6336A03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752960" y="2514600"/>
            <a:ext cx="229572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7D7A7D-C405-C248-3D43-3F962026C6D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833599" y="81720"/>
            <a:ext cx="213408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55E94-D152-BA0B-D447-CCC80632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0279-80C8-3AEB-D18C-6FC49C2FE3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Zeeman-ov efekat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43A6-A6F7-6411-CF83-69D68A605F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1908, George Ellery Hale je </a:t>
            </a:r>
            <a:r>
              <a:rPr lang="en-US" dirty="0" err="1"/>
              <a:t>posmatrao</a:t>
            </a:r>
            <a:r>
              <a:rPr lang="en-US" dirty="0"/>
              <a:t> </a:t>
            </a:r>
            <a:r>
              <a:rPr lang="en-US" dirty="0" err="1"/>
              <a:t>Sunčeve</a:t>
            </a:r>
            <a:r>
              <a:rPr lang="en-US" dirty="0"/>
              <a:t> </a:t>
            </a:r>
            <a:r>
              <a:rPr lang="en-US" dirty="0" err="1"/>
              <a:t>pege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uočio</a:t>
            </a:r>
            <a:r>
              <a:rPr lang="en-US" dirty="0"/>
              <a:t> </a:t>
            </a:r>
            <a:r>
              <a:rPr lang="en-US" dirty="0" err="1"/>
              <a:t>sledeću</a:t>
            </a:r>
            <a:r>
              <a:rPr lang="en-US" dirty="0"/>
              <a:t> </a:t>
            </a:r>
            <a:r>
              <a:rPr lang="en-US" dirty="0" err="1"/>
              <a:t>stvar</a:t>
            </a:r>
            <a:r>
              <a:rPr lang="en-US" dirty="0"/>
              <a:t> </a:t>
            </a:r>
            <a:br>
              <a:rPr lang="en-US" b="1" dirty="0"/>
            </a:br>
            <a:r>
              <a:rPr lang="en-US" b="1" dirty="0"/>
              <a:t>(5 min </a:t>
            </a:r>
            <a:r>
              <a:rPr lang="en-US" b="1" dirty="0" err="1"/>
              <a:t>podsetnik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tehnike</a:t>
            </a:r>
            <a:r>
              <a:rPr lang="en-US" b="1" dirty="0"/>
              <a:t> </a:t>
            </a:r>
            <a:r>
              <a:rPr lang="en-US" b="1" dirty="0" err="1"/>
              <a:t>astrofizičkih</a:t>
            </a:r>
            <a:r>
              <a:rPr lang="en-US" b="1" dirty="0"/>
              <a:t> </a:t>
            </a:r>
            <a:r>
              <a:rPr lang="en-US" b="1" dirty="0" err="1"/>
              <a:t>posmatranja</a:t>
            </a:r>
            <a:r>
              <a:rPr lang="en-US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F869D-4A19-66DD-A314-6CB849857C4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61599" y="1600200"/>
            <a:ext cx="715320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A5152-59ED-CF51-58CD-26700536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D667-FBA7-1EAB-D775-1E1C44919A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Polarizacija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88E35-5CC3-F5BF-F0B3-17617196F8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842039"/>
            <a:ext cx="3380760" cy="4446360"/>
          </a:xfrm>
        </p:spPr>
        <p:txBody>
          <a:bodyPr/>
          <a:lstStyle/>
          <a:p>
            <a:pPr lvl="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Danas, </a:t>
            </a:r>
            <a:r>
              <a:rPr lang="en-US" dirty="0" err="1"/>
              <a:t>zahvaljujući</a:t>
            </a:r>
            <a:r>
              <a:rPr lang="en-US" dirty="0"/>
              <a:t> </a:t>
            </a:r>
            <a:r>
              <a:rPr lang="en-US" dirty="0" err="1"/>
              <a:t>velikim</a:t>
            </a:r>
            <a:r>
              <a:rPr lang="en-US" dirty="0"/>
              <a:t> </a:t>
            </a:r>
            <a:r>
              <a:rPr lang="en-US" dirty="0" err="1"/>
              <a:t>teleskopima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efikasnim</a:t>
            </a:r>
            <a:r>
              <a:rPr lang="en-US" dirty="0"/>
              <a:t> </a:t>
            </a:r>
            <a:r>
              <a:rPr lang="en-US" dirty="0" err="1"/>
              <a:t>detektorima</a:t>
            </a:r>
            <a:r>
              <a:rPr lang="en-US" dirty="0"/>
              <a:t>, </a:t>
            </a:r>
            <a:r>
              <a:rPr lang="en-US" dirty="0" err="1"/>
              <a:t>posmatramo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polarizaciju</a:t>
            </a:r>
            <a:r>
              <a:rPr lang="en-US" dirty="0"/>
              <a:t> u </a:t>
            </a:r>
            <a:r>
              <a:rPr lang="en-US" dirty="0" err="1"/>
              <a:t>spektralnim</a:t>
            </a:r>
            <a:r>
              <a:rPr lang="en-US" dirty="0"/>
              <a:t> </a:t>
            </a:r>
            <a:r>
              <a:rPr lang="en-US" dirty="0" err="1"/>
              <a:t>linijama</a:t>
            </a:r>
            <a:r>
              <a:rPr lang="en-US" dirty="0"/>
              <a:t>: </a:t>
            </a:r>
            <a:r>
              <a:rPr lang="en-US" dirty="0" err="1"/>
              <a:t>informacije</a:t>
            </a:r>
            <a:r>
              <a:rPr lang="en-US" dirty="0"/>
              <a:t> o </a:t>
            </a:r>
            <a:r>
              <a:rPr lang="en-US" dirty="0" err="1"/>
              <a:t>magnetnom</a:t>
            </a:r>
            <a:r>
              <a:rPr lang="en-US" dirty="0"/>
              <a:t> </a:t>
            </a:r>
            <a:r>
              <a:rPr lang="en-US" dirty="0" err="1"/>
              <a:t>polju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rasejanju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DE6A0-B9A8-C6A7-FB37-2EDC53FA23E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6200" y="842039"/>
            <a:ext cx="60678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D0BA6-D066-F649-C919-A94C1D83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6C7E-7CEB-2588-8EB8-DAF1551E30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Modelovanje zvezdanih spektara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0D938-8445-EDB6-69B1-4D43E7777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Mi </a:t>
            </a:r>
            <a:r>
              <a:rPr lang="en-US" dirty="0" err="1"/>
              <a:t>danas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odemo</a:t>
            </a:r>
            <a:r>
              <a:rPr lang="en-US" dirty="0"/>
              <a:t> </a:t>
            </a:r>
            <a:r>
              <a:rPr lang="en-US" dirty="0" err="1"/>
              <a:t>mnogo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od </a:t>
            </a:r>
            <a:r>
              <a:rPr lang="en-US" dirty="0" err="1"/>
              <a:t>ovoga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Možemo</a:t>
            </a:r>
            <a:r>
              <a:rPr lang="en-US" dirty="0"/>
              <a:t> da, </a:t>
            </a:r>
            <a:r>
              <a:rPr lang="en-US" dirty="0" err="1"/>
              <a:t>konzistentno</a:t>
            </a:r>
            <a:r>
              <a:rPr lang="en-US" dirty="0"/>
              <a:t> </a:t>
            </a:r>
            <a:r>
              <a:rPr lang="en-US" dirty="0" err="1"/>
              <a:t>modelujemo</a:t>
            </a:r>
            <a:r>
              <a:rPr lang="en-US" dirty="0"/>
              <a:t> </a:t>
            </a:r>
            <a:r>
              <a:rPr lang="en-US" dirty="0" err="1"/>
              <a:t>interakciju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materije</a:t>
            </a:r>
            <a:r>
              <a:rPr lang="en-US" dirty="0"/>
              <a:t>, da </a:t>
            </a:r>
            <a:r>
              <a:rPr lang="en-US" dirty="0" err="1"/>
              <a:t>bismo</a:t>
            </a:r>
            <a:r>
              <a:rPr lang="en-US" dirty="0"/>
              <a:t>, u </a:t>
            </a:r>
            <a:r>
              <a:rPr lang="en-US" dirty="0" err="1"/>
              <a:t>isto</a:t>
            </a:r>
            <a:r>
              <a:rPr lang="en-US" dirty="0"/>
              <a:t> </a:t>
            </a:r>
            <a:r>
              <a:rPr lang="en-US" dirty="0" err="1"/>
              <a:t>vreme</a:t>
            </a:r>
            <a:r>
              <a:rPr lang="en-US" dirty="0"/>
              <a:t> </a:t>
            </a:r>
            <a:r>
              <a:rPr lang="en-US" dirty="0" err="1"/>
              <a:t>dobili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njen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, za </a:t>
            </a:r>
            <a:r>
              <a:rPr lang="en-US" dirty="0" err="1"/>
              <a:t>zadate</a:t>
            </a:r>
            <a:r>
              <a:rPr lang="en-US" dirty="0"/>
              <a:t>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granične</a:t>
            </a:r>
            <a:r>
              <a:rPr lang="en-US" dirty="0"/>
              <a:t> </a:t>
            </a:r>
            <a:r>
              <a:rPr lang="en-US" dirty="0" err="1"/>
              <a:t>uslove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je, </a:t>
            </a:r>
            <a:r>
              <a:rPr lang="en-US" dirty="0" err="1"/>
              <a:t>sem</a:t>
            </a:r>
            <a:r>
              <a:rPr lang="en-US" dirty="0"/>
              <a:t> za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jednostavne</a:t>
            </a:r>
            <a:r>
              <a:rPr lang="en-US" dirty="0"/>
              <a:t> </a:t>
            </a:r>
            <a:r>
              <a:rPr lang="en-US" dirty="0" err="1"/>
              <a:t>slučajeve</a:t>
            </a:r>
            <a:r>
              <a:rPr lang="en-US" dirty="0"/>
              <a:t>, </a:t>
            </a:r>
            <a:r>
              <a:rPr lang="en-US" dirty="0" err="1"/>
              <a:t>ekstremno</a:t>
            </a:r>
            <a:r>
              <a:rPr lang="en-US" dirty="0"/>
              <a:t> </a:t>
            </a:r>
            <a:r>
              <a:rPr lang="en-US" dirty="0" err="1"/>
              <a:t>komplikovan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rešava</a:t>
            </a:r>
            <a:r>
              <a:rPr lang="en-US" dirty="0"/>
              <a:t> se </a:t>
            </a:r>
            <a:r>
              <a:rPr lang="en-US" dirty="0" err="1"/>
              <a:t>isključivo</a:t>
            </a:r>
            <a:r>
              <a:rPr lang="en-US" dirty="0"/>
              <a:t> </a:t>
            </a:r>
            <a:r>
              <a:rPr lang="en-US" dirty="0" err="1"/>
              <a:t>numerički</a:t>
            </a:r>
            <a:r>
              <a:rPr lang="en-US" dirty="0"/>
              <a:t>!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Spaja</a:t>
            </a:r>
            <a:r>
              <a:rPr lang="en-US" dirty="0"/>
              <a:t> </a:t>
            </a:r>
            <a:r>
              <a:rPr lang="en-US" dirty="0" err="1"/>
              <a:t>koncepte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kvantne</a:t>
            </a:r>
            <a:r>
              <a:rPr lang="en-US" dirty="0"/>
              <a:t>, </a:t>
            </a:r>
            <a:r>
              <a:rPr lang="en-US" dirty="0" err="1"/>
              <a:t>atomske</a:t>
            </a:r>
            <a:r>
              <a:rPr lang="en-US" dirty="0"/>
              <a:t>, </a:t>
            </a:r>
            <a:r>
              <a:rPr lang="en-US" dirty="0" err="1"/>
              <a:t>statističke</a:t>
            </a:r>
            <a:r>
              <a:rPr lang="en-US" dirty="0"/>
              <a:t> </a:t>
            </a:r>
            <a:r>
              <a:rPr lang="en-US" dirty="0" err="1"/>
              <a:t>fizike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numeričkim</a:t>
            </a:r>
            <a:r>
              <a:rPr lang="en-US" dirty="0"/>
              <a:t> </a:t>
            </a:r>
            <a:r>
              <a:rPr lang="en-US" dirty="0" err="1"/>
              <a:t>metodama</a:t>
            </a:r>
            <a:r>
              <a:rPr lang="en-US" dirty="0"/>
              <a:t> za </a:t>
            </a:r>
            <a:r>
              <a:rPr lang="en-US" dirty="0" err="1"/>
              <a:t>rešavanje</a:t>
            </a:r>
            <a:r>
              <a:rPr lang="en-US" dirty="0"/>
              <a:t> </a:t>
            </a:r>
            <a:r>
              <a:rPr lang="en-US" dirty="0" err="1"/>
              <a:t>nelinearnih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diferencijalnih</a:t>
            </a:r>
            <a:r>
              <a:rPr lang="en-US" dirty="0"/>
              <a:t> </a:t>
            </a:r>
            <a:r>
              <a:rPr lang="en-US" dirty="0" err="1"/>
              <a:t>jednačina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4AB94-378E-6036-3F9C-74FBEC8BF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42472-758C-FD85-7A59-0CD5C0389B5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Modelovanje zvezdanih spektara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D0D9CE-21B7-C67D-2D1A-CE9B52EC850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96399" y="887040"/>
            <a:ext cx="8476200" cy="47433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C97F6-F695-E158-7893-014DEFAA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C441-3833-E469-160D-1C4A16C920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Šta je, u stvari, zvezdana atmosfera?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40AF33-C6B6-83D8-7493-927B5391A7C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01600" y="914400"/>
            <a:ext cx="6203520" cy="45262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F3A3A-1240-1B70-E6D4-379AC8BFE35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914400"/>
            <a:ext cx="3886200" cy="444636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Numeričke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temperature, </a:t>
            </a:r>
            <a:r>
              <a:rPr lang="en-US" dirty="0" err="1"/>
              <a:t>pritiska</a:t>
            </a:r>
            <a:r>
              <a:rPr lang="en-US" dirty="0"/>
              <a:t>, </a:t>
            </a:r>
            <a:r>
              <a:rPr lang="en-US" dirty="0" err="1"/>
              <a:t>brzine</a:t>
            </a:r>
            <a:r>
              <a:rPr lang="en-US" dirty="0"/>
              <a:t>, </a:t>
            </a:r>
            <a:r>
              <a:rPr lang="en-US" dirty="0" err="1"/>
              <a:t>magnetnog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, </a:t>
            </a:r>
            <a:r>
              <a:rPr lang="en-US" dirty="0" err="1"/>
              <a:t>gustine</a:t>
            </a:r>
            <a:r>
              <a:rPr lang="en-US" dirty="0"/>
              <a:t>, </a:t>
            </a:r>
            <a:r>
              <a:rPr lang="en-US" dirty="0" err="1"/>
              <a:t>itd</a:t>
            </a:r>
            <a:r>
              <a:rPr lang="en-US" dirty="0"/>
              <a:t>. za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 (</a:t>
            </a:r>
            <a:r>
              <a:rPr lang="en-US" dirty="0" err="1"/>
              <a:t>visine</a:t>
            </a:r>
            <a:r>
              <a:rPr lang="en-US" dirty="0"/>
              <a:t>)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Nijedan</a:t>
            </a:r>
            <a:r>
              <a:rPr lang="en-US" dirty="0"/>
              <a:t> od </a:t>
            </a:r>
            <a:r>
              <a:rPr lang="en-US" dirty="0" err="1"/>
              <a:t>ovih</a:t>
            </a:r>
            <a:r>
              <a:rPr lang="en-US" dirty="0"/>
              <a:t> </a:t>
            </a:r>
            <a:r>
              <a:rPr lang="en-US" dirty="0" err="1"/>
              <a:t>parametara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analitička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, problem je </a:t>
            </a:r>
            <a:r>
              <a:rPr lang="en-US" dirty="0" err="1"/>
              <a:t>previše</a:t>
            </a:r>
            <a:r>
              <a:rPr lang="en-US" dirty="0"/>
              <a:t> </a:t>
            </a:r>
            <a:r>
              <a:rPr lang="en-US" dirty="0" err="1"/>
              <a:t>komplikovan</a:t>
            </a:r>
            <a:r>
              <a:rPr lang="en-US" dirty="0"/>
              <a:t> da </a:t>
            </a:r>
            <a:r>
              <a:rPr lang="en-US" dirty="0" err="1"/>
              <a:t>bismo</a:t>
            </a:r>
            <a:r>
              <a:rPr lang="en-US" dirty="0"/>
              <a:t> </a:t>
            </a:r>
            <a:r>
              <a:rPr lang="en-US" dirty="0" err="1"/>
              <a:t>dobili</a:t>
            </a:r>
            <a:r>
              <a:rPr lang="en-US" dirty="0"/>
              <a:t> </a:t>
            </a:r>
            <a:r>
              <a:rPr lang="en-US" dirty="0" err="1"/>
              <a:t>jednostavno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424C4-2346-EF83-74BA-883861BC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7C9-B3B8-14F7-6C7F-47BCAAF9AC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Kako dobijamo ovu strukturu?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042BB-0454-C1D0-5A3F-A4747E3515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3152160" cy="4446360"/>
          </a:xfrm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), se </a:t>
            </a:r>
            <a:r>
              <a:rPr lang="en-US" b="1" dirty="0" err="1"/>
              <a:t>formiraju</a:t>
            </a:r>
            <a:r>
              <a:rPr lang="en-US" b="1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visinama</a:t>
            </a:r>
            <a:r>
              <a:rPr lang="en-US" dirty="0"/>
              <a:t> u </a:t>
            </a:r>
            <a:r>
              <a:rPr lang="en-US" dirty="0" err="1"/>
              <a:t>atmosferi</a:t>
            </a:r>
            <a:r>
              <a:rPr lang="en-US" dirty="0"/>
              <a:t>.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Analizom</a:t>
            </a:r>
            <a:r>
              <a:rPr lang="en-US" dirty="0"/>
              <a:t>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, </a:t>
            </a:r>
            <a:r>
              <a:rPr lang="en-US" dirty="0" err="1"/>
              <a:t>simultano</a:t>
            </a:r>
            <a:r>
              <a:rPr lang="en-US" dirty="0"/>
              <a:t>,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rekonstruišemo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atmosfere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B1F889-6568-B5BC-E6B9-73976E0FF3C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6200" y="610560"/>
            <a:ext cx="5764320" cy="49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73BF0-0A5B-CE77-D2FA-3C234AE7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A990-04E9-F8BC-E7E0-8E9E910D252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Šta je, onda, zvezdana atmosfera?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C45FB-1CB3-A3CD-AB82-8682AD5BA2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Sloj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 koji je “</a:t>
            </a:r>
            <a:r>
              <a:rPr lang="en-US" dirty="0" err="1"/>
              <a:t>relevantan</a:t>
            </a:r>
            <a:r>
              <a:rPr lang="en-US" dirty="0"/>
              <a:t>” za </a:t>
            </a:r>
            <a:r>
              <a:rPr lang="en-US" dirty="0" err="1"/>
              <a:t>nastanak</a:t>
            </a:r>
            <a:r>
              <a:rPr lang="en-US" dirty="0"/>
              <a:t> </a:t>
            </a:r>
            <a:r>
              <a:rPr lang="en-US" dirty="0" err="1"/>
              <a:t>spektra</a:t>
            </a:r>
            <a:r>
              <a:rPr lang="en-US" dirty="0"/>
              <a:t> koji mi </a:t>
            </a:r>
            <a:r>
              <a:rPr lang="en-US" dirty="0" err="1"/>
              <a:t>vidimo</a:t>
            </a: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relevantan</a:t>
            </a:r>
            <a:r>
              <a:rPr lang="en-US" dirty="0"/>
              <a:t>? </a:t>
            </a:r>
            <a:r>
              <a:rPr lang="en-US" b="1" dirty="0"/>
              <a:t>(5 min </a:t>
            </a:r>
            <a:r>
              <a:rPr lang="en-US" b="1" dirty="0" err="1"/>
              <a:t>diskusija</a:t>
            </a:r>
            <a:r>
              <a:rPr lang="en-US" b="1" dirty="0"/>
              <a:t>)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principu</a:t>
            </a:r>
            <a:r>
              <a:rPr lang="en-US" dirty="0"/>
              <a:t>,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rešimo</a:t>
            </a:r>
            <a:r>
              <a:rPr lang="en-US" dirty="0"/>
              <a:t> problem </a:t>
            </a:r>
            <a:r>
              <a:rPr lang="en-US" dirty="0" err="1"/>
              <a:t>formiranja</a:t>
            </a:r>
            <a:r>
              <a:rPr lang="en-US" dirty="0"/>
              <a:t> </a:t>
            </a:r>
            <a:r>
              <a:rPr lang="en-US" dirty="0" err="1"/>
              <a:t>spektra</a:t>
            </a:r>
            <a:r>
              <a:rPr lang="en-US" dirty="0"/>
              <a:t> </a:t>
            </a:r>
            <a:r>
              <a:rPr lang="en-US" dirty="0" err="1"/>
              <a:t>uzimajući</a:t>
            </a:r>
            <a:r>
              <a:rPr lang="en-US" dirty="0"/>
              <a:t> u </a:t>
            </a:r>
            <a:r>
              <a:rPr lang="en-US" dirty="0" err="1"/>
              <a:t>obzir</a:t>
            </a:r>
            <a:r>
              <a:rPr lang="en-US" dirty="0"/>
              <a:t> </a:t>
            </a:r>
            <a:r>
              <a:rPr lang="en-US" dirty="0" err="1"/>
              <a:t>celu</a:t>
            </a:r>
            <a:r>
              <a:rPr lang="en-US" dirty="0"/>
              <a:t> </a:t>
            </a:r>
            <a:r>
              <a:rPr lang="en-US" dirty="0" err="1"/>
              <a:t>zvezdu</a:t>
            </a:r>
            <a:r>
              <a:rPr lang="en-US" dirty="0"/>
              <a:t> – to je </a:t>
            </a:r>
            <a:r>
              <a:rPr lang="en-US" dirty="0" err="1"/>
              <a:t>ipak</a:t>
            </a:r>
            <a:r>
              <a:rPr lang="en-US" dirty="0"/>
              <a:t>, </a:t>
            </a:r>
            <a:r>
              <a:rPr lang="en-US" dirty="0" err="1"/>
              <a:t>vrlo</a:t>
            </a:r>
            <a:r>
              <a:rPr lang="en-US" dirty="0"/>
              <a:t> </a:t>
            </a:r>
            <a:r>
              <a:rPr lang="en-US" dirty="0" err="1"/>
              <a:t>nepraktično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Donja</a:t>
            </a:r>
            <a:r>
              <a:rPr lang="en-US" b="1" dirty="0"/>
              <a:t> </a:t>
            </a:r>
            <a:r>
              <a:rPr lang="en-US" b="1" dirty="0" err="1"/>
              <a:t>granica</a:t>
            </a:r>
            <a:r>
              <a:rPr lang="en-US" b="1" dirty="0"/>
              <a:t>: </a:t>
            </a:r>
            <a:r>
              <a:rPr lang="en-US" dirty="0" err="1"/>
              <a:t>dovoljno</a:t>
            </a:r>
            <a:r>
              <a:rPr lang="en-US" dirty="0"/>
              <a:t> </a:t>
            </a:r>
            <a:r>
              <a:rPr lang="en-US" dirty="0" err="1"/>
              <a:t>duboko</a:t>
            </a:r>
            <a:r>
              <a:rPr lang="en-US" dirty="0"/>
              <a:t> da </a:t>
            </a:r>
            <a:r>
              <a:rPr lang="en-US" dirty="0" err="1"/>
              <a:t>nijedan</a:t>
            </a:r>
            <a:r>
              <a:rPr lang="en-US" dirty="0"/>
              <a:t>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neće</a:t>
            </a:r>
            <a:r>
              <a:rPr lang="en-US" dirty="0"/>
              <a:t> </a:t>
            </a:r>
            <a:r>
              <a:rPr lang="en-US" dirty="0" err="1"/>
              <a:t>stići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do </a:t>
            </a:r>
            <a:r>
              <a:rPr lang="en-US" dirty="0" err="1"/>
              <a:t>nas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Gornja</a:t>
            </a:r>
            <a:r>
              <a:rPr lang="en-US" b="1" dirty="0"/>
              <a:t> </a:t>
            </a:r>
            <a:r>
              <a:rPr lang="en-US" b="1" dirty="0" err="1"/>
              <a:t>granica</a:t>
            </a:r>
            <a:r>
              <a:rPr lang="en-US" b="1" dirty="0"/>
              <a:t>: </a:t>
            </a:r>
            <a:r>
              <a:rPr lang="en-US" dirty="0" err="1"/>
              <a:t>dovoljno</a:t>
            </a:r>
            <a:r>
              <a:rPr lang="en-US" dirty="0"/>
              <a:t> </a:t>
            </a:r>
            <a:r>
              <a:rPr lang="en-US" dirty="0" err="1"/>
              <a:t>visoko</a:t>
            </a:r>
            <a:r>
              <a:rPr lang="en-US" dirty="0"/>
              <a:t> da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stići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do </a:t>
            </a:r>
            <a:r>
              <a:rPr lang="en-US" dirty="0" err="1"/>
              <a:t>nas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217F6-FF71-D77D-0082-CA9FF63A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5E12EE-68DF-6A43-1C26-FA722C8A85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4360" y="1856519"/>
            <a:ext cx="2598840" cy="179928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“Fotonu treba xyz godina da pobegne iz centra Sunca, i zašto ja ne volim tu priču”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81579F-6781-0F45-483A-424C0EFDF2E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971800" y="518039"/>
            <a:ext cx="7025760" cy="447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5ADF0-1CA2-68AF-12CD-2DF2ABA8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1501-664E-510E-2774-70C10DA96F4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Još par pitanja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E72CC-AE10-2756-6F45-91BAFB06C6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842039"/>
            <a:ext cx="9552960" cy="444636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procesu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u </a:t>
            </a:r>
            <a:r>
              <a:rPr lang="en-US" dirty="0" err="1"/>
              <a:t>spektralnoj</a:t>
            </a:r>
            <a:r>
              <a:rPr lang="en-US" dirty="0"/>
              <a:t> </a:t>
            </a:r>
            <a:r>
              <a:rPr lang="en-US" dirty="0" err="1"/>
              <a:t>liniji</a:t>
            </a:r>
            <a:r>
              <a:rPr lang="en-US" dirty="0"/>
              <a:t>,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odredjenu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da bi </a:t>
            </a:r>
            <a:r>
              <a:rPr lang="en-US" dirty="0" err="1"/>
              <a:t>ekscitovao</a:t>
            </a:r>
            <a:r>
              <a:rPr lang="en-US" dirty="0"/>
              <a:t> atom.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se “</a:t>
            </a:r>
            <a:r>
              <a:rPr lang="en-US" dirty="0" err="1"/>
              <a:t>potrefi</a:t>
            </a:r>
            <a:r>
              <a:rPr lang="en-US" dirty="0"/>
              <a:t>” da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baš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potrebnu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/ </a:t>
            </a:r>
            <a:r>
              <a:rPr lang="en-US" dirty="0" err="1"/>
              <a:t>frekvenciju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057F1-4F0B-23DC-F7A0-A078BE46E28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6280" y="2533680"/>
            <a:ext cx="7430040" cy="24955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1E568-69D1-F493-2077-E02D7DAD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AD60-E7D6-810C-4FEC-98CEC05F8F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Odgovor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CB772-D01D-65E2-336F-63343128715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842039"/>
            <a:ext cx="9552960" cy="444636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procesu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u </a:t>
            </a:r>
            <a:r>
              <a:rPr lang="en-US" dirty="0" err="1"/>
              <a:t>spektralnoj</a:t>
            </a:r>
            <a:r>
              <a:rPr lang="en-US" dirty="0"/>
              <a:t> </a:t>
            </a:r>
            <a:r>
              <a:rPr lang="en-US" dirty="0" err="1"/>
              <a:t>liniji</a:t>
            </a:r>
            <a:r>
              <a:rPr lang="en-US" dirty="0"/>
              <a:t>,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odredjenu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da bi </a:t>
            </a:r>
            <a:r>
              <a:rPr lang="en-US" dirty="0" err="1"/>
              <a:t>ekscitovao</a:t>
            </a:r>
            <a:r>
              <a:rPr lang="en-US" dirty="0"/>
              <a:t> atom.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se “</a:t>
            </a:r>
            <a:r>
              <a:rPr lang="en-US" dirty="0" err="1"/>
              <a:t>potrefi</a:t>
            </a:r>
            <a:r>
              <a:rPr lang="en-US" dirty="0"/>
              <a:t>” da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baš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potrebnu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/ </a:t>
            </a:r>
            <a:r>
              <a:rPr lang="en-US" dirty="0" err="1"/>
              <a:t>frekvenciju</a:t>
            </a:r>
            <a:r>
              <a:rPr lang="en-US" dirty="0"/>
              <a:t>?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Ne </a:t>
            </a:r>
            <a:r>
              <a:rPr lang="en-US" b="1" dirty="0" err="1"/>
              <a:t>postoji</a:t>
            </a:r>
            <a:r>
              <a:rPr lang="en-US" b="1" dirty="0"/>
              <a:t> </a:t>
            </a:r>
            <a:r>
              <a:rPr lang="en-US" b="1" dirty="0" err="1"/>
              <a:t>pojam</a:t>
            </a:r>
            <a:r>
              <a:rPr lang="en-US" b="1" dirty="0"/>
              <a:t> </a:t>
            </a:r>
            <a:r>
              <a:rPr lang="en-US" b="1" dirty="0" err="1"/>
              <a:t>kao</a:t>
            </a:r>
            <a:r>
              <a:rPr lang="en-US" b="1" dirty="0"/>
              <a:t> </a:t>
            </a:r>
            <a:r>
              <a:rPr lang="en-US" b="1" dirty="0" err="1"/>
              <a:t>što</a:t>
            </a:r>
            <a:r>
              <a:rPr lang="en-US" b="1" dirty="0"/>
              <a:t> je “</a:t>
            </a:r>
            <a:r>
              <a:rPr lang="en-US" b="1" dirty="0" err="1"/>
              <a:t>tačno</a:t>
            </a:r>
            <a:r>
              <a:rPr lang="en-US" b="1" dirty="0"/>
              <a:t> </a:t>
            </a:r>
            <a:r>
              <a:rPr lang="en-US" b="1" dirty="0" err="1"/>
              <a:t>odredjena</a:t>
            </a:r>
            <a:r>
              <a:rPr lang="en-US" b="1" dirty="0"/>
              <a:t> </a:t>
            </a:r>
            <a:r>
              <a:rPr lang="en-US" b="1" dirty="0" err="1"/>
              <a:t>energija</a:t>
            </a:r>
            <a:r>
              <a:rPr lang="en-US" b="1" dirty="0"/>
              <a:t>” (</a:t>
            </a:r>
            <a:r>
              <a:rPr lang="en-US" b="1" dirty="0" err="1"/>
              <a:t>ili</a:t>
            </a:r>
            <a:r>
              <a:rPr lang="en-US" b="1" dirty="0"/>
              <a:t> </a:t>
            </a:r>
            <a:r>
              <a:rPr lang="en-US" b="1" dirty="0" err="1"/>
              <a:t>bilo</a:t>
            </a:r>
            <a:r>
              <a:rPr lang="en-US" b="1" dirty="0"/>
              <a:t> </a:t>
            </a:r>
            <a:r>
              <a:rPr lang="en-US" b="1" dirty="0" err="1"/>
              <a:t>koja</a:t>
            </a:r>
            <a:r>
              <a:rPr lang="en-US" b="1" dirty="0"/>
              <a:t> </a:t>
            </a:r>
            <a:r>
              <a:rPr lang="en-US" b="1" dirty="0" err="1"/>
              <a:t>talasna</a:t>
            </a:r>
            <a:r>
              <a:rPr lang="en-US" b="1" dirty="0"/>
              <a:t> </a:t>
            </a:r>
            <a:r>
              <a:rPr lang="en-US" b="1" dirty="0" err="1"/>
              <a:t>dužina</a:t>
            </a:r>
            <a:r>
              <a:rPr lang="en-US" b="1" dirty="0"/>
              <a:t>)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Usled</a:t>
            </a:r>
            <a:r>
              <a:rPr lang="en-US" dirty="0"/>
              <a:t> Heisenberg-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principa</a:t>
            </a:r>
            <a:r>
              <a:rPr lang="en-US" dirty="0"/>
              <a:t>, </a:t>
            </a:r>
            <a:r>
              <a:rPr lang="en-US" dirty="0" err="1"/>
              <a:t>energije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“</a:t>
            </a:r>
            <a:r>
              <a:rPr lang="en-US" dirty="0" err="1"/>
              <a:t>razmazane</a:t>
            </a:r>
            <a:r>
              <a:rPr lang="en-US" dirty="0"/>
              <a:t>”.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Povrh</a:t>
            </a:r>
            <a:r>
              <a:rPr lang="en-US" dirty="0"/>
              <a:t> toga, </a:t>
            </a: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Doplerovsko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usled</a:t>
            </a:r>
            <a:r>
              <a:rPr lang="en-US" dirty="0"/>
              <a:t> </a:t>
            </a:r>
            <a:r>
              <a:rPr lang="en-US" dirty="0" err="1"/>
              <a:t>haotičnog</a:t>
            </a:r>
            <a:r>
              <a:rPr lang="en-US" dirty="0"/>
              <a:t> </a:t>
            </a:r>
            <a:r>
              <a:rPr lang="en-US" dirty="0" err="1"/>
              <a:t>kretanja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sudarno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dodatno</a:t>
            </a:r>
            <a:r>
              <a:rPr lang="en-US" dirty="0"/>
              <a:t> “</a:t>
            </a:r>
            <a:r>
              <a:rPr lang="en-US" dirty="0" err="1"/>
              <a:t>širi</a:t>
            </a:r>
            <a:r>
              <a:rPr lang="en-US" dirty="0"/>
              <a:t>” </a:t>
            </a:r>
            <a:r>
              <a:rPr lang="en-US" dirty="0" err="1"/>
              <a:t>nivoe</a:t>
            </a:r>
            <a:r>
              <a:rPr lang="en-US" dirty="0"/>
              <a:t>, pa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liniju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E1F0F-DF21-DB5E-2B2A-CC37F924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9ED4-866F-D6B1-C08B-7C2414EC98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Pitanje: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901E2-786F-C739-9792-E9D489CADE9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5209560" cy="444636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Verovali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ne, ne </a:t>
            </a:r>
            <a:r>
              <a:rPr lang="en-US" dirty="0" err="1"/>
              <a:t>postoje</a:t>
            </a:r>
            <a:r>
              <a:rPr lang="en-US" dirty="0"/>
              <a:t> “</a:t>
            </a:r>
            <a:r>
              <a:rPr lang="en-US" dirty="0" err="1"/>
              <a:t>apsorpcioni</a:t>
            </a:r>
            <a:r>
              <a:rPr lang="en-US" dirty="0"/>
              <a:t>” </a:t>
            </a:r>
            <a:r>
              <a:rPr lang="en-US" dirty="0" err="1"/>
              <a:t>ili</a:t>
            </a:r>
            <a:r>
              <a:rPr lang="en-US" dirty="0"/>
              <a:t> “</a:t>
            </a:r>
            <a:r>
              <a:rPr lang="en-US" dirty="0" err="1"/>
              <a:t>emisioni</a:t>
            </a:r>
            <a:r>
              <a:rPr lang="en-US" dirty="0"/>
              <a:t>” </a:t>
            </a:r>
            <a:r>
              <a:rPr lang="en-US" dirty="0" err="1"/>
              <a:t>spektri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Spektar</a:t>
            </a:r>
            <a:r>
              <a:rPr lang="en-US" dirty="0"/>
              <a:t> je 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 od </a:t>
            </a:r>
            <a:r>
              <a:rPr lang="en-US" dirty="0" err="1"/>
              <a:t>njihovog</a:t>
            </a:r>
            <a:r>
              <a:rPr lang="en-US" dirty="0"/>
              <a:t> </a:t>
            </a:r>
            <a:r>
              <a:rPr lang="en-US" dirty="0" err="1"/>
              <a:t>odnosa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da li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“</a:t>
            </a:r>
            <a:r>
              <a:rPr lang="en-US" dirty="0" err="1"/>
              <a:t>apsorpciona</a:t>
            </a:r>
            <a:r>
              <a:rPr lang="en-US" dirty="0"/>
              <a:t>” </a:t>
            </a:r>
            <a:r>
              <a:rPr lang="en-US" dirty="0" err="1"/>
              <a:t>ili</a:t>
            </a:r>
            <a:r>
              <a:rPr lang="en-US" dirty="0"/>
              <a:t> “</a:t>
            </a:r>
            <a:r>
              <a:rPr lang="en-US" dirty="0" err="1"/>
              <a:t>emisiona</a:t>
            </a:r>
            <a:r>
              <a:rPr lang="en-US" dirty="0"/>
              <a:t>”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ako</a:t>
            </a:r>
            <a:r>
              <a:rPr lang="en-US" dirty="0"/>
              <a:t> bi </a:t>
            </a:r>
            <a:r>
              <a:rPr lang="en-US" dirty="0" err="1"/>
              <a:t>nekim</a:t>
            </a:r>
            <a:r>
              <a:rPr lang="en-US" dirty="0"/>
              <a:t> </a:t>
            </a:r>
            <a:r>
              <a:rPr lang="en-US" dirty="0" err="1"/>
              <a:t>čudom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u </a:t>
            </a:r>
            <a:r>
              <a:rPr lang="en-US" dirty="0" err="1"/>
              <a:t>termalnoj</a:t>
            </a:r>
            <a:r>
              <a:rPr lang="en-US" dirty="0"/>
              <a:t> </a:t>
            </a:r>
            <a:r>
              <a:rPr lang="en-US" dirty="0" err="1"/>
              <a:t>ravnoteži</a:t>
            </a:r>
            <a:r>
              <a:rPr lang="en-US" dirty="0"/>
              <a:t>, </a:t>
            </a:r>
            <a:r>
              <a:rPr lang="en-US" dirty="0" err="1"/>
              <a:t>prelazi</a:t>
            </a:r>
            <a:r>
              <a:rPr lang="en-US" dirty="0"/>
              <a:t> u </a:t>
            </a:r>
            <a:r>
              <a:rPr lang="en-US" dirty="0" err="1"/>
              <a:t>linijama</a:t>
            </a:r>
            <a:r>
              <a:rPr lang="en-US" dirty="0"/>
              <a:t> bi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kraju</a:t>
            </a:r>
            <a:r>
              <a:rPr lang="en-US" dirty="0"/>
              <a:t> </a:t>
            </a:r>
            <a:r>
              <a:rPr lang="en-US" dirty="0" err="1"/>
              <a:t>ipak</a:t>
            </a:r>
            <a:r>
              <a:rPr lang="en-US" dirty="0"/>
              <a:t> </a:t>
            </a:r>
            <a:r>
              <a:rPr lang="en-US" dirty="0" err="1"/>
              <a:t>dali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 </a:t>
            </a:r>
            <a:r>
              <a:rPr lang="en-US" dirty="0" err="1"/>
              <a:t>apsolutno</a:t>
            </a:r>
            <a:r>
              <a:rPr lang="en-US" dirty="0"/>
              <a:t> </a:t>
            </a:r>
            <a:r>
              <a:rPr lang="en-US" dirty="0" err="1"/>
              <a:t>crnog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5DC99-F63E-A0E6-5EF7-40A9952D22E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47520" y="1181160"/>
            <a:ext cx="4629240" cy="38480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2D533-2203-6145-30F8-04EBAFB2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3A824-0580-6224-4C51-2D084E0CEA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Pitanje: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762A5-5A1A-8ECE-47F9-96B4463994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se </a:t>
            </a:r>
            <a:r>
              <a:rPr lang="en-US" dirty="0" err="1"/>
              <a:t>dešava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atomom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ga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ekscituje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A92B9-47C1-0971-8F6D-E9028D7B55F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1828800"/>
            <a:ext cx="9039960" cy="27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A6BD6-86ED-2D62-6F2F-59E40DA3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2FFF-93BE-5D9B-9A28-6076CFC459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Odgovor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1B7F3-C51E-416A-3048-F0FC6E09485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Svi </a:t>
            </a:r>
            <a:r>
              <a:rPr lang="en-US" dirty="0" err="1"/>
              <a:t>želimo</a:t>
            </a:r>
            <a:r>
              <a:rPr lang="en-US" dirty="0"/>
              <a:t> da </a:t>
            </a:r>
            <a:r>
              <a:rPr lang="en-US" dirty="0" err="1"/>
              <a:t>kažemo</a:t>
            </a:r>
            <a:r>
              <a:rPr lang="en-US" dirty="0"/>
              <a:t> da atom </a:t>
            </a:r>
            <a:r>
              <a:rPr lang="en-US" dirty="0" err="1"/>
              <a:t>biva</a:t>
            </a:r>
            <a:r>
              <a:rPr lang="en-US" dirty="0"/>
              <a:t> de-</a:t>
            </a:r>
            <a:r>
              <a:rPr lang="en-US" dirty="0" err="1"/>
              <a:t>eskcitovan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emituje</a:t>
            </a:r>
            <a:r>
              <a:rPr lang="en-US" dirty="0"/>
              <a:t> </a:t>
            </a:r>
            <a:r>
              <a:rPr lang="en-US" dirty="0" err="1"/>
              <a:t>foton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iako</a:t>
            </a:r>
            <a:r>
              <a:rPr lang="en-US" dirty="0"/>
              <a:t>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drugih</a:t>
            </a:r>
            <a:r>
              <a:rPr lang="en-US" dirty="0"/>
              <a:t> </a:t>
            </a:r>
            <a:r>
              <a:rPr lang="en-US" dirty="0" err="1"/>
              <a:t>relevantnih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za “</a:t>
            </a:r>
            <a:r>
              <a:rPr lang="en-US" dirty="0" err="1"/>
              <a:t>kaskadne</a:t>
            </a:r>
            <a:r>
              <a:rPr lang="en-US" dirty="0"/>
              <a:t>” </a:t>
            </a:r>
            <a:r>
              <a:rPr lang="en-US" dirty="0" err="1"/>
              <a:t>prelaze</a:t>
            </a:r>
            <a:r>
              <a:rPr lang="en-US" dirty="0"/>
              <a:t>, atom </a:t>
            </a:r>
            <a:r>
              <a:rPr lang="en-US" dirty="0" err="1"/>
              <a:t>može</a:t>
            </a:r>
            <a:r>
              <a:rPr lang="en-US" dirty="0"/>
              <a:t> da se de-</a:t>
            </a:r>
            <a:r>
              <a:rPr lang="en-US" dirty="0" err="1"/>
              <a:t>ekscituje</a:t>
            </a:r>
            <a:r>
              <a:rPr lang="en-US" dirty="0"/>
              <a:t> </a:t>
            </a:r>
            <a:r>
              <a:rPr lang="en-US" b="1" dirty="0" err="1"/>
              <a:t>sudarno</a:t>
            </a:r>
            <a:r>
              <a:rPr lang="en-US" b="1" dirty="0"/>
              <a:t>, </a:t>
            </a:r>
            <a:r>
              <a:rPr lang="en-US" dirty="0" err="1"/>
              <a:t>i</a:t>
            </a:r>
            <a:r>
              <a:rPr lang="en-US" dirty="0"/>
              <a:t> u </a:t>
            </a:r>
            <a:r>
              <a:rPr lang="en-US" dirty="0" err="1"/>
              <a:t>stvari</a:t>
            </a:r>
            <a:r>
              <a:rPr lang="en-US" dirty="0"/>
              <a:t> se </a:t>
            </a:r>
            <a:r>
              <a:rPr lang="en-US" dirty="0" err="1"/>
              <a:t>većina</a:t>
            </a:r>
            <a:r>
              <a:rPr lang="en-US" dirty="0"/>
              <a:t> </a:t>
            </a:r>
            <a:r>
              <a:rPr lang="en-US" dirty="0" err="1"/>
              <a:t>atoma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de-</a:t>
            </a:r>
            <a:r>
              <a:rPr lang="en-US" dirty="0" err="1"/>
              <a:t>ekscituje</a:t>
            </a:r>
            <a:r>
              <a:rPr lang="en-US" dirty="0"/>
              <a:t> u </a:t>
            </a:r>
            <a:r>
              <a:rPr lang="en-US" dirty="0" err="1"/>
              <a:t>fotosferama</a:t>
            </a:r>
            <a:r>
              <a:rPr lang="en-US" dirty="0"/>
              <a:t> </a:t>
            </a:r>
            <a:r>
              <a:rPr lang="en-US" dirty="0" err="1"/>
              <a:t>zvezda</a:t>
            </a:r>
            <a:endParaRPr lang="en-US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znači</a:t>
            </a:r>
            <a:r>
              <a:rPr lang="en-US" dirty="0"/>
              <a:t> da je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zaista</a:t>
            </a:r>
            <a:r>
              <a:rPr lang="en-US" dirty="0"/>
              <a:t> </a:t>
            </a:r>
            <a:r>
              <a:rPr lang="en-US" b="1" dirty="0" err="1"/>
              <a:t>nestao</a:t>
            </a:r>
            <a:r>
              <a:rPr lang="en-US" b="1" dirty="0"/>
              <a:t>; </a:t>
            </a:r>
            <a:r>
              <a:rPr lang="en-US" b="1" dirty="0" err="1"/>
              <a:t>energija</a:t>
            </a:r>
            <a:r>
              <a:rPr lang="en-US" b="1" dirty="0"/>
              <a:t> mu je </a:t>
            </a:r>
            <a:r>
              <a:rPr lang="en-US" b="1" dirty="0" err="1"/>
              <a:t>pretvorena</a:t>
            </a:r>
            <a:r>
              <a:rPr lang="en-US" b="1" dirty="0"/>
              <a:t> u </a:t>
            </a:r>
            <a:r>
              <a:rPr lang="en-US" b="1" dirty="0" err="1"/>
              <a:t>termalnu</a:t>
            </a:r>
            <a:r>
              <a:rPr lang="en-US" b="1" dirty="0"/>
              <a:t> </a:t>
            </a:r>
            <a:r>
              <a:rPr lang="en-US" b="1" dirty="0" err="1"/>
              <a:t>energiju</a:t>
            </a:r>
            <a:r>
              <a:rPr lang="en-US" b="1" dirty="0"/>
              <a:t> </a:t>
            </a:r>
            <a:r>
              <a:rPr lang="en-US" b="1" dirty="0" err="1"/>
              <a:t>gasa</a:t>
            </a:r>
            <a:endParaRPr lang="en-US" b="1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važan</a:t>
            </a:r>
            <a:r>
              <a:rPr lang="en-US" dirty="0"/>
              <a:t> da </a:t>
            </a:r>
            <a:r>
              <a:rPr lang="en-US" dirty="0" err="1"/>
              <a:t>shvatimo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b="1" dirty="0" err="1"/>
              <a:t>lokalna</a:t>
            </a:r>
            <a:r>
              <a:rPr lang="en-US" b="1" dirty="0"/>
              <a:t> </a:t>
            </a:r>
            <a:r>
              <a:rPr lang="en-US" dirty="0" err="1"/>
              <a:t>termodinamička</a:t>
            </a:r>
            <a:r>
              <a:rPr lang="en-US" dirty="0"/>
              <a:t> </a:t>
            </a:r>
            <a:r>
              <a:rPr lang="en-US" dirty="0" err="1"/>
              <a:t>ravnoteža</a:t>
            </a:r>
            <a:r>
              <a:rPr lang="en-US" dirty="0"/>
              <a:t> (LTR)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7689C-C995-FFB9-AD0C-0805C056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6A45E-B079-8575-7B08-13574855D2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Za kraj uvodnog dela: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D7537-53FC-CA24-837D-0CA5F14568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Svi </a:t>
            </a:r>
            <a:r>
              <a:rPr lang="en-US" dirty="0" err="1"/>
              <a:t>materijali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: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>
                <a:hlinkClick r:id="rId3"/>
              </a:rPr>
              <a:t>https://github.com/ivanzmilic/TZS_matf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“Page view” </a:t>
            </a:r>
            <a:r>
              <a:rPr lang="en-US" dirty="0" err="1"/>
              <a:t>na</a:t>
            </a:r>
            <a:r>
              <a:rPr lang="en-US" dirty="0"/>
              <a:t>: </a:t>
            </a:r>
            <a:r>
              <a:rPr lang="en-US" b="1" dirty="0">
                <a:hlinkClick r:id="rId4"/>
              </a:rPr>
              <a:t>https://ivanzmilic.github.io/TZS_matf/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endParaRPr lang="en-US" b="1" dirty="0"/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Možete</a:t>
            </a:r>
            <a:r>
              <a:rPr lang="en-US" dirty="0"/>
              <a:t> mi </a:t>
            </a:r>
            <a:r>
              <a:rPr lang="en-US" dirty="0" err="1"/>
              <a:t>pisati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:</a:t>
            </a:r>
          </a:p>
          <a:p>
            <a:pPr marL="342900" indent="-34290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ivanzmilic</a:t>
            </a:r>
            <a:r>
              <a:rPr lang="en-US" dirty="0"/>
              <a:t> @ 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D5EFF-D35A-D05B-19D5-5C28FF55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CAC841-9AE1-400A-80B5-442DCDA829B4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19167</TotalTime>
  <Words>1609</Words>
  <Application>Microsoft Office PowerPoint</Application>
  <PresentationFormat>Custom</PresentationFormat>
  <Paragraphs>209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Čime se bavi ovaj kurs</vt:lpstr>
      <vt:lpstr>Šta treba da znamo</vt:lpstr>
      <vt:lpstr>Šta posmatramo?</vt:lpstr>
      <vt:lpstr>PowerPoint Presentation</vt:lpstr>
      <vt:lpstr>Spektri različitih zvezda</vt:lpstr>
      <vt:lpstr>Spektri različitih zvezda</vt:lpstr>
      <vt:lpstr>Počeci spektroskopije: Fraunhofer</vt:lpstr>
      <vt:lpstr>Kirchhoff i Bunsen</vt:lpstr>
      <vt:lpstr>Kirchhoff i Bunsen</vt:lpstr>
      <vt:lpstr>Kirchhoff i Bunsen</vt:lpstr>
      <vt:lpstr>Najlepši spektar ikada (ili bar najdetaljniji)</vt:lpstr>
      <vt:lpstr>Spektar Sunca</vt:lpstr>
      <vt:lpstr>Model sunčeve atmosfere</vt:lpstr>
      <vt:lpstr>Temperatura</vt:lpstr>
      <vt:lpstr>Temperatura</vt:lpstr>
      <vt:lpstr>Harvardska klasifikacija</vt:lpstr>
      <vt:lpstr>Medjutim, nijedan od ovih zakona ne važi</vt:lpstr>
      <vt:lpstr>Medjutim, nijedan od ovih zakona ne važi</vt:lpstr>
      <vt:lpstr>Prvi pokušaji da se objasni spektar Sunca</vt:lpstr>
      <vt:lpstr>Objašnjenje Harvardske klasifikacije</vt:lpstr>
      <vt:lpstr>Zeeman-ov efekat</vt:lpstr>
      <vt:lpstr>Polarizacija</vt:lpstr>
      <vt:lpstr>Modelovanje zvezdanih spektara</vt:lpstr>
      <vt:lpstr>Modelovanje zvezdanih spektara</vt:lpstr>
      <vt:lpstr>Šta je, u stvari, zvezdana atmosfera?</vt:lpstr>
      <vt:lpstr>Kako dobijamo ovu strukturu?</vt:lpstr>
      <vt:lpstr>Šta je, onda, zvezdana atmosfera?</vt:lpstr>
      <vt:lpstr>PowerPoint Presentation</vt:lpstr>
      <vt:lpstr>Još par pitanja</vt:lpstr>
      <vt:lpstr>Odgovor</vt:lpstr>
      <vt:lpstr>Pitanje:</vt:lpstr>
      <vt:lpstr>Pitanje:</vt:lpstr>
      <vt:lpstr>Odgovor</vt:lpstr>
      <vt:lpstr>Za kraj uvodnog dela: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Ivan Milic</dc:creator>
  <cp:lastModifiedBy>Ivan Milic</cp:lastModifiedBy>
  <cp:revision>2029</cp:revision>
  <dcterms:created xsi:type="dcterms:W3CDTF">2021-01-12T21:16:47Z</dcterms:created>
  <dcterms:modified xsi:type="dcterms:W3CDTF">2026-10-09T09:02:32Z</dcterms:modified>
</cp:coreProperties>
</file>