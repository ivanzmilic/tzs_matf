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  <p:sldId id="279" r:id="rId26"/>
    <p:sldId id="281" r:id="rId27"/>
  </p:sldIdLst>
  <p:sldSz cx="10077450" cy="5668963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706" y="2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72F7AAE-CAA3-B627-CFFD-F34D774A713A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37" cy="502563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157D1A-175C-220A-D0A6-6395B5B57E9B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399196" y="0"/>
            <a:ext cx="3372837" cy="502563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t" anchorCtr="0" compatLnSpc="0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081BB7-1F4A-0FE7-8B85-76CEFE5CF5B9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9555480"/>
            <a:ext cx="3372837" cy="502563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b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F3F13F-A1F2-E8A1-39FB-6CE024B51326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b" anchorCtr="0" compatLnSpc="0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7BC1305-5531-4093-B95C-F614C098939D}" type="slidenum">
              <a:t>‹#›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Microsoft YaHei" pitchFamily="2"/>
              <a:cs typeface="Ari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8317791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C7421D-5BAE-5124-AC62-38B8ED9359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33515" y="764282"/>
            <a:ext cx="6704636" cy="377136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8924B1-DEBE-50BE-E6C2-228CD9B4DAFF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77240" y="4777557"/>
            <a:ext cx="6217563" cy="452592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DE3A1AD-E1B7-B720-FFB7-43A46734770C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37" cy="50256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56CEF8-0D9B-FD45-308F-B826F76D0560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399196" y="0"/>
            <a:ext cx="3372837" cy="50256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3FF69B-D495-B1EE-69EE-4597705CB1DE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9555480"/>
            <a:ext cx="3372837" cy="50256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CC2AE8-0139-A458-BCD2-694214FE27B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fld id="{8822CA3C-578F-4EFD-8353-B6287FB538B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84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5999" marR="0" lvl="0" indent="-215999" defTabSz="914400" rtl="0" fontAlgn="auto" hangingPunct="0">
      <a:lnSpc>
        <a:spcPct val="100000"/>
      </a:lnSpc>
      <a:spcBef>
        <a:spcPts val="0"/>
      </a:spcBef>
      <a:spcAft>
        <a:spcPts val="0"/>
      </a:spcAft>
      <a:buNone/>
      <a:tabLst/>
      <a:defRPr lang="en-US" sz="2000" b="0" i="0" u="none" strike="noStrike" kern="1200" cap="none" spc="0" baseline="0">
        <a:solidFill>
          <a:srgbClr val="000000"/>
        </a:solidFill>
        <a:highlight>
          <a:scrgbClr r="0" g="0" b="0">
            <a:alpha val="0"/>
          </a:scrgbClr>
        </a:highlight>
        <a:uFillTx/>
        <a:latin typeface="Liberation Sans" pitchFamily="18"/>
        <a:ea typeface="Microsoft YaHei" pitchFamily="2"/>
        <a:cs typeface="Arial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F091136C-547E-07D4-8D47-88C9FF146A88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3AB39CF-B6E4-4C7B-9EF9-61259E872E2E}" type="slidenum">
              <a:t>1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Segoe UI" pitchFamily="2"/>
              <a:cs typeface="Tahoma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3090C5D7-31A5-C806-12AB-DC0E69F3C0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08CF4D28-D39C-3F2B-2F34-BBF5BC45A15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2C427938-C516-6392-04F8-1052EC942708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E6653CE-1810-461C-947C-E3F7C25E276D}" type="slidenum">
              <a:t>2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Segoe UI" pitchFamily="2"/>
              <a:cs typeface="Tahoma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EEEE109D-196C-9FC8-9CB5-20020A41A3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9F99720D-56D2-16EB-D757-BEF57189C33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190F760A-326A-49D5-CD73-074915C29B37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3F66FE3-5A27-4604-A345-65AF3540778C}" type="slidenum">
              <a:t>3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Segoe UI" pitchFamily="2"/>
              <a:cs typeface="Tahoma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BB6B88B5-35A9-3C36-18A2-965F06EDC7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396" y="763588"/>
            <a:ext cx="6704015" cy="3771899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301BFCE5-DD6D-692F-D034-79AAF6CB9FB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82EEF224-A1D7-3DC9-2099-D2C76EC6FCBB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7F59F52-9415-4434-B4B3-901EF0913CBA}" type="slidenum">
              <a:t>4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Segoe UI" pitchFamily="2"/>
              <a:cs typeface="Tahoma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184BDD18-0895-4504-BD55-6FE4755C10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4D221277-F923-9CC7-0370-71A7EDA435F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084441D3-ADC0-6BDF-F29B-1BB4CEEA000E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B4D8434-8D46-4FF6-A0E1-BB1E6D54B2CF}" type="slidenum">
              <a:t>5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Segoe UI" pitchFamily="2"/>
              <a:cs typeface="Tahoma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46B78429-12B2-3EFD-746C-9C09F2C5D6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396" y="763588"/>
            <a:ext cx="6704015" cy="3771899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6EA23E1E-A8C6-4290-D20F-26D1D2D5750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0B3511B3-AD60-4BE8-ECD5-38B91533CD9B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87E54F5-0184-4916-9365-64E956A28208}" type="slidenum">
              <a:t>6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Segoe UI" pitchFamily="2"/>
              <a:cs typeface="Tahoma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515BCC76-F95F-44D1-BCFE-9A3EE376EF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396" y="763588"/>
            <a:ext cx="6704015" cy="3771899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4A31CDAD-0E62-19F4-2799-F41D0139105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1E980A0F-F139-66E8-E108-AEE4BFAA93EC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8FA0805-B260-40DD-BA36-613DD3BB0D7E}" type="slidenum">
              <a:t>7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Segoe UI" pitchFamily="2"/>
              <a:cs typeface="Tahoma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285EB08D-9EF5-7139-A263-BEA2398FF1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2D879AA3-B6CA-65BF-C094-6760F6F507E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8CB55B16-CE4C-BA2B-6D8F-0768B0EEF487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B95F920-720E-428C-8FCD-54965B2F1749}" type="slidenum">
              <a:t>8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Segoe UI" pitchFamily="2"/>
              <a:cs typeface="Tahoma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CF9C7346-13D7-5D28-C34F-91C004C4EE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2CA3FCE5-DF69-A773-ABFA-15D3A6C1A73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9C602157-50FF-C733-CCA8-EDA74CDE951A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07E0848-6FBA-4EE0-ACD6-39A91ACD073F}" type="slidenum">
              <a:t>9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Segoe UI" pitchFamily="2"/>
              <a:cs typeface="Tahoma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3F6981AD-38E9-337C-79FC-665A9EA60F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89EA884D-40F4-C32E-6D6E-1C36E9BBC0C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27FE2F12-68F3-B503-E585-1AC53758BBC7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BFC11C7-8255-4014-BEBD-C70DEE66CD10}" type="slidenum">
              <a:t>10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Segoe UI" pitchFamily="2"/>
              <a:cs typeface="Tahoma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5F9942C3-DB1C-A406-4149-E118549E09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2E8C04D4-606E-8E3B-0625-E000C089F56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8EFB0FD0-4679-D35F-D8BD-72DB891931E4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5C83D55-D0B0-4B00-A1B8-53AF78095256}" type="slidenum">
              <a:t>11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Segoe UI" pitchFamily="2"/>
              <a:cs typeface="Tahoma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4FD62DBB-C515-46A0-9C1C-793855D409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396" y="763588"/>
            <a:ext cx="6704015" cy="3771899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8F322D66-ADC6-5E34-0321-21B0734CBDF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44D22003-788E-20CC-9ED6-931E03679104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24324CA-6A71-446C-84E4-73BA5ED037B5}" type="slidenum">
              <a:t>12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Segoe UI" pitchFamily="2"/>
              <a:cs typeface="Tahoma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C8097565-CF31-30E6-B0E4-340041C3D6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396" y="763588"/>
            <a:ext cx="6704015" cy="3771899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271CE4CE-4E19-7604-C780-31744A087D6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7E91CE3D-07E3-668D-FEB8-2F416FC1208C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5E8A610-F85D-4078-80A1-24A68DAB8593}" type="slidenum">
              <a:t>13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Segoe UI" pitchFamily="2"/>
              <a:cs typeface="Tahoma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D4D6B125-3873-369D-EB4A-F3C69B0A54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396" y="763588"/>
            <a:ext cx="6704015" cy="3771899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3013D284-8B66-A6A9-8DA0-D78473600FF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9774AD0A-261C-BB0D-88EC-D26D32374668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4995CDA-6868-4FBB-97E3-2F3A7C6C6B6D}" type="slidenum">
              <a:t>14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Segoe UI" pitchFamily="2"/>
              <a:cs typeface="Tahoma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1543826E-2C32-1B3C-F651-47E9FD32AF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396" y="763588"/>
            <a:ext cx="6704015" cy="3771899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35F39B7C-6EF3-6901-BF5E-C6D79415455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99BB5F6E-70B2-3D48-5651-548AE6C4A36D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CAA2578-2E29-41A4-9F65-1855B9096C1D}" type="slidenum">
              <a:t>15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Segoe UI" pitchFamily="2"/>
              <a:cs typeface="Tahoma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8ADE2BA4-5266-EFA8-A847-ED8FA2B5A3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396" y="763588"/>
            <a:ext cx="6704015" cy="3771899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D67823F1-E778-A873-FF60-A41F404C28C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3E017C5F-50F6-AB1E-BBBF-F690FF6E0D9B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74A517A-A664-4C63-AA63-6E229B02A753}" type="slidenum">
              <a:t>16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Segoe UI" pitchFamily="2"/>
              <a:cs typeface="Tahoma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A85032D3-1B59-919F-9FE1-D971FAEE4A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396" y="763588"/>
            <a:ext cx="6704015" cy="3771899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9EFA8656-43E2-70E1-5F7C-62456AEBA5B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2A1D8C64-2082-8F1A-50CB-FC4B66AA593B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27C7772-01C4-470A-A7B3-2D3879211A88}" type="slidenum">
              <a:t>17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Segoe UI" pitchFamily="2"/>
              <a:cs typeface="Tahoma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F1FB1330-E48F-13B8-2273-FA3F8650CC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396" y="763588"/>
            <a:ext cx="6704015" cy="3771899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43BF7DF3-F134-F0BA-A9EE-FEA33694B5C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08E1DDBF-36C6-1EB3-EC3D-2AFFEED5A127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48A8017-13B8-45F8-9BF7-C28EC4D19066}" type="slidenum">
              <a:t>18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Segoe UI" pitchFamily="2"/>
              <a:cs typeface="Tahoma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BCF581C6-6648-1DF9-334B-0D65A41864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396" y="763588"/>
            <a:ext cx="6704015" cy="3771899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036459C8-AE6B-D606-2330-48D07A120BF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0EE248A9-3E99-E931-7A98-A2405EDA1B1E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B81DF2A-E384-43FA-BF86-011479D80D02}" type="slidenum">
              <a:t>19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Segoe UI" pitchFamily="2"/>
              <a:cs typeface="Tahoma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678F30FC-F1CC-E85B-FF96-8ABEC5F4B7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396" y="763588"/>
            <a:ext cx="6704015" cy="3771899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A0985F8B-0FC0-EF0B-EAD8-24F1EC50902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0022D20F-1BE0-512C-80F0-91490FF21683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A789EF7-E29C-4D6D-998F-89FFFD299ABF}" type="slidenum">
              <a:t>20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Segoe UI" pitchFamily="2"/>
              <a:cs typeface="Tahoma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09D68438-F76C-425A-EE04-0E505D6B4F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396" y="763588"/>
            <a:ext cx="6704015" cy="3771899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EC10E39B-19B3-3A54-0FC4-C224DA9B9A0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81096C1D-CD7E-DB32-4104-84A0AC9CB360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75FA564-27FE-445D-8539-02AB833BB651}" type="slidenum">
              <a:t>21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Segoe UI" pitchFamily="2"/>
              <a:cs typeface="Tahoma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7E4BCA65-189D-CAF4-EBA7-D07BB77282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396" y="763588"/>
            <a:ext cx="6704015" cy="3771899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0D4B8170-02A5-95E7-A234-36F6B04872A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2282BA07-0538-0175-7FD7-C75542CF1AD8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694D3C2-8436-4051-B223-767C92ABE286}" type="slidenum">
              <a:t>22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Segoe UI" pitchFamily="2"/>
              <a:cs typeface="Tahoma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37E921A3-96B8-EF38-D698-2E592AEADC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396" y="763588"/>
            <a:ext cx="6704015" cy="3771899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249D0D70-8E17-1B39-A1B5-1DEFE73949E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21E5B6E2-24DB-646B-ED2B-7B0FA5F07559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0FFEBC1-BC9D-43F1-895C-3AA5CD2CF4E3}" type="slidenum">
              <a:t>23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Segoe UI" pitchFamily="2"/>
              <a:cs typeface="Tahoma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B4A4A1B6-3072-AAA4-3C49-81D118DCE6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396" y="763588"/>
            <a:ext cx="6704015" cy="3771899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E6EF1E4C-7291-CE45-9514-27A54B061BF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2D2B9-4D0B-66CF-F25B-DC8389DAA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D22103AF-D242-4A94-D36E-B0A1AD566230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0FFEBC1-BC9D-43F1-895C-3AA5CD2CF4E3}" type="slidenum">
              <a:t>24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Segoe UI" pitchFamily="2"/>
              <a:cs typeface="Tahoma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2BA70972-2396-C726-48F0-62C67F7AB3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FFFA3731-CD65-0422-CC36-3D18AFADB5D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202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4A29DE7C-F0E3-6101-7054-4DF52EEA8284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66AFE84-C98E-40D0-B63D-C31DC866AFFD}" type="slidenum">
              <a:t>25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Segoe UI" pitchFamily="2"/>
              <a:cs typeface="Tahoma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D7968FB3-DB32-69FF-1B5F-7449B9362F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396" y="763588"/>
            <a:ext cx="6704015" cy="3771899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DC44DD51-E3A8-6613-7070-FA340C109AD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AC9B4-F622-4F8B-D403-86D779290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841EA550-95F7-660F-1CFB-17765E1F44FE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66AFE84-C98E-40D0-B63D-C31DC866AFFD}" type="slidenum">
              <a:t>26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Segoe UI" pitchFamily="2"/>
              <a:cs typeface="Tahoma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1B9D5ACF-BAD4-FA46-D345-210C7D0343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AE54BBE9-8D4C-6D75-7D29-911AD4AED59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589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592DC-A242-E741-AB66-180BCD3AE2E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260472" y="927101"/>
            <a:ext cx="7558092" cy="1974847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511A2C-7177-FC7F-1727-CB19168B533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60472" y="2978145"/>
            <a:ext cx="7558092" cy="1368427"/>
          </a:xfrm>
        </p:spPr>
        <p:txBody>
          <a:bodyPr anchorCtr="1"/>
          <a:lstStyle>
            <a:lvl1pPr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B41019-6593-0B2F-4025-5486D8769F9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F53414-32B3-DF93-2152-89A4145FE7F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D927A-8919-4FA0-BD2F-EB6633BA0EC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C20568A-A49E-4303-9EA1-4C3E96D8DAD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889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229C6-9037-2D59-6AF2-7291EFC3A24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2A1AE-74CE-85B5-E25C-4A9BB9198675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3579A-5972-FDD1-6B81-24A843EC1B6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596A5-B294-33B9-4315-20C15376D2A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AD1B4-1299-60BD-96D6-88E6A3AC670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3820E2A-D8A8-4773-ACF6-0D6BC9E145A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070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886B0-9975-8564-CB81-17B5CCAFD1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7391" y="1412876"/>
            <a:ext cx="8691564" cy="2359023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C98E63-FE62-E2A4-C613-CD12EA153C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7391" y="3794129"/>
            <a:ext cx="8691564" cy="1239834"/>
          </a:xfrm>
        </p:spPr>
        <p:txBody>
          <a:bodyPr/>
          <a:lstStyle>
            <a:lvl1pPr>
              <a:buNone/>
              <a:defRPr sz="2400">
                <a:solidFill>
                  <a:srgbClr val="76767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6A925C-AA48-4A8D-0747-39C6486CA0D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90E0FE-F7D0-9935-CD9E-89E61E55028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5FB26-6AFF-0EE1-80BC-7C77BDB2D70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01EAC66-598C-40AA-83B9-9E7E67FD4FB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679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16B7-2A4A-F1F6-E99E-4638C53F20A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DE545-271F-F1D0-2668-D59D88DDF96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276221" y="914400"/>
            <a:ext cx="4765679" cy="444659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54E194-B709-57AF-5E4C-6523A2807559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5194304" y="914400"/>
            <a:ext cx="4767260" cy="444659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48F0D6-992C-F2EE-B6AC-4258D4D4B55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111FAA-4FE3-D70C-2A38-5B03A6D2781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FBFF6D-E87D-AC7B-A20A-93062C71ACB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EA0180D-77D9-499E-819D-2315C6B1BEA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205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6C4BF-0F91-25A7-AD00-7CA075444E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01623"/>
            <a:ext cx="8691564" cy="109537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AE43ED-DC87-7E48-C313-A1CA9CB2F0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3736" y="1389065"/>
            <a:ext cx="4264020" cy="681035"/>
          </a:xfrm>
        </p:spPr>
        <p:txBody>
          <a:bodyPr anchor="b"/>
          <a:lstStyle>
            <a:lvl1pPr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A19E87-D9EE-E9F3-BA8F-5AFB019CEE52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93736" y="2070101"/>
            <a:ext cx="4264020" cy="30464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CCC135-D92A-5BC5-9E7A-6A38E1040609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5102223" y="1389065"/>
            <a:ext cx="4283077" cy="681035"/>
          </a:xfrm>
        </p:spPr>
        <p:txBody>
          <a:bodyPr anchor="b"/>
          <a:lstStyle>
            <a:lvl1pPr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59F2E3-81CA-52F9-5B65-56D7E0E197E6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5102223" y="2070101"/>
            <a:ext cx="4283077" cy="30464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ADB2E6-6613-966E-C37B-F0A46F4A9A4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3A3AC9-9ABC-83B4-4B67-04178DCA23C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176FC0-C140-4E38-04AD-94B9AA612E4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4141698-10CE-49D1-B901-2B5CF58FF42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51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CD885-80F6-CBCF-C02F-D428F49D05B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9A4244-6ED0-ADE0-6B26-2C5E97FD2CB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F01577-763B-FB16-F6D6-01C9B810E64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A55CCC-FD1C-E0DD-D921-4E13A2A772E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C395D36-D626-44F2-9AFB-EF58EBFDE3D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521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CF97BF-D324-C057-CAAE-5326D06BAFF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F86ACB-9206-6D17-6284-030DF6A6C9A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6C8DE7-7177-8ED8-6BDD-0FFCB7CA24F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8DA4B7D-86C1-4973-AC63-4225EA6FF68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58693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F6F7F-3F76-59AF-BE06-E22B6016D2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77820"/>
            <a:ext cx="3251204" cy="1322386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825AA-1DCB-A192-3FE5-2AA41073262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284658" y="815973"/>
            <a:ext cx="5100632" cy="40290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BFCC46-1669-8C41-6AFB-CA2DC159DDE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93736" y="1700217"/>
            <a:ext cx="3251204" cy="3151186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D8BF54-8235-DD3B-D346-44E1134C3B2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A852CE-5AFE-C127-73A2-95A13F36FE8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C7623A-9252-716F-2C8B-C288F864781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C6236FC-19D2-4D65-BE48-249F7F543AD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695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96516-4236-C95F-D395-B6E7FA02C5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77820"/>
            <a:ext cx="3251204" cy="1322386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1145B-3631-89FC-E880-CB925FFBE972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4284658" y="815973"/>
            <a:ext cx="5100632" cy="4029075"/>
          </a:xfrm>
        </p:spPr>
        <p:txBody>
          <a:bodyPr/>
          <a:lstStyle>
            <a:lvl1pPr>
              <a:buNone/>
              <a:defRPr sz="3200"/>
            </a:lvl1pPr>
          </a:lstStyle>
          <a:p>
            <a:pPr lvl="0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2E1172-D9D0-0E7D-0CC8-FA75385C443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93736" y="1700217"/>
            <a:ext cx="3251204" cy="3151186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D5C7D4-6C15-525D-7119-E98EA1DA0FB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E84446-3A93-DD5C-3A39-630BAF49CD1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43AA69-3D5F-961A-DE08-AAB1BAFAF5D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D834EC4-665D-4192-9ED9-127AF09F19F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615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FB7FF-604C-1B0A-6EAC-B8094825472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539D08-A04A-0085-AF83-3B7A7DD3C511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9DDE4C-23BA-D986-F778-568A30C1C86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D48BA-2455-94EF-7F30-C3832FD5889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CE90C-9B0A-BE5F-69BF-D13DD69A3F5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E8B77C2-ACDD-4FBA-91BE-EE436D1C2E9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310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67C4D8-B137-4BC7-8086-2A30E60150F5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7600950" y="80960"/>
            <a:ext cx="2439984" cy="5280029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DE4941-4456-F9E9-6B37-D4FA81F4A18C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276221" y="80960"/>
            <a:ext cx="7172325" cy="5280029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9E38A-28B3-7573-CD33-400714CFF86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8FAED-FC56-FC4B-55E1-F69917C1DE6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9804BD-76B6-49C8-E9A1-A759A2888DF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61C64E6-3D2F-4853-B44F-673ACF85E4A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801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E6B7A0-EDBB-37A6-E6DB-E285F7DB90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5403" y="81719"/>
            <a:ext cx="9675357" cy="60372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112DAB-1C6C-73F8-E22A-ED7602046E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76843" y="914043"/>
            <a:ext cx="9685443" cy="444636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lvl="0"/>
            <a:r>
              <a:rPr lang="en-US"/>
              <a:t>Click to edit the outline text format</a:t>
            </a:r>
          </a:p>
          <a:p>
            <a:pPr lvl="1"/>
            <a:r>
              <a:rPr lang="en-US"/>
              <a:t>Second Outline Level</a:t>
            </a:r>
          </a:p>
          <a:p>
            <a:pPr lvl="2"/>
            <a:r>
              <a:rPr lang="en-US"/>
              <a:t>Third Outline Level</a:t>
            </a:r>
          </a:p>
          <a:p>
            <a:pPr lvl="3"/>
            <a:r>
              <a:rPr lang="en-US"/>
              <a:t>Fourth Outline Level</a:t>
            </a:r>
          </a:p>
          <a:p>
            <a:pPr lvl="4"/>
            <a:r>
              <a:rPr lang="en-US"/>
              <a:t>Fifth Outline Level</a:t>
            </a:r>
          </a:p>
          <a:p>
            <a:pPr lvl="5"/>
            <a:r>
              <a:rPr lang="en-US"/>
              <a:t>Sixth Outline Level</a:t>
            </a:r>
          </a:p>
          <a:p>
            <a:pPr lvl="6"/>
            <a:r>
              <a:rPr lang="en-US"/>
              <a:t>Seventh Outline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B0E84-5CD9-B343-AA48-3527C7B6AEB6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287642" y="5164558"/>
            <a:ext cx="2347557" cy="39060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54DDE-9798-D365-B91B-94F8CC1C3055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5916" y="5164558"/>
            <a:ext cx="3193916" cy="39060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93E7F-26B2-1DB3-BB43-DEED0B6FE5D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9017995" y="5344558"/>
            <a:ext cx="878043" cy="25127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fld id="{BCFE03F7-0703-4269-8AE1-25C2294214CF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24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Rubik" pitchFamily="2"/>
          <a:ea typeface="Microsoft YaHei" pitchFamily="2"/>
          <a:cs typeface="Arial" pitchFamily="2"/>
        </a:defRPr>
      </a:lvl1pPr>
    </p:titleStyle>
    <p:bodyStyle>
      <a:lvl1pPr marL="0" marR="0" lvl="0" indent="0" defTabSz="914400" rtl="0" fontAlgn="auto" hangingPunct="0">
        <a:lnSpc>
          <a:spcPct val="100000"/>
        </a:lnSpc>
        <a:spcBef>
          <a:spcPts val="1700"/>
        </a:spcBef>
        <a:spcAft>
          <a:spcPts val="285"/>
        </a:spcAft>
        <a:buSzPct val="45000"/>
        <a:buFont typeface="StarSymbol"/>
        <a:buChar char="●"/>
        <a:tabLst/>
        <a:defRPr lang="en-US" sz="18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Rubik Light" pitchFamily="2"/>
          <a:ea typeface="Microsoft YaHei" pitchFamily="2"/>
          <a:cs typeface="Arial" pitchFamily="2"/>
        </a:defRPr>
      </a:lvl1pPr>
      <a:lvl2pPr marL="0" marR="0" lvl="1" indent="0" defTabSz="914400" rtl="0" fontAlgn="auto" hangingPunct="0">
        <a:lnSpc>
          <a:spcPct val="100000"/>
        </a:lnSpc>
        <a:spcBef>
          <a:spcPts val="1415"/>
        </a:spcBef>
        <a:spcAft>
          <a:spcPts val="285"/>
        </a:spcAft>
        <a:buSzPct val="75000"/>
        <a:buFont typeface="StarSymbol"/>
        <a:buChar char="–"/>
        <a:tabLst/>
        <a:defRPr lang="en-US" sz="18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Rubik Light" pitchFamily="2"/>
          <a:ea typeface="Microsoft YaHei" pitchFamily="2"/>
          <a:cs typeface="Arial" pitchFamily="2"/>
        </a:defRPr>
      </a:lvl2pPr>
      <a:lvl3pPr marL="0" marR="0" lvl="2" indent="0" defTabSz="914400" rtl="0" fontAlgn="auto" hangingPunct="0">
        <a:lnSpc>
          <a:spcPct val="100000"/>
        </a:lnSpc>
        <a:spcBef>
          <a:spcPts val="1135"/>
        </a:spcBef>
        <a:spcAft>
          <a:spcPts val="285"/>
        </a:spcAft>
        <a:buSzPct val="45000"/>
        <a:buFont typeface="StarSymbol"/>
        <a:buChar char="●"/>
        <a:tabLst/>
        <a:defRPr lang="en-US" sz="18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Rubik Light" pitchFamily="2"/>
          <a:ea typeface="Microsoft YaHei" pitchFamily="2"/>
          <a:cs typeface="Arial" pitchFamily="2"/>
        </a:defRPr>
      </a:lvl3pPr>
      <a:lvl4pPr marL="0" marR="0" lvl="3" indent="0" defTabSz="914400" rtl="0" fontAlgn="auto" hangingPunct="0">
        <a:lnSpc>
          <a:spcPct val="100000"/>
        </a:lnSpc>
        <a:spcBef>
          <a:spcPts val="850"/>
        </a:spcBef>
        <a:spcAft>
          <a:spcPts val="285"/>
        </a:spcAft>
        <a:buSzPct val="75000"/>
        <a:buFont typeface="StarSymbol"/>
        <a:buChar char="–"/>
        <a:tabLst/>
        <a:defRPr lang="en-US" sz="18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Rubik Light" pitchFamily="2"/>
          <a:ea typeface="Microsoft YaHei" pitchFamily="2"/>
          <a:cs typeface="Arial" pitchFamily="2"/>
        </a:defRPr>
      </a:lvl4pPr>
      <a:lvl5pPr marL="0" marR="0" lvl="4" indent="0" defTabSz="914400" rtl="0" fontAlgn="auto" hangingPunct="0">
        <a:lnSpc>
          <a:spcPct val="100000"/>
        </a:lnSpc>
        <a:spcBef>
          <a:spcPts val="565"/>
        </a:spcBef>
        <a:spcAft>
          <a:spcPts val="285"/>
        </a:spcAft>
        <a:buSzPct val="45000"/>
        <a:buFont typeface="StarSymbol"/>
        <a:buChar char="●"/>
        <a:tabLst/>
        <a:defRPr lang="en-US" sz="18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Rubik Light" pitchFamily="2"/>
          <a:ea typeface="Microsoft YaHei" pitchFamily="2"/>
          <a:cs typeface="Arial" pitchFamily="2"/>
        </a:defRPr>
      </a:lvl5pPr>
      <a:lvl6pPr marL="0" marR="0" lvl="5" indent="0" defTabSz="914400" rtl="0" fontAlgn="auto" hangingPunct="0">
        <a:lnSpc>
          <a:spcPct val="100000"/>
        </a:lnSpc>
        <a:spcBef>
          <a:spcPts val="565"/>
        </a:spcBef>
        <a:spcAft>
          <a:spcPts val="285"/>
        </a:spcAft>
        <a:buSzPct val="45000"/>
        <a:buFont typeface="StarSymbol"/>
        <a:buChar char="●"/>
        <a:tabLst/>
        <a:defRPr lang="en-US" sz="18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Rubik Light" pitchFamily="2"/>
          <a:ea typeface="Microsoft YaHei" pitchFamily="2"/>
          <a:cs typeface="Arial" pitchFamily="2"/>
        </a:defRPr>
      </a:lvl6pPr>
      <a:lvl7pPr marL="0" marR="0" lvl="6" indent="0" defTabSz="914400" rtl="0" fontAlgn="auto" hangingPunct="0">
        <a:lnSpc>
          <a:spcPct val="100000"/>
        </a:lnSpc>
        <a:spcBef>
          <a:spcPts val="565"/>
        </a:spcBef>
        <a:spcAft>
          <a:spcPts val="285"/>
        </a:spcAft>
        <a:buSzPct val="45000"/>
        <a:buFont typeface="StarSymbol"/>
        <a:buChar char="●"/>
        <a:tabLst/>
        <a:defRPr lang="en-US" sz="16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Rubik Light" pitchFamily="2"/>
          <a:ea typeface="Microsoft YaHei" pitchFamily="2"/>
          <a:cs typeface="Arial" pitchFamily="2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5C8DE63-9D9B-30D7-BF8F-569FE482C51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83236" y="5168161"/>
            <a:ext cx="9141119" cy="457200"/>
          </a:xfrm>
        </p:spPr>
        <p:txBody>
          <a:bodyPr anchor="ctr"/>
          <a:lstStyle/>
          <a:p>
            <a:pPr lvl="0" algn="l">
              <a:buNone/>
            </a:pPr>
            <a:r>
              <a:rPr lang="en-US" sz="2000" dirty="0">
                <a:latin typeface="Rubik" pitchFamily="18"/>
              </a:rPr>
              <a:t>06/02/2026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C1BE59-6BDD-DDB9-8316-BF4C7143EA8C}"/>
              </a:ext>
            </a:extLst>
          </p:cNvPr>
          <p:cNvSpPr txBox="1"/>
          <p:nvPr/>
        </p:nvSpPr>
        <p:spPr>
          <a:xfrm>
            <a:off x="111236" y="4668478"/>
            <a:ext cx="3935166" cy="42519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b="0" i="0" u="none" strike="noStrike" kern="1200" cap="none" spc="0" baseline="0" dirty="0">
                <a:solidFill>
                  <a:srgbClr val="000000"/>
                </a:solidFill>
                <a:uFillTx/>
                <a:latin typeface="Rubik" pitchFamily="18"/>
                <a:ea typeface="Microsoft YaHei" pitchFamily="2"/>
                <a:cs typeface="Arial" pitchFamily="2"/>
              </a:rPr>
              <a:t>Ivan Milić (AOB / KIS / MATF)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F18105-7DE7-FA3E-74A3-EE81EA0C64BE}"/>
              </a:ext>
            </a:extLst>
          </p:cNvPr>
          <p:cNvSpPr txBox="1"/>
          <p:nvPr/>
        </p:nvSpPr>
        <p:spPr>
          <a:xfrm>
            <a:off x="183236" y="3555004"/>
            <a:ext cx="9538563" cy="1107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 dirty="0" err="1"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uFillTx/>
                <a:latin typeface="Rubik" pitchFamily="18"/>
                <a:ea typeface="Microsoft YaHei" pitchFamily="2"/>
                <a:cs typeface="Arial" pitchFamily="2"/>
              </a:rPr>
              <a:t>Teorija</a:t>
            </a:r>
            <a:r>
              <a:rPr lang="en-US" sz="3200" b="0" i="0" u="none" strike="noStrike" kern="1200" cap="none" spc="0" baseline="0" dirty="0"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uFillTx/>
                <a:latin typeface="Rubik" pitchFamily="18"/>
                <a:ea typeface="Microsoft YaHei" pitchFamily="2"/>
                <a:cs typeface="Arial" pitchFamily="2"/>
              </a:rPr>
              <a:t> </a:t>
            </a:r>
            <a:r>
              <a:rPr lang="en-US" sz="3200" b="0" i="0" u="none" strike="noStrike" kern="1200" cap="none" spc="0" baseline="0" dirty="0" err="1"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uFillTx/>
                <a:latin typeface="Rubik" pitchFamily="18"/>
                <a:ea typeface="Microsoft YaHei" pitchFamily="2"/>
                <a:cs typeface="Arial" pitchFamily="2"/>
              </a:rPr>
              <a:t>Zvezdanih</a:t>
            </a:r>
            <a:r>
              <a:rPr lang="en-US" sz="3200" b="0" i="0" u="none" strike="noStrike" kern="1200" cap="none" spc="0" baseline="0" dirty="0"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uFillTx/>
                <a:latin typeface="Rubik" pitchFamily="18"/>
                <a:ea typeface="Microsoft YaHei" pitchFamily="2"/>
                <a:cs typeface="Arial" pitchFamily="2"/>
              </a:rPr>
              <a:t> </a:t>
            </a:r>
            <a:r>
              <a:rPr lang="en-US" sz="3200" b="0" i="0" u="none" strike="noStrike" kern="1200" cap="none" spc="0" baseline="0" dirty="0" err="1"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uFillTx/>
                <a:latin typeface="Rubik" pitchFamily="18"/>
                <a:ea typeface="Microsoft YaHei" pitchFamily="2"/>
                <a:cs typeface="Arial" pitchFamily="2"/>
              </a:rPr>
              <a:t>Spektara</a:t>
            </a:r>
            <a:endParaRPr lang="en-US" sz="3200" b="0" i="0" u="none" strike="noStrike" kern="1200" cap="none" spc="0" baseline="0" dirty="0">
              <a:solidFill>
                <a:srgbClr val="000000"/>
              </a:solidFill>
              <a:highlight>
                <a:scrgbClr r="0" g="0" b="0">
                  <a:alpha val="0"/>
                </a:scrgbClr>
              </a:highlight>
              <a:uFillTx/>
              <a:latin typeface="Rubik" pitchFamily="18"/>
              <a:ea typeface="Microsoft YaHei" pitchFamily="2"/>
              <a:cs typeface="Arial" pitchFamily="2"/>
            </a:endParaRPr>
          </a:p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 dirty="0" err="1"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uFillTx/>
                <a:latin typeface="Rubik" pitchFamily="18"/>
                <a:ea typeface="Microsoft YaHei" pitchFamily="2"/>
                <a:cs typeface="Arial" pitchFamily="2"/>
              </a:rPr>
              <a:t>Lekcija</a:t>
            </a:r>
            <a:r>
              <a:rPr lang="en-US" sz="3200" b="0" i="0" u="none" strike="noStrike" kern="1200" cap="none" spc="0" baseline="0" dirty="0"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uFillTx/>
                <a:latin typeface="Rubik" pitchFamily="18"/>
                <a:ea typeface="Microsoft YaHei" pitchFamily="2"/>
                <a:cs typeface="Arial" pitchFamily="2"/>
              </a:rPr>
              <a:t> 11: Ne-LTR </a:t>
            </a:r>
            <a:r>
              <a:rPr lang="en-US" sz="3200" b="0" i="0" u="none" strike="noStrike" kern="1200" cap="none" spc="0" baseline="0" dirty="0" err="1"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uFillTx/>
                <a:latin typeface="Rubik" pitchFamily="18"/>
                <a:ea typeface="Microsoft YaHei" pitchFamily="2"/>
                <a:cs typeface="Arial" pitchFamily="2"/>
              </a:rPr>
              <a:t>efekti</a:t>
            </a:r>
            <a:r>
              <a:rPr lang="en-US" sz="3200" b="0" i="0" u="none" strike="noStrike" kern="1200" cap="none" spc="0" baseline="0" dirty="0"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uFillTx/>
                <a:latin typeface="Rubik" pitchFamily="18"/>
                <a:ea typeface="Microsoft YaHei" pitchFamily="2"/>
                <a:cs typeface="Arial" pitchFamily="2"/>
              </a:rPr>
              <a:t> u </a:t>
            </a:r>
            <a:r>
              <a:rPr lang="en-US" sz="3200" b="0" i="0" u="none" strike="noStrike" kern="1200" cap="none" spc="0" baseline="0" dirty="0" err="1"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uFillTx/>
                <a:latin typeface="Rubik" pitchFamily="18"/>
                <a:ea typeface="Microsoft YaHei" pitchFamily="2"/>
                <a:cs typeface="Arial" pitchFamily="2"/>
              </a:rPr>
              <a:t>Spektralnim</a:t>
            </a:r>
            <a:r>
              <a:rPr lang="en-US" sz="3200" b="0" i="0" u="none" strike="noStrike" kern="1200" cap="none" spc="0" baseline="0" dirty="0"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uFillTx/>
                <a:latin typeface="Rubik" pitchFamily="18"/>
                <a:ea typeface="Microsoft YaHei" pitchFamily="2"/>
                <a:cs typeface="Arial" pitchFamily="2"/>
              </a:rPr>
              <a:t> </a:t>
            </a:r>
            <a:r>
              <a:rPr lang="en-US" sz="3200" b="0" i="0" u="none" strike="noStrike" kern="1200" cap="none" spc="0" baseline="0" dirty="0" err="1"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uFillTx/>
                <a:latin typeface="Rubik" pitchFamily="18"/>
                <a:ea typeface="Microsoft YaHei" pitchFamily="2"/>
                <a:cs typeface="Arial" pitchFamily="2"/>
              </a:rPr>
              <a:t>Linijama</a:t>
            </a:r>
            <a:endParaRPr lang="en-US" sz="3200" b="0" i="0" u="none" strike="noStrike" kern="1200" cap="none" spc="0" baseline="0" dirty="0">
              <a:solidFill>
                <a:srgbClr val="000000"/>
              </a:solidFill>
              <a:highlight>
                <a:scrgbClr r="0" g="0" b="0">
                  <a:alpha val="0"/>
                </a:scrgbClr>
              </a:highlight>
              <a:uFillTx/>
              <a:latin typeface="Rubik" pitchFamily="18"/>
              <a:ea typeface="Microsoft YaHei" pitchFamily="2"/>
              <a:cs typeface="Arial" pitchFamily="2"/>
            </a:endParaRPr>
          </a:p>
        </p:txBody>
      </p:sp>
      <p:pic>
        <p:nvPicPr>
          <p:cNvPr id="5" name="">
            <a:extLst>
              <a:ext uri="{FF2B5EF4-FFF2-40B4-BE49-F238E27FC236}">
                <a16:creationId xmlns:a16="http://schemas.microsoft.com/office/drawing/2014/main" id="{84816965-5694-DAEE-1BC0-B20D0FF6AF5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8109712" y="2834481"/>
            <a:ext cx="1286865" cy="125878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">
            <a:extLst>
              <a:ext uri="{FF2B5EF4-FFF2-40B4-BE49-F238E27FC236}">
                <a16:creationId xmlns:a16="http://schemas.microsoft.com/office/drawing/2014/main" id="{51D30B4A-B413-1FB7-B0C9-E66FFA6BF05C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7613543" y="-177119"/>
            <a:ext cx="2304361" cy="172836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">
            <a:extLst>
              <a:ext uri="{FF2B5EF4-FFF2-40B4-BE49-F238E27FC236}">
                <a16:creationId xmlns:a16="http://schemas.microsoft.com/office/drawing/2014/main" id="{A0771040-D8A7-3EBF-D205-D0B71B1C4385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1776962" y="13322"/>
            <a:ext cx="3718444" cy="364427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3D2F9F-460A-E60F-A4BB-5030FB5A4C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8749" y="1343025"/>
            <a:ext cx="1543050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9B594-808D-DAF5-BD1D-8C54AE96774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>
            <a:spAutoFit/>
          </a:bodyPr>
          <a:lstStyle/>
          <a:p>
            <a:pPr lvl="0"/>
            <a:r>
              <a:rPr lang="en-US"/>
              <a:t>Podsetnik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494835-983A-BD86-5A79-5791F379964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/>
              <a:t>Koeficijenti emisije i apsorpcije u spektralnoj liniji izgledaju ovako: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FCAF5698-310A-D582-F4FC-6A0BC6CE314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771637" y="2175476"/>
            <a:ext cx="4533476" cy="166643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C96FCB-3E5A-11D8-DB6D-36BD8F627A85}"/>
              </a:ext>
            </a:extLst>
          </p:cNvPr>
          <p:cNvSpPr txBox="1"/>
          <p:nvPr/>
        </p:nvSpPr>
        <p:spPr>
          <a:xfrm>
            <a:off x="3886200" y="4310280"/>
            <a:ext cx="1828800" cy="1161717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Populacija donjeg nivoa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8DB003-8C6B-385E-3A14-463659EB07CD}"/>
              </a:ext>
            </a:extLst>
          </p:cNvPr>
          <p:cNvSpPr txBox="1"/>
          <p:nvPr/>
        </p:nvSpPr>
        <p:spPr>
          <a:xfrm>
            <a:off x="276843" y="2038682"/>
            <a:ext cx="1828800" cy="1161717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Populacija gornjeg nivoa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B3FCDB-6CA5-B949-A160-0CB93E76CF92}"/>
              </a:ext>
            </a:extLst>
          </p:cNvPr>
          <p:cNvSpPr txBox="1"/>
          <p:nvPr/>
        </p:nvSpPr>
        <p:spPr>
          <a:xfrm>
            <a:off x="276843" y="2039038"/>
            <a:ext cx="1780556" cy="704161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Populacija gornjeg nivoa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FAF8A2-AB84-1F8A-E7E1-220CFF05EC29}"/>
              </a:ext>
            </a:extLst>
          </p:cNvPr>
          <p:cNvSpPr txBox="1"/>
          <p:nvPr/>
        </p:nvSpPr>
        <p:spPr>
          <a:xfrm>
            <a:off x="5943600" y="1594439"/>
            <a:ext cx="1780556" cy="704161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Einstein-ovi koeficijenti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E66FC9-B762-7796-5199-EFC68D251FF1}"/>
              </a:ext>
            </a:extLst>
          </p:cNvPr>
          <p:cNvSpPr txBox="1"/>
          <p:nvPr/>
        </p:nvSpPr>
        <p:spPr>
          <a:xfrm>
            <a:off x="7491596" y="2566437"/>
            <a:ext cx="1780556" cy="1176119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Apsorpcioni profil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ADC532AE-AB7B-AEC3-B27C-1F9523E4C839}"/>
              </a:ext>
            </a:extLst>
          </p:cNvPr>
          <p:cNvSpPr/>
          <p:nvPr/>
        </p:nvSpPr>
        <p:spPr>
          <a:xfrm>
            <a:off x="1600200" y="2286000"/>
            <a:ext cx="2057400" cy="2286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0" cap="flat">
            <a:solidFill>
              <a:srgbClr val="3465A4"/>
            </a:solidFill>
            <a:prstDash val="solid"/>
            <a:miter/>
            <a:tailEnd type="arrow"/>
          </a:ln>
        </p:spPr>
        <p:txBody>
          <a:bodyPr vert="horz" wrap="non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42B32794-A0B8-A98B-474A-4230B193B09B}"/>
              </a:ext>
            </a:extLst>
          </p:cNvPr>
          <p:cNvSpPr/>
          <p:nvPr/>
        </p:nvSpPr>
        <p:spPr>
          <a:xfrm flipH="1" flipV="1">
            <a:off x="4114800" y="3886200"/>
            <a:ext cx="228600" cy="4572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0" cap="flat">
            <a:solidFill>
              <a:srgbClr val="3465A4"/>
            </a:solidFill>
            <a:prstDash val="solid"/>
            <a:miter/>
            <a:tailEnd type="arrow"/>
          </a:ln>
        </p:spPr>
        <p:txBody>
          <a:bodyPr vert="horz" wrap="non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93364E98-3DB2-B468-C323-D7751DFF19AA}"/>
              </a:ext>
            </a:extLst>
          </p:cNvPr>
          <p:cNvSpPr/>
          <p:nvPr/>
        </p:nvSpPr>
        <p:spPr>
          <a:xfrm flipH="1">
            <a:off x="7305123" y="2971800"/>
            <a:ext cx="238676" cy="4572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0" cap="flat">
            <a:solidFill>
              <a:srgbClr val="3465A4"/>
            </a:solidFill>
            <a:prstDash val="solid"/>
            <a:miter/>
            <a:tailEnd type="arrow"/>
          </a:ln>
        </p:spPr>
        <p:txBody>
          <a:bodyPr vert="horz" wrap="non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296FC485-2422-C755-23DE-E836C57AAEF1}"/>
              </a:ext>
            </a:extLst>
          </p:cNvPr>
          <p:cNvSpPr/>
          <p:nvPr/>
        </p:nvSpPr>
        <p:spPr>
          <a:xfrm flipH="1" flipV="1">
            <a:off x="5715000" y="2514600"/>
            <a:ext cx="1776596" cy="2286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0" cap="flat">
            <a:solidFill>
              <a:srgbClr val="3465A4"/>
            </a:solidFill>
            <a:prstDash val="solid"/>
            <a:miter/>
            <a:tailEnd type="arrow"/>
          </a:ln>
        </p:spPr>
        <p:txBody>
          <a:bodyPr vert="horz" wrap="non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68F86D9B-0FAB-C692-CDC3-2EF7B42D571E}"/>
              </a:ext>
            </a:extLst>
          </p:cNvPr>
          <p:cNvSpPr/>
          <p:nvPr/>
        </p:nvSpPr>
        <p:spPr>
          <a:xfrm flipH="1">
            <a:off x="5943600" y="2175476"/>
            <a:ext cx="457200" cy="125352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0" cap="flat">
            <a:solidFill>
              <a:srgbClr val="3465A4"/>
            </a:solidFill>
            <a:prstDash val="solid"/>
            <a:miter/>
            <a:tailEnd type="arrow"/>
          </a:ln>
        </p:spPr>
        <p:txBody>
          <a:bodyPr vert="horz" wrap="non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81C35E2F-88A2-921D-C23E-B24FA8EC8CC7}"/>
              </a:ext>
            </a:extLst>
          </p:cNvPr>
          <p:cNvSpPr/>
          <p:nvPr/>
        </p:nvSpPr>
        <p:spPr>
          <a:xfrm flipH="1">
            <a:off x="4572000" y="2175476"/>
            <a:ext cx="1600200" cy="125352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0" cap="flat">
            <a:solidFill>
              <a:srgbClr val="3465A4"/>
            </a:solidFill>
            <a:prstDash val="solid"/>
            <a:miter/>
            <a:tailEnd type="arrow"/>
          </a:ln>
        </p:spPr>
        <p:txBody>
          <a:bodyPr vert="horz" wrap="non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E94CD48D-D8B7-DC86-244E-FD1EDEDC7995}"/>
              </a:ext>
            </a:extLst>
          </p:cNvPr>
          <p:cNvSpPr/>
          <p:nvPr/>
        </p:nvSpPr>
        <p:spPr>
          <a:xfrm flipH="1">
            <a:off x="4343400" y="1828800"/>
            <a:ext cx="1600200" cy="6858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0" cap="flat">
            <a:solidFill>
              <a:srgbClr val="3465A4"/>
            </a:solidFill>
            <a:prstDash val="solid"/>
            <a:miter/>
            <a:tailEnd type="arrow"/>
          </a:ln>
        </p:spPr>
        <p:txBody>
          <a:bodyPr vert="horz" wrap="non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A5CCDA-0C24-C00B-BB14-264F95A39EAE}"/>
              </a:ext>
            </a:extLst>
          </p:cNvPr>
          <p:cNvSpPr txBox="1"/>
          <p:nvPr/>
        </p:nvSpPr>
        <p:spPr>
          <a:xfrm>
            <a:off x="276842" y="4114800"/>
            <a:ext cx="3070791" cy="904679"/>
          </a:xfrm>
          <a:prstGeom prst="rect">
            <a:avLst/>
          </a:prstGeom>
          <a:noFill/>
          <a:ln w="0" cap="flat">
            <a:solidFill>
              <a:srgbClr val="3465A4"/>
            </a:solidFill>
            <a:prstDash val="solid"/>
            <a:miter/>
          </a:ln>
        </p:spPr>
        <p:txBody>
          <a:bodyPr vert="horz" wrap="square" lIns="90004" tIns="44997" rIns="90004" bIns="44997" anchor="t" anchorCtr="1" compatLnSpc="0">
            <a:sp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Danas pričamo o populacijama donjeg i (pogotovo) gornjeg nivoa!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71DF1-5AD1-6A69-0F32-A273D698722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Zašto “pogotovo gornjeg?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7CC917-73A1-20EF-A556-F24B56431F1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/>
              <a:t>Funkcija izvora u liniji: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/>
              <a:t>Ako pretpostavimo da stimulisana emisija može biti zanemarena: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  <a:p>
            <a:pPr lvl="0" algn="l">
              <a:spcBef>
                <a:spcPts val="0"/>
              </a:spcBef>
              <a:spcAft>
                <a:spcPts val="1580"/>
              </a:spcAft>
            </a:pPr>
            <a:r>
              <a:rPr lang="en-US"/>
              <a:t>Sada, ako pretpostavimo da je broj atoma u stanju </a:t>
            </a:r>
            <a:r>
              <a:rPr lang="en-US" i="1"/>
              <a:t>l</a:t>
            </a:r>
            <a:r>
              <a:rPr lang="en-US"/>
              <a:t> mnogo veći od broja atoma u stanju </a:t>
            </a:r>
            <a:r>
              <a:rPr lang="en-US" i="1"/>
              <a:t>u, </a:t>
            </a:r>
            <a:r>
              <a:rPr lang="en-US"/>
              <a:t>onda je n</a:t>
            </a:r>
            <a:r>
              <a:rPr lang="en-US" baseline="-33000"/>
              <a:t>l</a:t>
            </a:r>
            <a:r>
              <a:rPr lang="en-US"/>
              <a:t> ~ n</a:t>
            </a:r>
            <a:r>
              <a:rPr lang="en-US" baseline="-33000"/>
              <a:t>tot</a:t>
            </a:r>
            <a:r>
              <a:rPr lang="en-US"/>
              <a:t>, pa funkcija izvora zavisi samo od n</a:t>
            </a:r>
            <a:r>
              <a:rPr lang="en-US" baseline="-33000"/>
              <a:t>u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E6C07BC4-E71F-1084-7860-4C4A2B59B74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889802" y="1229758"/>
            <a:ext cx="2296799" cy="71280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">
            <a:extLst>
              <a:ext uri="{FF2B5EF4-FFF2-40B4-BE49-F238E27FC236}">
                <a16:creationId xmlns:a16="http://schemas.microsoft.com/office/drawing/2014/main" id="{E49AAACD-BA32-A62E-5977-DA2EF80CBAB2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4009680" y="3040562"/>
            <a:ext cx="2057043" cy="888120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71E1C-F29F-1782-2DA4-148D52813F7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Podsetnik – koherentno rasejanje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CFCFDA-2E53-18C7-5C32-D0049C9F9CB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>
            <a:normAutofit lnSpcReduction="10000"/>
          </a:bodyPr>
          <a:lstStyle/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/>
              <a:t>U Ne-LTR smo pretpostavili da funkcija izvora ima Plankovski deo i deo sa rasejanjem (ove dve formulacije su ekvivalentne, što ćemo pokazati uskoro)</a:t>
            </a: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/>
              <a:t>Ovde smo definisali epsilon kao </a:t>
            </a:r>
            <a:r>
              <a:rPr lang="en-US" b="1"/>
              <a:t>verovatnoću stvarne apsorpcije (termalizacije) fotona.</a:t>
            </a:r>
          </a:p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/>
              <a:t>U rasejanju u spektralnim linijama to će biti: 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/>
              <a:t>Gde C označava sudarnu (foton pretvoren u termalnu energiju) a A (foton nastavlja dalje) radijativnu de-ekscitaciju.</a:t>
            </a:r>
          </a:p>
        </p:txBody>
      </p:sp>
      <p:grpSp>
        <p:nvGrpSpPr>
          <p:cNvPr id="4" name="Group 3" descr="28§display§S_\lambda = \epsilon B_\lambda + (1-\epsilon) J_\lambda§svg§600§FALSE§" title="TexMaths">
            <a:extLst>
              <a:ext uri="{FF2B5EF4-FFF2-40B4-BE49-F238E27FC236}">
                <a16:creationId xmlns:a16="http://schemas.microsoft.com/office/drawing/2014/main" id="{1D668A12-4793-FA47-1DB4-7981DC0E9C6A}"/>
              </a:ext>
            </a:extLst>
          </p:cNvPr>
          <p:cNvGrpSpPr/>
          <p:nvPr/>
        </p:nvGrpSpPr>
        <p:grpSpPr>
          <a:xfrm>
            <a:off x="3404155" y="1854723"/>
            <a:ext cx="3267727" cy="352437"/>
            <a:chOff x="3404155" y="1854723"/>
            <a:chExt cx="3267727" cy="35243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8D08D23-A77A-DBFB-08F8-F289C1BE8DDA}"/>
                </a:ext>
              </a:extLst>
            </p:cNvPr>
            <p:cNvGrpSpPr/>
            <p:nvPr/>
          </p:nvGrpSpPr>
          <p:grpSpPr>
            <a:xfrm>
              <a:off x="3404155" y="1854723"/>
              <a:ext cx="3267727" cy="352437"/>
              <a:chOff x="3404155" y="1854723"/>
              <a:chExt cx="3267727" cy="352437"/>
            </a:xfrm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3D4D6DAB-76D7-17F0-2479-C9C890AD15C6}"/>
                  </a:ext>
                </a:extLst>
              </p:cNvPr>
              <p:cNvSpPr/>
              <p:nvPr/>
            </p:nvSpPr>
            <p:spPr>
              <a:xfrm>
                <a:off x="3404155" y="1872718"/>
                <a:ext cx="3249722" cy="316437"/>
              </a:xfrm>
              <a:custGeom>
                <a:avLst/>
                <a:gdLst>
                  <a:gd name="f0" fmla="val w"/>
                  <a:gd name="f1" fmla="val h"/>
                  <a:gd name="f2" fmla="val 0"/>
                  <a:gd name="f3" fmla="val 9028"/>
                  <a:gd name="f4" fmla="val 880"/>
                  <a:gd name="f5" fmla="val 4515"/>
                  <a:gd name="f6" fmla="val 3010"/>
                  <a:gd name="f7" fmla="val 1505"/>
                  <a:gd name="f8" fmla="val 586"/>
                  <a:gd name="f9" fmla="val 293"/>
                  <a:gd name="f10" fmla="val 3009"/>
                  <a:gd name="f11" fmla="val 6018"/>
                  <a:gd name="f12" fmla="val 7524"/>
                  <a:gd name="f13" fmla="val 6019"/>
                  <a:gd name="f14" fmla="*/ f0 1 9028"/>
                  <a:gd name="f15" fmla="*/ f1 1 880"/>
                  <a:gd name="f16" fmla="val f2"/>
                  <a:gd name="f17" fmla="val f3"/>
                  <a:gd name="f18" fmla="val f4"/>
                  <a:gd name="f19" fmla="+- f18 0 f16"/>
                  <a:gd name="f20" fmla="+- f17 0 f16"/>
                  <a:gd name="f21" fmla="*/ f20 1 9028"/>
                  <a:gd name="f22" fmla="*/ f19 1 880"/>
                  <a:gd name="f23" fmla="*/ f16 1 f21"/>
                  <a:gd name="f24" fmla="*/ f17 1 f21"/>
                  <a:gd name="f25" fmla="*/ f16 1 f22"/>
                  <a:gd name="f26" fmla="*/ f18 1 f22"/>
                  <a:gd name="f27" fmla="*/ f23 f14 1"/>
                  <a:gd name="f28" fmla="*/ f24 f14 1"/>
                  <a:gd name="f29" fmla="*/ f26 f15 1"/>
                  <a:gd name="f30" fmla="*/ f25 f15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7" t="f30" r="f28" b="f29"/>
                <a:pathLst>
                  <a:path w="9028" h="880">
                    <a:moveTo>
                      <a:pt x="f5" y="f4"/>
                    </a:moveTo>
                    <a:cubicBezTo>
                      <a:pt x="f6" y="f4"/>
                      <a:pt x="f7" y="f4"/>
                      <a:pt x="f2" y="f4"/>
                    </a:cubicBezTo>
                    <a:cubicBezTo>
                      <a:pt x="f2" y="f8"/>
                      <a:pt x="f2" y="f9"/>
                      <a:pt x="f2" y="f2"/>
                    </a:cubicBezTo>
                    <a:cubicBezTo>
                      <a:pt x="f10" y="f2"/>
                      <a:pt x="f11" y="f2"/>
                      <a:pt x="f3" y="f2"/>
                    </a:cubicBezTo>
                    <a:cubicBezTo>
                      <a:pt x="f3" y="f9"/>
                      <a:pt x="f3" y="f8"/>
                      <a:pt x="f3" y="f4"/>
                    </a:cubicBezTo>
                    <a:cubicBezTo>
                      <a:pt x="f12" y="f4"/>
                      <a:pt x="f13" y="f4"/>
                      <a:pt x="f5" y="f4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none" lIns="90004" tIns="44997" rIns="90004" bIns="44997" anchor="ctr" anchorCtr="1" compatLnSpc="0">
                <a:noAutofit/>
              </a:bodyPr>
              <a:lstStyle/>
              <a:p>
                <a:pPr marL="0" marR="0" lvl="0" indent="0" algn="l" defTabSz="914400" rtl="0" fontAlgn="auto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5E48505B-6B30-A522-E537-FAD0DB99F362}"/>
                  </a:ext>
                </a:extLst>
              </p:cNvPr>
              <p:cNvSpPr/>
              <p:nvPr/>
            </p:nvSpPr>
            <p:spPr>
              <a:xfrm>
                <a:off x="3404155" y="1870917"/>
                <a:ext cx="210238" cy="255958"/>
              </a:xfrm>
              <a:custGeom>
                <a:avLst/>
                <a:gdLst>
                  <a:gd name="f0" fmla="val 360"/>
                  <a:gd name="f1" fmla="val w"/>
                  <a:gd name="f2" fmla="val h"/>
                  <a:gd name="f3" fmla="val 0"/>
                  <a:gd name="f4" fmla="val 585"/>
                  <a:gd name="f5" fmla="val 712"/>
                  <a:gd name="f6" fmla="val 8"/>
                  <a:gd name="f7" fmla="val 6"/>
                  <a:gd name="f8" fmla="val 582"/>
                  <a:gd name="f9" fmla="val 574"/>
                  <a:gd name="f10" fmla="val 568"/>
                  <a:gd name="f11" fmla="val 557"/>
                  <a:gd name="f12" fmla="val 14"/>
                  <a:gd name="f13" fmla="val 541"/>
                  <a:gd name="f14" fmla="val 33"/>
                  <a:gd name="f15" fmla="val 525"/>
                  <a:gd name="f16" fmla="val 51"/>
                  <a:gd name="f17" fmla="val 509"/>
                  <a:gd name="f18" fmla="val 70"/>
                  <a:gd name="f19" fmla="val 484"/>
                  <a:gd name="f20" fmla="val 25"/>
                  <a:gd name="f21" fmla="val 431"/>
                  <a:gd name="f22" fmla="val 370"/>
                  <a:gd name="f23" fmla="val 244"/>
                  <a:gd name="f24" fmla="val 126"/>
                  <a:gd name="f25" fmla="val 112"/>
                  <a:gd name="f26" fmla="val 232"/>
                  <a:gd name="f27" fmla="val 310"/>
                  <a:gd name="f28" fmla="val 176"/>
                  <a:gd name="f29" fmla="val 355"/>
                  <a:gd name="f30" fmla="val 227"/>
                  <a:gd name="f31" fmla="val 371"/>
                  <a:gd name="f32" fmla="val 262"/>
                  <a:gd name="f33" fmla="val 380"/>
                  <a:gd name="f34" fmla="val 298"/>
                  <a:gd name="f35" fmla="val 388"/>
                  <a:gd name="f36" fmla="val 333"/>
                  <a:gd name="f37" fmla="val 397"/>
                  <a:gd name="f38" fmla="val 405"/>
                  <a:gd name="f39" fmla="val 423"/>
                  <a:gd name="f40" fmla="val 422"/>
                  <a:gd name="f41" fmla="val 500"/>
                  <a:gd name="f42" fmla="val 589"/>
                  <a:gd name="f43" fmla="val 342"/>
                  <a:gd name="f44" fmla="val 681"/>
                  <a:gd name="f45" fmla="val 246"/>
                  <a:gd name="f46" fmla="val 185"/>
                  <a:gd name="f47" fmla="val 76"/>
                  <a:gd name="f48" fmla="val 659"/>
                  <a:gd name="f49" fmla="val 539"/>
                  <a:gd name="f50" fmla="val 514"/>
                  <a:gd name="f51" fmla="val 78"/>
                  <a:gd name="f52" fmla="val 491"/>
                  <a:gd name="f53" fmla="val 81"/>
                  <a:gd name="f54" fmla="val 486"/>
                  <a:gd name="f55" fmla="val 480"/>
                  <a:gd name="f56" fmla="val 478"/>
                  <a:gd name="f57" fmla="val 469"/>
                  <a:gd name="f58" fmla="val 64"/>
                  <a:gd name="f59" fmla="val 65"/>
                  <a:gd name="f60" fmla="val 470"/>
                  <a:gd name="f61" fmla="val 62"/>
                  <a:gd name="f62" fmla="val 472"/>
                  <a:gd name="f63" fmla="val 56"/>
                  <a:gd name="f64" fmla="val 475"/>
                  <a:gd name="f65" fmla="val 698"/>
                  <a:gd name="f66" fmla="val 701"/>
                  <a:gd name="f67" fmla="val 707"/>
                  <a:gd name="f68" fmla="val 11"/>
                  <a:gd name="f69" fmla="val 17"/>
                  <a:gd name="f70" fmla="val 31"/>
                  <a:gd name="f71" fmla="val 47"/>
                  <a:gd name="f72" fmla="val 680"/>
                  <a:gd name="f73" fmla="val 63"/>
                  <a:gd name="f74" fmla="val 661"/>
                  <a:gd name="f75" fmla="val 642"/>
                  <a:gd name="f76" fmla="val 120"/>
                  <a:gd name="f77" fmla="val 188"/>
                  <a:gd name="f78" fmla="val 378"/>
                  <a:gd name="f79" fmla="val 495"/>
                  <a:gd name="f80" fmla="val 581"/>
                  <a:gd name="f81" fmla="val 461"/>
                  <a:gd name="f82" fmla="val 394"/>
                  <a:gd name="f83" fmla="val 462"/>
                  <a:gd name="f84" fmla="val 445"/>
                  <a:gd name="f85" fmla="val 346"/>
                  <a:gd name="f86" fmla="val 324"/>
                  <a:gd name="f87" fmla="val 409"/>
                  <a:gd name="f88" fmla="val 318"/>
                  <a:gd name="f89" fmla="val 322"/>
                  <a:gd name="f90" fmla="val 296"/>
                  <a:gd name="f91" fmla="val 300"/>
                  <a:gd name="f92" fmla="val 290"/>
                  <a:gd name="f93" fmla="val 263"/>
                  <a:gd name="f94" fmla="val 282"/>
                  <a:gd name="f95" fmla="val 255"/>
                  <a:gd name="f96" fmla="val 279"/>
                  <a:gd name="f97" fmla="val 230"/>
                  <a:gd name="f98" fmla="val 271"/>
                  <a:gd name="f99" fmla="val 196"/>
                  <a:gd name="f100" fmla="val 243"/>
                  <a:gd name="f101" fmla="val 190"/>
                  <a:gd name="f102" fmla="val 274"/>
                  <a:gd name="f103" fmla="val 28"/>
                  <a:gd name="f104" fmla="val 367"/>
                  <a:gd name="f105" fmla="val 448"/>
                  <a:gd name="f106" fmla="val 179"/>
                  <a:gd name="f107" fmla="val 209"/>
                  <a:gd name="f108" fmla="val 504"/>
                  <a:gd name="f109" fmla="val 229"/>
                  <a:gd name="f110" fmla="val 235"/>
                  <a:gd name="f111" fmla="val 237"/>
                  <a:gd name="f112" fmla="val 518"/>
                  <a:gd name="f113" fmla="val 526"/>
                  <a:gd name="f114" fmla="val 240"/>
                  <a:gd name="f115" fmla="val 532"/>
                  <a:gd name="f116" fmla="val 223"/>
                  <a:gd name="f117" fmla="val 550"/>
                  <a:gd name="f118" fmla="val 152"/>
                  <a:gd name="f119" fmla="val 567"/>
                  <a:gd name="f120" fmla="val 80"/>
                  <a:gd name="f121" fmla="*/ f1 1 585"/>
                  <a:gd name="f122" fmla="*/ f2 1 712"/>
                  <a:gd name="f123" fmla="val f3"/>
                  <a:gd name="f124" fmla="val f4"/>
                  <a:gd name="f125" fmla="val f5"/>
                  <a:gd name="f126" fmla="+- f125 0 f123"/>
                  <a:gd name="f127" fmla="+- f124 0 f123"/>
                  <a:gd name="f128" fmla="*/ f127 1 585"/>
                  <a:gd name="f129" fmla="*/ f126 1 712"/>
                  <a:gd name="f130" fmla="*/ f123 1 f128"/>
                  <a:gd name="f131" fmla="*/ f124 1 f128"/>
                  <a:gd name="f132" fmla="*/ f123 1 f129"/>
                  <a:gd name="f133" fmla="*/ f125 1 f129"/>
                  <a:gd name="f134" fmla="*/ f130 f121 1"/>
                  <a:gd name="f135" fmla="*/ f131 f121 1"/>
                  <a:gd name="f136" fmla="*/ f133 f122 1"/>
                  <a:gd name="f137" fmla="*/ f132 f122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134" t="f137" r="f135" b="f136"/>
                <a:pathLst>
                  <a:path w="585" h="712">
                    <a:moveTo>
                      <a:pt x="f4" y="f6"/>
                    </a:moveTo>
                    <a:cubicBezTo>
                      <a:pt x="f4" y="f7"/>
                      <a:pt x="f8" y="f3"/>
                      <a:pt x="f9" y="f3"/>
                    </a:cubicBezTo>
                    <a:cubicBezTo>
                      <a:pt x="f10" y="f3"/>
                      <a:pt x="f10" y="f3"/>
                      <a:pt x="f11" y="f12"/>
                    </a:cubicBezTo>
                    <a:cubicBezTo>
                      <a:pt x="f13" y="f14"/>
                      <a:pt x="f15" y="f16"/>
                      <a:pt x="f17" y="f18"/>
                    </a:cubicBezTo>
                    <a:cubicBezTo>
                      <a:pt x="f19" y="f20"/>
                      <a:pt x="f21" y="f3"/>
                      <a:pt x="f22" y="f3"/>
                    </a:cubicBezTo>
                    <a:cubicBezTo>
                      <a:pt x="f23" y="f3"/>
                      <a:pt x="f24" y="f25"/>
                      <a:pt x="f24" y="f26"/>
                    </a:cubicBezTo>
                    <a:cubicBezTo>
                      <a:pt x="f24" y="f27"/>
                      <a:pt x="f28" y="f29"/>
                      <a:pt x="f30" y="f31"/>
                    </a:cubicBezTo>
                    <a:cubicBezTo>
                      <a:pt x="f32" y="f33"/>
                      <a:pt x="f34" y="f35"/>
                      <a:pt x="f36" y="f37"/>
                    </a:cubicBezTo>
                    <a:cubicBezTo>
                      <a:pt x="f22" y="f38"/>
                      <a:pt x="f39" y="f40"/>
                      <a:pt x="f39" y="f41"/>
                    </a:cubicBezTo>
                    <a:cubicBezTo>
                      <a:pt x="f39" y="f42"/>
                      <a:pt x="f43" y="f44"/>
                      <a:pt x="f45" y="f44"/>
                    </a:cubicBezTo>
                    <a:cubicBezTo>
                      <a:pt x="f46" y="f44"/>
                      <a:pt x="f47" y="f48"/>
                      <a:pt x="f47" y="f49"/>
                    </a:cubicBezTo>
                    <a:cubicBezTo>
                      <a:pt x="f47" y="f50"/>
                      <a:pt x="f51" y="f52"/>
                      <a:pt x="f53" y="f54"/>
                    </a:cubicBezTo>
                    <a:cubicBezTo>
                      <a:pt x="f53" y="f55"/>
                      <a:pt x="f53" y="f55"/>
                      <a:pt x="f53" y="f56"/>
                    </a:cubicBezTo>
                    <a:cubicBezTo>
                      <a:pt x="f53" y="f57"/>
                      <a:pt x="f47" y="f57"/>
                      <a:pt x="f18" y="f57"/>
                    </a:cubicBezTo>
                    <a:cubicBezTo>
                      <a:pt x="f58" y="f57"/>
                      <a:pt x="f59" y="f60"/>
                      <a:pt x="f61" y="f62"/>
                    </a:cubicBezTo>
                    <a:cubicBezTo>
                      <a:pt x="f63" y="f64"/>
                      <a:pt x="f3" y="f65"/>
                      <a:pt x="f3" y="f66"/>
                    </a:cubicBezTo>
                    <a:cubicBezTo>
                      <a:pt x="f3" y="f67"/>
                      <a:pt x="f7" y="f5"/>
                      <a:pt x="f68" y="f5"/>
                    </a:cubicBezTo>
                    <a:cubicBezTo>
                      <a:pt x="f69" y="f5"/>
                      <a:pt x="f69" y="f5"/>
                      <a:pt x="f70" y="f65"/>
                    </a:cubicBezTo>
                    <a:cubicBezTo>
                      <a:pt x="f71" y="f72"/>
                      <a:pt x="f73" y="f74"/>
                      <a:pt x="f51" y="f75"/>
                    </a:cubicBezTo>
                    <a:cubicBezTo>
                      <a:pt x="f76" y="f65"/>
                      <a:pt x="f77" y="f5"/>
                      <a:pt x="f23" y="f5"/>
                    </a:cubicBezTo>
                    <a:cubicBezTo>
                      <a:pt x="f78" y="f5"/>
                      <a:pt x="f79" y="f80"/>
                      <a:pt x="f79" y="f81"/>
                    </a:cubicBezTo>
                    <a:cubicBezTo>
                      <a:pt x="f79" y="f82"/>
                      <a:pt x="f83" y="f0"/>
                      <a:pt x="f84" y="f85"/>
                    </a:cubicBezTo>
                    <a:cubicBezTo>
                      <a:pt x="f39" y="f86"/>
                      <a:pt x="f87" y="f88"/>
                      <a:pt x="f89" y="f90"/>
                    </a:cubicBezTo>
                    <a:cubicBezTo>
                      <a:pt x="f91" y="f92"/>
                      <a:pt x="f93" y="f94"/>
                      <a:pt x="f95" y="f96"/>
                    </a:cubicBezTo>
                    <a:cubicBezTo>
                      <a:pt x="f97" y="f98"/>
                      <a:pt x="f99" y="f100"/>
                      <a:pt x="f99" y="f101"/>
                    </a:cubicBezTo>
                    <a:cubicBezTo>
                      <a:pt x="f99" y="f25"/>
                      <a:pt x="f102" y="f103"/>
                      <a:pt x="f104" y="f103"/>
                    </a:cubicBezTo>
                    <a:cubicBezTo>
                      <a:pt x="f105" y="f103"/>
                      <a:pt x="f17" y="f18"/>
                      <a:pt x="f17" y="f106"/>
                    </a:cubicBezTo>
                    <a:cubicBezTo>
                      <a:pt x="f17" y="f107"/>
                      <a:pt x="f108" y="f109"/>
                      <a:pt x="f108" y="f110"/>
                    </a:cubicBezTo>
                    <a:cubicBezTo>
                      <a:pt x="f17" y="f111"/>
                      <a:pt x="f108" y="f100"/>
                      <a:pt x="f112" y="f100"/>
                    </a:cubicBezTo>
                    <a:cubicBezTo>
                      <a:pt x="f113" y="f100"/>
                      <a:pt x="f113" y="f114"/>
                      <a:pt x="f115" y="f116"/>
                    </a:cubicBezTo>
                    <a:cubicBezTo>
                      <a:pt x="f117" y="f118"/>
                      <a:pt x="f119" y="f120"/>
                      <a:pt x="f4" y="f6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vert="horz" wrap="none" lIns="90004" tIns="44997" rIns="90004" bIns="44997" anchor="ctr" anchorCtr="1" compatLnSpc="0">
                <a:noAutofit/>
              </a:bodyPr>
              <a:lstStyle/>
              <a:p>
                <a:pPr marL="0" marR="0" lvl="0" indent="0" algn="l" defTabSz="914400" rtl="0" fontAlgn="auto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6E6670DD-A8AB-A30A-ECC5-1C13428C039B}"/>
                  </a:ext>
                </a:extLst>
              </p:cNvPr>
              <p:cNvSpPr/>
              <p:nvPr/>
            </p:nvSpPr>
            <p:spPr>
              <a:xfrm>
                <a:off x="3621956" y="2000515"/>
                <a:ext cx="135724" cy="174595"/>
              </a:xfrm>
              <a:custGeom>
                <a:avLst/>
                <a:gdLst>
                  <a:gd name="f0" fmla="val 360"/>
                  <a:gd name="f1" fmla="val w"/>
                  <a:gd name="f2" fmla="val h"/>
                  <a:gd name="f3" fmla="val 0"/>
                  <a:gd name="f4" fmla="val 378"/>
                  <a:gd name="f5" fmla="val 486"/>
                  <a:gd name="f6" fmla="val 227"/>
                  <a:gd name="f7" fmla="val 282"/>
                  <a:gd name="f8" fmla="val 260"/>
                  <a:gd name="f9" fmla="val 300"/>
                  <a:gd name="f10" fmla="val 458"/>
                  <a:gd name="f11" fmla="val 308"/>
                  <a:gd name="f12" fmla="val 466"/>
                  <a:gd name="f13" fmla="val 322"/>
                  <a:gd name="f14" fmla="val 483"/>
                  <a:gd name="f15" fmla="val 333"/>
                  <a:gd name="f16" fmla="val 344"/>
                  <a:gd name="f17" fmla="val 349"/>
                  <a:gd name="f18" fmla="val 354"/>
                  <a:gd name="f19" fmla="val 358"/>
                  <a:gd name="f20" fmla="val 372"/>
                  <a:gd name="f21" fmla="val 475"/>
                  <a:gd name="f22" fmla="val 472"/>
                  <a:gd name="f23" fmla="val 376"/>
                  <a:gd name="f24" fmla="val 471"/>
                  <a:gd name="f25" fmla="val 375"/>
                  <a:gd name="f26" fmla="val 469"/>
                  <a:gd name="f27" fmla="val 367"/>
                  <a:gd name="f28" fmla="val 461"/>
                  <a:gd name="f29" fmla="val 361"/>
                  <a:gd name="f30" fmla="val 444"/>
                  <a:gd name="f31" fmla="val 438"/>
                  <a:gd name="f32" fmla="val 302"/>
                  <a:gd name="f33" fmla="val 307"/>
                  <a:gd name="f34" fmla="val 246"/>
                  <a:gd name="f35" fmla="val 176"/>
                  <a:gd name="f36" fmla="val 190"/>
                  <a:gd name="f37" fmla="val 45"/>
                  <a:gd name="f38" fmla="val 185"/>
                  <a:gd name="f39" fmla="val 31"/>
                  <a:gd name="f40" fmla="val 171"/>
                  <a:gd name="f41" fmla="val 98"/>
                  <a:gd name="f42" fmla="val 90"/>
                  <a:gd name="f43" fmla="val 78"/>
                  <a:gd name="f44" fmla="val 11"/>
                  <a:gd name="f45" fmla="val 20"/>
                  <a:gd name="f46" fmla="val 87"/>
                  <a:gd name="f47" fmla="val 104"/>
                  <a:gd name="f48" fmla="val 22"/>
                  <a:gd name="f49" fmla="val 118"/>
                  <a:gd name="f50" fmla="val 25"/>
                  <a:gd name="f51" fmla="val 134"/>
                  <a:gd name="f52" fmla="val 64"/>
                  <a:gd name="f53" fmla="val 161"/>
                  <a:gd name="f54" fmla="val 128"/>
                  <a:gd name="f55" fmla="val 188"/>
                  <a:gd name="f56" fmla="val 191"/>
                  <a:gd name="f57" fmla="val 216"/>
                  <a:gd name="f58" fmla="val 254"/>
                  <a:gd name="f59" fmla="val 148"/>
                  <a:gd name="f60" fmla="val 316"/>
                  <a:gd name="f61" fmla="val 81"/>
                  <a:gd name="f62" fmla="val 377"/>
                  <a:gd name="f63" fmla="val 14"/>
                  <a:gd name="f64" fmla="val 6"/>
                  <a:gd name="f65" fmla="val 450"/>
                  <a:gd name="f66" fmla="val 478"/>
                  <a:gd name="f67" fmla="val 36"/>
                  <a:gd name="f68" fmla="val 48"/>
                  <a:gd name="f69" fmla="val 107"/>
                  <a:gd name="f70" fmla="val 411"/>
                  <a:gd name="f71" fmla="val 167"/>
                  <a:gd name="f72" fmla="val 346"/>
                  <a:gd name="f73" fmla="*/ f1 1 378"/>
                  <a:gd name="f74" fmla="*/ f2 1 486"/>
                  <a:gd name="f75" fmla="val f3"/>
                  <a:gd name="f76" fmla="val f4"/>
                  <a:gd name="f77" fmla="val f5"/>
                  <a:gd name="f78" fmla="+- f77 0 f75"/>
                  <a:gd name="f79" fmla="+- f76 0 f75"/>
                  <a:gd name="f80" fmla="*/ f79 1 378"/>
                  <a:gd name="f81" fmla="*/ f78 1 486"/>
                  <a:gd name="f82" fmla="*/ f75 1 f80"/>
                  <a:gd name="f83" fmla="*/ f76 1 f80"/>
                  <a:gd name="f84" fmla="*/ f75 1 f81"/>
                  <a:gd name="f85" fmla="*/ f77 1 f81"/>
                  <a:gd name="f86" fmla="*/ f82 f73 1"/>
                  <a:gd name="f87" fmla="*/ f83 f73 1"/>
                  <a:gd name="f88" fmla="*/ f85 f74 1"/>
                  <a:gd name="f89" fmla="*/ f84 f7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86" t="f89" r="f87" b="f88"/>
                <a:pathLst>
                  <a:path w="378" h="486">
                    <a:moveTo>
                      <a:pt x="f6" y="f7"/>
                    </a:moveTo>
                    <a:cubicBezTo>
                      <a:pt x="f8" y="f0"/>
                      <a:pt x="f9" y="f10"/>
                      <a:pt x="f11" y="f12"/>
                    </a:cubicBezTo>
                    <a:cubicBezTo>
                      <a:pt x="f13" y="f14"/>
                      <a:pt x="f15" y="f14"/>
                      <a:pt x="f16" y="f14"/>
                    </a:cubicBezTo>
                    <a:cubicBezTo>
                      <a:pt x="f17" y="f14"/>
                      <a:pt x="f18" y="f14"/>
                      <a:pt x="f19" y="f14"/>
                    </a:cubicBezTo>
                    <a:cubicBezTo>
                      <a:pt x="f20" y="f14"/>
                      <a:pt x="f4" y="f14"/>
                      <a:pt x="f4" y="f21"/>
                    </a:cubicBezTo>
                    <a:cubicBezTo>
                      <a:pt x="f4" y="f22"/>
                      <a:pt x="f23" y="f24"/>
                      <a:pt x="f25" y="f26"/>
                    </a:cubicBezTo>
                    <a:cubicBezTo>
                      <a:pt x="f27" y="f28"/>
                      <a:pt x="f29" y="f30"/>
                      <a:pt x="f19" y="f31"/>
                    </a:cubicBezTo>
                    <a:cubicBezTo>
                      <a:pt x="f32" y="f33"/>
                      <a:pt x="f34" y="f35"/>
                      <a:pt x="f36" y="f37"/>
                    </a:cubicBezTo>
                    <a:cubicBezTo>
                      <a:pt x="f38" y="f39"/>
                      <a:pt x="f40" y="f3"/>
                      <a:pt x="f41" y="f3"/>
                    </a:cubicBezTo>
                    <a:cubicBezTo>
                      <a:pt x="f42" y="f3"/>
                      <a:pt x="f43" y="f3"/>
                      <a:pt x="f43" y="f44"/>
                    </a:cubicBezTo>
                    <a:cubicBezTo>
                      <a:pt x="f43" y="f45"/>
                      <a:pt x="f46" y="f45"/>
                      <a:pt x="f42" y="f45"/>
                    </a:cubicBezTo>
                    <a:cubicBezTo>
                      <a:pt x="f47" y="f48"/>
                      <a:pt x="f49" y="f50"/>
                      <a:pt x="f51" y="f52"/>
                    </a:cubicBezTo>
                    <a:cubicBezTo>
                      <a:pt x="f53" y="f54"/>
                      <a:pt x="f55" y="f56"/>
                      <a:pt x="f57" y="f58"/>
                    </a:cubicBezTo>
                    <a:cubicBezTo>
                      <a:pt x="f59" y="f60"/>
                      <a:pt x="f61" y="f62"/>
                      <a:pt x="f63" y="f31"/>
                    </a:cubicBezTo>
                    <a:cubicBezTo>
                      <a:pt x="f64" y="f30"/>
                      <a:pt x="f3" y="f65"/>
                      <a:pt x="f3" y="f28"/>
                    </a:cubicBezTo>
                    <a:cubicBezTo>
                      <a:pt x="f3" y="f66"/>
                      <a:pt x="f63" y="f5"/>
                      <a:pt x="f48" y="f5"/>
                    </a:cubicBezTo>
                    <a:cubicBezTo>
                      <a:pt x="f67" y="f5"/>
                      <a:pt x="f37" y="f21"/>
                      <a:pt x="f68" y="f21"/>
                    </a:cubicBezTo>
                    <a:cubicBezTo>
                      <a:pt x="f69" y="f70"/>
                      <a:pt x="f71" y="f72"/>
                      <a:pt x="f6" y="f7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vert="horz" wrap="none" lIns="90004" tIns="44997" rIns="90004" bIns="44997" anchor="ctr" anchorCtr="1" compatLnSpc="0">
                <a:noAutofit/>
              </a:bodyPr>
              <a:lstStyle/>
              <a:p>
                <a:pPr marL="0" marR="0" lvl="0" indent="0" algn="l" defTabSz="914400" rtl="0" fontAlgn="auto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5A6F5117-9B54-2F0D-31D7-EF27BF38CA94}"/>
                  </a:ext>
                </a:extLst>
              </p:cNvPr>
              <p:cNvSpPr/>
              <p:nvPr/>
            </p:nvSpPr>
            <p:spPr>
              <a:xfrm>
                <a:off x="3907075" y="1989359"/>
                <a:ext cx="235439" cy="83155"/>
              </a:xfrm>
              <a:custGeom>
                <a:avLst/>
                <a:gdLst>
                  <a:gd name="f0" fmla="val w"/>
                  <a:gd name="f1" fmla="val h"/>
                  <a:gd name="f2" fmla="val 0"/>
                  <a:gd name="f3" fmla="val 655"/>
                  <a:gd name="f4" fmla="val 232"/>
                  <a:gd name="f5" fmla="val 621"/>
                  <a:gd name="f6" fmla="val 42"/>
                  <a:gd name="f7" fmla="val 635"/>
                  <a:gd name="f8" fmla="val 41"/>
                  <a:gd name="f9" fmla="val 20"/>
                  <a:gd name="f10" fmla="val -1"/>
                  <a:gd name="f11" fmla="val 425"/>
                  <a:gd name="f12" fmla="val 230"/>
                  <a:gd name="f13" fmla="val 34"/>
                  <a:gd name="f14" fmla="val 233"/>
                  <a:gd name="f15" fmla="val 212"/>
                  <a:gd name="f16" fmla="val 191"/>
                  <a:gd name="f17" fmla="val 190"/>
                  <a:gd name="f18" fmla="*/ f0 1 655"/>
                  <a:gd name="f19" fmla="*/ f1 1 232"/>
                  <a:gd name="f20" fmla="val f2"/>
                  <a:gd name="f21" fmla="val f3"/>
                  <a:gd name="f22" fmla="val f4"/>
                  <a:gd name="f23" fmla="+- f22 0 f20"/>
                  <a:gd name="f24" fmla="+- f21 0 f20"/>
                  <a:gd name="f25" fmla="*/ f24 1 655"/>
                  <a:gd name="f26" fmla="*/ f23 1 232"/>
                  <a:gd name="f27" fmla="*/ f20 1 f25"/>
                  <a:gd name="f28" fmla="*/ f21 1 f25"/>
                  <a:gd name="f29" fmla="*/ f20 1 f26"/>
                  <a:gd name="f30" fmla="*/ f22 1 f26"/>
                  <a:gd name="f31" fmla="*/ f27 f18 1"/>
                  <a:gd name="f32" fmla="*/ f28 f18 1"/>
                  <a:gd name="f33" fmla="*/ f30 f19 1"/>
                  <a:gd name="f34" fmla="*/ f29 f1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31" t="f34" r="f32" b="f33"/>
                <a:pathLst>
                  <a:path w="655" h="232">
                    <a:moveTo>
                      <a:pt x="f5" y="f6"/>
                    </a:moveTo>
                    <a:cubicBezTo>
                      <a:pt x="f7" y="f6"/>
                      <a:pt x="f3" y="f8"/>
                      <a:pt x="f3" y="f9"/>
                    </a:cubicBezTo>
                    <a:cubicBezTo>
                      <a:pt x="f3" y="f10"/>
                      <a:pt x="f7" y="f2"/>
                      <a:pt x="f5" y="f2"/>
                    </a:cubicBezTo>
                    <a:cubicBezTo>
                      <a:pt x="f11" y="f2"/>
                      <a:pt x="f12" y="f2"/>
                      <a:pt x="f13" y="f2"/>
                    </a:cubicBezTo>
                    <a:cubicBezTo>
                      <a:pt x="f9" y="f2"/>
                      <a:pt x="f2" y="f10"/>
                      <a:pt x="f2" y="f9"/>
                    </a:cubicBezTo>
                    <a:cubicBezTo>
                      <a:pt x="f2" y="f8"/>
                      <a:pt x="f9" y="f6"/>
                      <a:pt x="f13" y="f6"/>
                    </a:cubicBezTo>
                    <a:cubicBezTo>
                      <a:pt x="f12" y="f6"/>
                      <a:pt x="f11" y="f6"/>
                      <a:pt x="f5" y="f6"/>
                    </a:cubicBezTo>
                    <a:close/>
                    <a:moveTo>
                      <a:pt x="f5" y="f4"/>
                    </a:moveTo>
                    <a:cubicBezTo>
                      <a:pt x="f7" y="f4"/>
                      <a:pt x="f3" y="f14"/>
                      <a:pt x="f3" y="f15"/>
                    </a:cubicBezTo>
                    <a:cubicBezTo>
                      <a:pt x="f3" y="f16"/>
                      <a:pt x="f7" y="f17"/>
                      <a:pt x="f5" y="f17"/>
                    </a:cubicBezTo>
                    <a:cubicBezTo>
                      <a:pt x="f11" y="f17"/>
                      <a:pt x="f12" y="f17"/>
                      <a:pt x="f13" y="f17"/>
                    </a:cubicBezTo>
                    <a:cubicBezTo>
                      <a:pt x="f9" y="f17"/>
                      <a:pt x="f2" y="f16"/>
                      <a:pt x="f2" y="f15"/>
                    </a:cubicBezTo>
                    <a:cubicBezTo>
                      <a:pt x="f2" y="f14"/>
                      <a:pt x="f9" y="f4"/>
                      <a:pt x="f13" y="f4"/>
                    </a:cubicBezTo>
                    <a:cubicBezTo>
                      <a:pt x="f12" y="f4"/>
                      <a:pt x="f11" y="f4"/>
                      <a:pt x="f5" y="f4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vert="horz" wrap="none" lIns="90004" tIns="44997" rIns="90004" bIns="44997" anchor="ctr" anchorCtr="1" compatLnSpc="0">
                <a:noAutofit/>
              </a:bodyPr>
              <a:lstStyle/>
              <a:p>
                <a:pPr marL="0" marR="0" lvl="0" indent="0" algn="l" defTabSz="914400" rtl="0" fontAlgn="auto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E850309C-6474-326D-0811-8AB912CFDF7D}"/>
                  </a:ext>
                </a:extLst>
              </p:cNvPr>
              <p:cNvSpPr/>
              <p:nvPr/>
            </p:nvSpPr>
            <p:spPr>
              <a:xfrm>
                <a:off x="4277883" y="1967395"/>
                <a:ext cx="116640" cy="155521"/>
              </a:xfrm>
              <a:custGeom>
                <a:avLst/>
                <a:gdLst>
                  <a:gd name="f0" fmla="val w"/>
                  <a:gd name="f1" fmla="val h"/>
                  <a:gd name="f2" fmla="val 0"/>
                  <a:gd name="f3" fmla="val 325"/>
                  <a:gd name="f4" fmla="val 433"/>
                  <a:gd name="f5" fmla="val 246"/>
                  <a:gd name="f6" fmla="val 201"/>
                  <a:gd name="f7" fmla="val 263"/>
                  <a:gd name="f8" fmla="val 280"/>
                  <a:gd name="f9" fmla="val 184"/>
                  <a:gd name="f10" fmla="val 170"/>
                  <a:gd name="f11" fmla="val 269"/>
                  <a:gd name="f12" fmla="val 252"/>
                  <a:gd name="f13" fmla="val 199"/>
                  <a:gd name="f14" fmla="val 146"/>
                  <a:gd name="f15" fmla="val 92"/>
                  <a:gd name="f16" fmla="val 115"/>
                  <a:gd name="f17" fmla="val 87"/>
                  <a:gd name="f18" fmla="val 171"/>
                  <a:gd name="f19" fmla="val 31"/>
                  <a:gd name="f20" fmla="val 260"/>
                  <a:gd name="f21" fmla="val 271"/>
                  <a:gd name="f22" fmla="val 281"/>
                  <a:gd name="f23" fmla="val 291"/>
                  <a:gd name="f24" fmla="val 308"/>
                  <a:gd name="f25" fmla="val 14"/>
                  <a:gd name="f26" fmla="val 311"/>
                  <a:gd name="f27" fmla="val 294"/>
                  <a:gd name="f28" fmla="val 283"/>
                  <a:gd name="f29" fmla="val 272"/>
                  <a:gd name="f30" fmla="val 132"/>
                  <a:gd name="f31" fmla="val 98"/>
                  <a:gd name="f32" fmla="val 249"/>
                  <a:gd name="f33" fmla="val 355"/>
                  <a:gd name="f34" fmla="val 73"/>
                  <a:gd name="f35" fmla="val 179"/>
                  <a:gd name="f36" fmla="val 241"/>
                  <a:gd name="f37" fmla="val 305"/>
                  <a:gd name="f38" fmla="val 394"/>
                  <a:gd name="f39" fmla="val 383"/>
                  <a:gd name="f40" fmla="val 380"/>
                  <a:gd name="f41" fmla="val 369"/>
                  <a:gd name="f42" fmla="val 297"/>
                  <a:gd name="f43" fmla="val 374"/>
                  <a:gd name="f44" fmla="val 216"/>
                  <a:gd name="f45" fmla="val 411"/>
                  <a:gd name="f46" fmla="val 123"/>
                  <a:gd name="f47" fmla="val 371"/>
                  <a:gd name="f48" fmla="val 285"/>
                  <a:gd name="f49" fmla="val 81"/>
                  <a:gd name="f50" fmla="val 212"/>
                  <a:gd name="f51" fmla="val 84"/>
                  <a:gd name="f52" fmla="val 138"/>
                  <a:gd name="f53" fmla="val 192"/>
                  <a:gd name="f54" fmla="*/ f0 1 325"/>
                  <a:gd name="f55" fmla="*/ f1 1 433"/>
                  <a:gd name="f56" fmla="val f2"/>
                  <a:gd name="f57" fmla="val f3"/>
                  <a:gd name="f58" fmla="val f4"/>
                  <a:gd name="f59" fmla="+- f58 0 f56"/>
                  <a:gd name="f60" fmla="+- f57 0 f56"/>
                  <a:gd name="f61" fmla="*/ f60 1 325"/>
                  <a:gd name="f62" fmla="*/ f59 1 433"/>
                  <a:gd name="f63" fmla="*/ f56 1 f61"/>
                  <a:gd name="f64" fmla="*/ f57 1 f61"/>
                  <a:gd name="f65" fmla="*/ f56 1 f62"/>
                  <a:gd name="f66" fmla="*/ f58 1 f62"/>
                  <a:gd name="f67" fmla="*/ f63 f54 1"/>
                  <a:gd name="f68" fmla="*/ f64 f54 1"/>
                  <a:gd name="f69" fmla="*/ f66 f55 1"/>
                  <a:gd name="f70" fmla="*/ f65 f55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67" t="f70" r="f68" b="f69"/>
                <a:pathLst>
                  <a:path w="325" h="433">
                    <a:moveTo>
                      <a:pt x="f5" y="f6"/>
                    </a:moveTo>
                    <a:cubicBezTo>
                      <a:pt x="f7" y="f6"/>
                      <a:pt x="f8" y="f6"/>
                      <a:pt x="f8" y="f9"/>
                    </a:cubicBezTo>
                    <a:cubicBezTo>
                      <a:pt x="f8" y="f10"/>
                      <a:pt x="f11" y="f10"/>
                      <a:pt x="f12" y="f10"/>
                    </a:cubicBezTo>
                    <a:cubicBezTo>
                      <a:pt x="f13" y="f10"/>
                      <a:pt x="f14" y="f10"/>
                      <a:pt x="f15" y="f10"/>
                    </a:cubicBezTo>
                    <a:cubicBezTo>
                      <a:pt x="f16" y="f17"/>
                      <a:pt x="f18" y="f19"/>
                      <a:pt x="f20" y="f19"/>
                    </a:cubicBezTo>
                    <a:cubicBezTo>
                      <a:pt x="f21" y="f19"/>
                      <a:pt x="f22" y="f19"/>
                      <a:pt x="f23" y="f19"/>
                    </a:cubicBezTo>
                    <a:cubicBezTo>
                      <a:pt x="f24" y="f19"/>
                      <a:pt x="f3" y="f19"/>
                      <a:pt x="f3" y="f25"/>
                    </a:cubicBezTo>
                    <a:cubicBezTo>
                      <a:pt x="f3" y="f2"/>
                      <a:pt x="f26" y="f2"/>
                      <a:pt x="f27" y="f2"/>
                    </a:cubicBezTo>
                    <a:cubicBezTo>
                      <a:pt x="f28" y="f2"/>
                      <a:pt x="f29" y="f2"/>
                      <a:pt x="f20" y="f2"/>
                    </a:cubicBezTo>
                    <a:cubicBezTo>
                      <a:pt x="f30" y="f2"/>
                      <a:pt x="f2" y="f31"/>
                      <a:pt x="f2" y="f32"/>
                    </a:cubicBezTo>
                    <a:cubicBezTo>
                      <a:pt x="f2" y="f33"/>
                      <a:pt x="f34" y="f4"/>
                      <a:pt x="f35" y="f4"/>
                    </a:cubicBezTo>
                    <a:cubicBezTo>
                      <a:pt x="f36" y="f4"/>
                      <a:pt x="f37" y="f38"/>
                      <a:pt x="f37" y="f39"/>
                    </a:cubicBezTo>
                    <a:cubicBezTo>
                      <a:pt x="f37" y="f40"/>
                      <a:pt x="f37" y="f41"/>
                      <a:pt x="f42" y="f41"/>
                    </a:cubicBezTo>
                    <a:cubicBezTo>
                      <a:pt x="f27" y="f41"/>
                      <a:pt x="f23" y="f41"/>
                      <a:pt x="f28" y="f43"/>
                    </a:cubicBezTo>
                    <a:cubicBezTo>
                      <a:pt x="f12" y="f38"/>
                      <a:pt x="f44" y="f45"/>
                      <a:pt x="f35" y="f45"/>
                    </a:cubicBezTo>
                    <a:cubicBezTo>
                      <a:pt x="f46" y="f45"/>
                      <a:pt x="f34" y="f47"/>
                      <a:pt x="f34" y="f48"/>
                    </a:cubicBezTo>
                    <a:cubicBezTo>
                      <a:pt x="f34" y="f32"/>
                      <a:pt x="f49" y="f50"/>
                      <a:pt x="f51" y="f6"/>
                    </a:cubicBezTo>
                    <a:cubicBezTo>
                      <a:pt x="f52" y="f6"/>
                      <a:pt x="f53" y="f6"/>
                      <a:pt x="f5" y="f6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vert="horz" wrap="none" lIns="90004" tIns="44997" rIns="90004" bIns="44997" anchor="ctr" anchorCtr="1" compatLnSpc="0">
                <a:noAutofit/>
              </a:bodyPr>
              <a:lstStyle/>
              <a:p>
                <a:pPr marL="0" marR="0" lvl="0" indent="0" algn="l" defTabSz="914400" rtl="0" fontAlgn="auto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633CDECF-6679-01F5-5A69-A00CDC14E971}"/>
                  </a:ext>
                </a:extLst>
              </p:cNvPr>
              <p:cNvSpPr/>
              <p:nvPr/>
            </p:nvSpPr>
            <p:spPr>
              <a:xfrm>
                <a:off x="4420081" y="1878835"/>
                <a:ext cx="252721" cy="239755"/>
              </a:xfrm>
              <a:custGeom>
                <a:avLst/>
                <a:gdLst>
                  <a:gd name="f0" fmla="val 360"/>
                  <a:gd name="f1" fmla="val w"/>
                  <a:gd name="f2" fmla="val h"/>
                  <a:gd name="f3" fmla="val 0"/>
                  <a:gd name="f4" fmla="val 703"/>
                  <a:gd name="f5" fmla="val 667"/>
                  <a:gd name="f6" fmla="val 115"/>
                  <a:gd name="f7" fmla="val 592"/>
                  <a:gd name="f8" fmla="val 106"/>
                  <a:gd name="f9" fmla="val 628"/>
                  <a:gd name="f10" fmla="val 104"/>
                  <a:gd name="f11" fmla="val 637"/>
                  <a:gd name="f12" fmla="val 25"/>
                  <a:gd name="f13" fmla="val 8"/>
                  <a:gd name="f14" fmla="val 656"/>
                  <a:gd name="f15" fmla="val 143"/>
                  <a:gd name="f16" fmla="val 260"/>
                  <a:gd name="f17" fmla="val 378"/>
                  <a:gd name="f18" fmla="val 532"/>
                  <a:gd name="f19" fmla="val 649"/>
                  <a:gd name="f20" fmla="val 553"/>
                  <a:gd name="f21" fmla="val 455"/>
                  <a:gd name="f22" fmla="val 385"/>
                  <a:gd name="f23" fmla="val 591"/>
                  <a:gd name="f24" fmla="val 330"/>
                  <a:gd name="f25" fmla="val 495"/>
                  <a:gd name="f26" fmla="val 318"/>
                  <a:gd name="f27" fmla="val 599"/>
                  <a:gd name="f28" fmla="val 299"/>
                  <a:gd name="f29" fmla="val 226"/>
                  <a:gd name="f30" fmla="val 134"/>
                  <a:gd name="f31" fmla="val 61"/>
                  <a:gd name="f32" fmla="val 638"/>
                  <a:gd name="f33" fmla="val 518"/>
                  <a:gd name="f34" fmla="val 408"/>
                  <a:gd name="f35" fmla="val 298"/>
                  <a:gd name="f36" fmla="val 188"/>
                  <a:gd name="f37" fmla="val 171"/>
                  <a:gd name="f38" fmla="val 160"/>
                  <a:gd name="f39" fmla="val 20"/>
                  <a:gd name="f40" fmla="val 31"/>
                  <a:gd name="f41" fmla="val 168"/>
                  <a:gd name="f42" fmla="val 190"/>
                  <a:gd name="f43" fmla="val 207"/>
                  <a:gd name="f44" fmla="val 224"/>
                  <a:gd name="f45" fmla="val 244"/>
                  <a:gd name="f46" fmla="val 34"/>
                  <a:gd name="f47" fmla="val 252"/>
                  <a:gd name="f48" fmla="val 47"/>
                  <a:gd name="f49" fmla="val 50"/>
                  <a:gd name="f50" fmla="val 249"/>
                  <a:gd name="f51" fmla="val 53"/>
                  <a:gd name="f52" fmla="val 246"/>
                  <a:gd name="f53" fmla="val 67"/>
                  <a:gd name="f54" fmla="val 202"/>
                  <a:gd name="f55" fmla="val 242"/>
                  <a:gd name="f56" fmla="val 159"/>
                  <a:gd name="f57" fmla="val 417"/>
                  <a:gd name="f58" fmla="val 263"/>
                  <a:gd name="f59" fmla="val 310"/>
                  <a:gd name="f60" fmla="val 284"/>
                  <a:gd name="f61" fmla="val 229"/>
                  <a:gd name="f62" fmla="val 304"/>
                  <a:gd name="f63" fmla="val 148"/>
                  <a:gd name="f64" fmla="val 325"/>
                  <a:gd name="f65" fmla="val 333"/>
                  <a:gd name="f66" fmla="val 336"/>
                  <a:gd name="f67" fmla="val 420"/>
                  <a:gd name="f68" fmla="val 462"/>
                  <a:gd name="f69" fmla="val 504"/>
                  <a:gd name="f70" fmla="val 613"/>
                  <a:gd name="f71" fmla="val 87"/>
                  <a:gd name="f72" fmla="val 131"/>
                  <a:gd name="f73" fmla="val 218"/>
                  <a:gd name="f74" fmla="val 529"/>
                  <a:gd name="f75" fmla="val 409"/>
                  <a:gd name="f76" fmla="val 312"/>
                  <a:gd name="f77" fmla="val 221"/>
                  <a:gd name="f78" fmla="val 204"/>
                  <a:gd name="f79" fmla="val 199"/>
                  <a:gd name="f80" fmla="val 185"/>
                  <a:gd name="f81" fmla="val 634"/>
                  <a:gd name="f82" fmla="val 626"/>
                  <a:gd name="f83" fmla="val 623"/>
                  <a:gd name="f84" fmla="val 603"/>
                  <a:gd name="f85" fmla="val 213"/>
                  <a:gd name="f86" fmla="val 513"/>
                  <a:gd name="f87" fmla="val 235"/>
                  <a:gd name="f88" fmla="val 423"/>
                  <a:gd name="f89" fmla="val 258"/>
                  <a:gd name="f90" fmla="val 332"/>
                  <a:gd name="f91" fmla="val 320"/>
                  <a:gd name="f92" fmla="val 383"/>
                  <a:gd name="f93" fmla="val 445"/>
                  <a:gd name="f94" fmla="val 537"/>
                  <a:gd name="f95" fmla="val 557"/>
                  <a:gd name="f96" fmla="val 402"/>
                  <a:gd name="f97" fmla="val 447"/>
                  <a:gd name="f98" fmla="val 542"/>
                  <a:gd name="f99" fmla="val 470"/>
                  <a:gd name="f100" fmla="val 353"/>
                  <a:gd name="f101" fmla="val 309"/>
                  <a:gd name="f102" fmla="val 265"/>
                  <a:gd name="f103" fmla="*/ f1 1 703"/>
                  <a:gd name="f104" fmla="*/ f2 1 667"/>
                  <a:gd name="f105" fmla="val f3"/>
                  <a:gd name="f106" fmla="val f4"/>
                  <a:gd name="f107" fmla="val f5"/>
                  <a:gd name="f108" fmla="+- f107 0 f105"/>
                  <a:gd name="f109" fmla="+- f106 0 f105"/>
                  <a:gd name="f110" fmla="*/ f109 1 703"/>
                  <a:gd name="f111" fmla="*/ f108 1 667"/>
                  <a:gd name="f112" fmla="*/ f105 1 f110"/>
                  <a:gd name="f113" fmla="*/ f106 1 f110"/>
                  <a:gd name="f114" fmla="*/ f105 1 f111"/>
                  <a:gd name="f115" fmla="*/ f107 1 f111"/>
                  <a:gd name="f116" fmla="*/ f112 f103 1"/>
                  <a:gd name="f117" fmla="*/ f113 f103 1"/>
                  <a:gd name="f118" fmla="*/ f115 f104 1"/>
                  <a:gd name="f119" fmla="*/ f114 f104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116" t="f119" r="f117" b="f118"/>
                <a:pathLst>
                  <a:path w="703" h="667">
                    <a:moveTo>
                      <a:pt x="f6" y="f7"/>
                    </a:moveTo>
                    <a:cubicBezTo>
                      <a:pt x="f8" y="f9"/>
                      <a:pt x="f10" y="f11"/>
                      <a:pt x="f12" y="f11"/>
                    </a:cubicBezTo>
                    <a:cubicBezTo>
                      <a:pt x="f13" y="f11"/>
                      <a:pt x="f3" y="f11"/>
                      <a:pt x="f3" y="f14"/>
                    </a:cubicBezTo>
                    <a:cubicBezTo>
                      <a:pt x="f3" y="f5"/>
                      <a:pt x="f13" y="f5"/>
                      <a:pt x="f12" y="f5"/>
                    </a:cubicBezTo>
                    <a:cubicBezTo>
                      <a:pt x="f15" y="f5"/>
                      <a:pt x="f16" y="f5"/>
                      <a:pt x="f17" y="f5"/>
                    </a:cubicBezTo>
                    <a:cubicBezTo>
                      <a:pt x="f18" y="f5"/>
                      <a:pt x="f19" y="f20"/>
                      <a:pt x="f19" y="f21"/>
                    </a:cubicBezTo>
                    <a:cubicBezTo>
                      <a:pt x="f19" y="f22"/>
                      <a:pt x="f23" y="f24"/>
                      <a:pt x="f25" y="f26"/>
                    </a:cubicBezTo>
                    <a:cubicBezTo>
                      <a:pt x="f27" y="f28"/>
                      <a:pt x="f4" y="f29"/>
                      <a:pt x="f4" y="f30"/>
                    </a:cubicBezTo>
                    <a:cubicBezTo>
                      <a:pt x="f4" y="f31"/>
                      <a:pt x="f32" y="f3"/>
                      <a:pt x="f33" y="f3"/>
                    </a:cubicBezTo>
                    <a:cubicBezTo>
                      <a:pt x="f34" y="f3"/>
                      <a:pt x="f35" y="f3"/>
                      <a:pt x="f36" y="f3"/>
                    </a:cubicBezTo>
                    <a:cubicBezTo>
                      <a:pt x="f37" y="f3"/>
                      <a:pt x="f38" y="f3"/>
                      <a:pt x="f38" y="f39"/>
                    </a:cubicBezTo>
                    <a:cubicBezTo>
                      <a:pt x="f38" y="f40"/>
                      <a:pt x="f41" y="f40"/>
                      <a:pt x="f36" y="f40"/>
                    </a:cubicBezTo>
                    <a:cubicBezTo>
                      <a:pt x="f42" y="f40"/>
                      <a:pt x="f43" y="f40"/>
                      <a:pt x="f44" y="f40"/>
                    </a:cubicBezTo>
                    <a:cubicBezTo>
                      <a:pt x="f45" y="f46"/>
                      <a:pt x="f47" y="f46"/>
                      <a:pt x="f47" y="f48"/>
                    </a:cubicBezTo>
                    <a:cubicBezTo>
                      <a:pt x="f47" y="f49"/>
                      <a:pt x="f50" y="f51"/>
                      <a:pt x="f52" y="f53"/>
                    </a:cubicBezTo>
                    <a:cubicBezTo>
                      <a:pt x="f54" y="f55"/>
                      <a:pt x="f56" y="f57"/>
                      <a:pt x="f6" y="f7"/>
                    </a:cubicBezTo>
                    <a:close/>
                    <a:moveTo>
                      <a:pt x="f58" y="f59"/>
                    </a:moveTo>
                    <a:cubicBezTo>
                      <a:pt x="f60" y="f61"/>
                      <a:pt x="f62" y="f63"/>
                      <a:pt x="f64" y="f53"/>
                    </a:cubicBezTo>
                    <a:cubicBezTo>
                      <a:pt x="f65" y="f46"/>
                      <a:pt x="f66" y="f40"/>
                      <a:pt x="f17" y="f40"/>
                    </a:cubicBezTo>
                    <a:cubicBezTo>
                      <a:pt x="f67" y="f40"/>
                      <a:pt x="f68" y="f40"/>
                      <a:pt x="f69" y="f40"/>
                    </a:cubicBezTo>
                    <a:cubicBezTo>
                      <a:pt x="f23" y="f40"/>
                      <a:pt x="f70" y="f71"/>
                      <a:pt x="f70" y="f72"/>
                    </a:cubicBezTo>
                    <a:cubicBezTo>
                      <a:pt x="f70" y="f73"/>
                      <a:pt x="f74" y="f59"/>
                      <a:pt x="f75" y="f59"/>
                    </a:cubicBezTo>
                    <a:cubicBezTo>
                      <a:pt x="f0" y="f59"/>
                      <a:pt x="f76" y="f59"/>
                      <a:pt x="f58" y="f59"/>
                    </a:cubicBezTo>
                    <a:close/>
                    <a:moveTo>
                      <a:pt x="f77" y="f11"/>
                    </a:moveTo>
                    <a:cubicBezTo>
                      <a:pt x="f43" y="f11"/>
                      <a:pt x="f78" y="f11"/>
                      <a:pt x="f79" y="f11"/>
                    </a:cubicBezTo>
                    <a:cubicBezTo>
                      <a:pt x="f36" y="f11"/>
                      <a:pt x="f80" y="f81"/>
                      <a:pt x="f80" y="f82"/>
                    </a:cubicBezTo>
                    <a:cubicBezTo>
                      <a:pt x="f80" y="f83"/>
                      <a:pt x="f80" y="f83"/>
                      <a:pt x="f42" y="f84"/>
                    </a:cubicBezTo>
                    <a:cubicBezTo>
                      <a:pt x="f85" y="f86"/>
                      <a:pt x="f87" y="f88"/>
                      <a:pt x="f89" y="f90"/>
                    </a:cubicBezTo>
                    <a:cubicBezTo>
                      <a:pt x="f91" y="f90"/>
                      <a:pt x="f92" y="f90"/>
                      <a:pt x="f93" y="f90"/>
                    </a:cubicBezTo>
                    <a:cubicBezTo>
                      <a:pt x="f94" y="f90"/>
                      <a:pt x="f95" y="f96"/>
                      <a:pt x="f95" y="f97"/>
                    </a:cubicBezTo>
                    <a:cubicBezTo>
                      <a:pt x="f95" y="f98"/>
                      <a:pt x="f99" y="f11"/>
                      <a:pt x="f100" y="f11"/>
                    </a:cubicBezTo>
                    <a:cubicBezTo>
                      <a:pt x="f101" y="f11"/>
                      <a:pt x="f102" y="f11"/>
                      <a:pt x="f77" y="f11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vert="horz" wrap="none" lIns="90004" tIns="44997" rIns="90004" bIns="44997" anchor="ctr" anchorCtr="1" compatLnSpc="0">
                <a:noAutofit/>
              </a:bodyPr>
              <a:lstStyle/>
              <a:p>
                <a:pPr marL="0" marR="0" lvl="0" indent="0" algn="l" defTabSz="914400" rtl="0" fontAlgn="auto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3787DD36-D515-CCB5-F8D6-5E9BA7D9389C}"/>
                  </a:ext>
                </a:extLst>
              </p:cNvPr>
              <p:cNvSpPr/>
              <p:nvPr/>
            </p:nvSpPr>
            <p:spPr>
              <a:xfrm>
                <a:off x="4691877" y="2000515"/>
                <a:ext cx="135724" cy="174595"/>
              </a:xfrm>
              <a:custGeom>
                <a:avLst/>
                <a:gdLst>
                  <a:gd name="f0" fmla="val 360"/>
                  <a:gd name="f1" fmla="val w"/>
                  <a:gd name="f2" fmla="val h"/>
                  <a:gd name="f3" fmla="val 0"/>
                  <a:gd name="f4" fmla="val 378"/>
                  <a:gd name="f5" fmla="val 486"/>
                  <a:gd name="f6" fmla="val 227"/>
                  <a:gd name="f7" fmla="val 282"/>
                  <a:gd name="f8" fmla="val 260"/>
                  <a:gd name="f9" fmla="val 300"/>
                  <a:gd name="f10" fmla="val 458"/>
                  <a:gd name="f11" fmla="val 308"/>
                  <a:gd name="f12" fmla="val 466"/>
                  <a:gd name="f13" fmla="val 322"/>
                  <a:gd name="f14" fmla="val 483"/>
                  <a:gd name="f15" fmla="val 333"/>
                  <a:gd name="f16" fmla="val 344"/>
                  <a:gd name="f17" fmla="val 349"/>
                  <a:gd name="f18" fmla="val 354"/>
                  <a:gd name="f19" fmla="val 358"/>
                  <a:gd name="f20" fmla="val 372"/>
                  <a:gd name="f21" fmla="val 475"/>
                  <a:gd name="f22" fmla="val 472"/>
                  <a:gd name="f23" fmla="val 376"/>
                  <a:gd name="f24" fmla="val 471"/>
                  <a:gd name="f25" fmla="val 375"/>
                  <a:gd name="f26" fmla="val 469"/>
                  <a:gd name="f27" fmla="val 367"/>
                  <a:gd name="f28" fmla="val 461"/>
                  <a:gd name="f29" fmla="val 444"/>
                  <a:gd name="f30" fmla="val 356"/>
                  <a:gd name="f31" fmla="val 438"/>
                  <a:gd name="f32" fmla="val 307"/>
                  <a:gd name="f33" fmla="val 244"/>
                  <a:gd name="f34" fmla="val 176"/>
                  <a:gd name="f35" fmla="val 188"/>
                  <a:gd name="f36" fmla="val 45"/>
                  <a:gd name="f37" fmla="val 185"/>
                  <a:gd name="f38" fmla="val 31"/>
                  <a:gd name="f39" fmla="val 171"/>
                  <a:gd name="f40" fmla="val 98"/>
                  <a:gd name="f41" fmla="val 90"/>
                  <a:gd name="f42" fmla="val 78"/>
                  <a:gd name="f43" fmla="val 11"/>
                  <a:gd name="f44" fmla="val 20"/>
                  <a:gd name="f45" fmla="val 87"/>
                  <a:gd name="f46" fmla="val 104"/>
                  <a:gd name="f47" fmla="val 22"/>
                  <a:gd name="f48" fmla="val 118"/>
                  <a:gd name="f49" fmla="val 25"/>
                  <a:gd name="f50" fmla="val 134"/>
                  <a:gd name="f51" fmla="val 64"/>
                  <a:gd name="f52" fmla="val 161"/>
                  <a:gd name="f53" fmla="val 128"/>
                  <a:gd name="f54" fmla="val 191"/>
                  <a:gd name="f55" fmla="val 216"/>
                  <a:gd name="f56" fmla="val 254"/>
                  <a:gd name="f57" fmla="val 148"/>
                  <a:gd name="f58" fmla="val 316"/>
                  <a:gd name="f59" fmla="val 81"/>
                  <a:gd name="f60" fmla="val 377"/>
                  <a:gd name="f61" fmla="val 14"/>
                  <a:gd name="f62" fmla="val 6"/>
                  <a:gd name="f63" fmla="val 450"/>
                  <a:gd name="f64" fmla="val 478"/>
                  <a:gd name="f65" fmla="val 36"/>
                  <a:gd name="f66" fmla="val 48"/>
                  <a:gd name="f67" fmla="val 107"/>
                  <a:gd name="f68" fmla="val 411"/>
                  <a:gd name="f69" fmla="val 167"/>
                  <a:gd name="f70" fmla="val 346"/>
                  <a:gd name="f71" fmla="*/ f1 1 378"/>
                  <a:gd name="f72" fmla="*/ f2 1 486"/>
                  <a:gd name="f73" fmla="val f3"/>
                  <a:gd name="f74" fmla="val f4"/>
                  <a:gd name="f75" fmla="val f5"/>
                  <a:gd name="f76" fmla="+- f75 0 f73"/>
                  <a:gd name="f77" fmla="+- f74 0 f73"/>
                  <a:gd name="f78" fmla="*/ f77 1 378"/>
                  <a:gd name="f79" fmla="*/ f76 1 486"/>
                  <a:gd name="f80" fmla="*/ f73 1 f78"/>
                  <a:gd name="f81" fmla="*/ f74 1 f78"/>
                  <a:gd name="f82" fmla="*/ f73 1 f79"/>
                  <a:gd name="f83" fmla="*/ f75 1 f79"/>
                  <a:gd name="f84" fmla="*/ f80 f71 1"/>
                  <a:gd name="f85" fmla="*/ f81 f71 1"/>
                  <a:gd name="f86" fmla="*/ f83 f72 1"/>
                  <a:gd name="f87" fmla="*/ f82 f72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84" t="f87" r="f85" b="f86"/>
                <a:pathLst>
                  <a:path w="378" h="486">
                    <a:moveTo>
                      <a:pt x="f6" y="f7"/>
                    </a:moveTo>
                    <a:cubicBezTo>
                      <a:pt x="f8" y="f0"/>
                      <a:pt x="f9" y="f10"/>
                      <a:pt x="f11" y="f12"/>
                    </a:cubicBezTo>
                    <a:cubicBezTo>
                      <a:pt x="f13" y="f14"/>
                      <a:pt x="f15" y="f14"/>
                      <a:pt x="f16" y="f14"/>
                    </a:cubicBezTo>
                    <a:cubicBezTo>
                      <a:pt x="f17" y="f14"/>
                      <a:pt x="f18" y="f14"/>
                      <a:pt x="f19" y="f14"/>
                    </a:cubicBezTo>
                    <a:cubicBezTo>
                      <a:pt x="f20" y="f14"/>
                      <a:pt x="f4" y="f14"/>
                      <a:pt x="f4" y="f21"/>
                    </a:cubicBezTo>
                    <a:cubicBezTo>
                      <a:pt x="f4" y="f22"/>
                      <a:pt x="f23" y="f24"/>
                      <a:pt x="f25" y="f26"/>
                    </a:cubicBezTo>
                    <a:cubicBezTo>
                      <a:pt x="f27" y="f28"/>
                      <a:pt x="f19" y="f29"/>
                      <a:pt x="f30" y="f31"/>
                    </a:cubicBezTo>
                    <a:cubicBezTo>
                      <a:pt x="f9" y="f32"/>
                      <a:pt x="f33" y="f34"/>
                      <a:pt x="f35" y="f36"/>
                    </a:cubicBezTo>
                    <a:cubicBezTo>
                      <a:pt x="f37" y="f38"/>
                      <a:pt x="f39" y="f3"/>
                      <a:pt x="f40" y="f3"/>
                    </a:cubicBezTo>
                    <a:cubicBezTo>
                      <a:pt x="f41" y="f3"/>
                      <a:pt x="f42" y="f3"/>
                      <a:pt x="f42" y="f43"/>
                    </a:cubicBezTo>
                    <a:cubicBezTo>
                      <a:pt x="f42" y="f44"/>
                      <a:pt x="f45" y="f44"/>
                      <a:pt x="f41" y="f44"/>
                    </a:cubicBezTo>
                    <a:cubicBezTo>
                      <a:pt x="f46" y="f47"/>
                      <a:pt x="f48" y="f49"/>
                      <a:pt x="f50" y="f51"/>
                    </a:cubicBezTo>
                    <a:cubicBezTo>
                      <a:pt x="f52" y="f53"/>
                      <a:pt x="f35" y="f54"/>
                      <a:pt x="f55" y="f56"/>
                    </a:cubicBezTo>
                    <a:cubicBezTo>
                      <a:pt x="f57" y="f58"/>
                      <a:pt x="f59" y="f60"/>
                      <a:pt x="f61" y="f31"/>
                    </a:cubicBezTo>
                    <a:cubicBezTo>
                      <a:pt x="f62" y="f29"/>
                      <a:pt x="f3" y="f63"/>
                      <a:pt x="f3" y="f28"/>
                    </a:cubicBezTo>
                    <a:cubicBezTo>
                      <a:pt x="f3" y="f64"/>
                      <a:pt x="f61" y="f5"/>
                      <a:pt x="f47" y="f5"/>
                    </a:cubicBezTo>
                    <a:cubicBezTo>
                      <a:pt x="f65" y="f5"/>
                      <a:pt x="f36" y="f21"/>
                      <a:pt x="f66" y="f21"/>
                    </a:cubicBezTo>
                    <a:cubicBezTo>
                      <a:pt x="f67" y="f68"/>
                      <a:pt x="f69" y="f70"/>
                      <a:pt x="f6" y="f7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vert="horz" wrap="none" lIns="90004" tIns="44997" rIns="90004" bIns="44997" anchor="ctr" anchorCtr="1" compatLnSpc="0">
                <a:noAutofit/>
              </a:bodyPr>
              <a:lstStyle/>
              <a:p>
                <a:pPr marL="0" marR="0" lvl="0" indent="0" algn="l" defTabSz="914400" rtl="0" fontAlgn="auto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7D1ADE4F-09B7-1D82-BE48-F98E8F23A80D}"/>
                  </a:ext>
                </a:extLst>
              </p:cNvPr>
              <p:cNvSpPr/>
              <p:nvPr/>
            </p:nvSpPr>
            <p:spPr>
              <a:xfrm>
                <a:off x="4957922" y="1914122"/>
                <a:ext cx="234360" cy="234004"/>
              </a:xfrm>
              <a:custGeom>
                <a:avLst/>
                <a:gdLst>
                  <a:gd name="f0" fmla="val w"/>
                  <a:gd name="f1" fmla="val h"/>
                  <a:gd name="f2" fmla="val 0"/>
                  <a:gd name="f3" fmla="val 652"/>
                  <a:gd name="f4" fmla="val 651"/>
                  <a:gd name="f5" fmla="val 347"/>
                  <a:gd name="f6" fmla="val 346"/>
                  <a:gd name="f7" fmla="val 439"/>
                  <a:gd name="f8" fmla="val 530"/>
                  <a:gd name="f9" fmla="val 621"/>
                  <a:gd name="f10" fmla="val 635"/>
                  <a:gd name="f11" fmla="val 345"/>
                  <a:gd name="f12" fmla="val 324"/>
                  <a:gd name="f13" fmla="val 303"/>
                  <a:gd name="f14" fmla="val 304"/>
                  <a:gd name="f15" fmla="val 213"/>
                  <a:gd name="f16" fmla="val 122"/>
                  <a:gd name="f17" fmla="val 31"/>
                  <a:gd name="f18" fmla="val 17"/>
                  <a:gd name="f19" fmla="val 328"/>
                  <a:gd name="f20" fmla="val 308"/>
                  <a:gd name="f21" fmla="val 216"/>
                  <a:gd name="f22" fmla="val 123"/>
                  <a:gd name="f23" fmla="val 438"/>
                  <a:gd name="f24" fmla="val 529"/>
                  <a:gd name="f25" fmla="val 620"/>
                  <a:gd name="f26" fmla="val 634"/>
                  <a:gd name="f27" fmla="*/ f0 1 652"/>
                  <a:gd name="f28" fmla="*/ f1 1 651"/>
                  <a:gd name="f29" fmla="val f2"/>
                  <a:gd name="f30" fmla="val f3"/>
                  <a:gd name="f31" fmla="val f4"/>
                  <a:gd name="f32" fmla="+- f31 0 f29"/>
                  <a:gd name="f33" fmla="+- f30 0 f29"/>
                  <a:gd name="f34" fmla="*/ f33 1 652"/>
                  <a:gd name="f35" fmla="*/ f32 1 651"/>
                  <a:gd name="f36" fmla="*/ f29 1 f34"/>
                  <a:gd name="f37" fmla="*/ f30 1 f34"/>
                  <a:gd name="f38" fmla="*/ f29 1 f35"/>
                  <a:gd name="f39" fmla="*/ f31 1 f35"/>
                  <a:gd name="f40" fmla="*/ f36 f27 1"/>
                  <a:gd name="f41" fmla="*/ f37 f27 1"/>
                  <a:gd name="f42" fmla="*/ f39 f28 1"/>
                  <a:gd name="f43" fmla="*/ f38 f28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40" t="f43" r="f41" b="f42"/>
                <a:pathLst>
                  <a:path w="652" h="651">
                    <a:moveTo>
                      <a:pt x="f5" y="f6"/>
                    </a:moveTo>
                    <a:cubicBezTo>
                      <a:pt x="f7" y="f6"/>
                      <a:pt x="f8" y="f6"/>
                      <a:pt x="f9" y="f6"/>
                    </a:cubicBezTo>
                    <a:cubicBezTo>
                      <a:pt x="f10" y="f6"/>
                      <a:pt x="f3" y="f11"/>
                      <a:pt x="f3" y="f12"/>
                    </a:cubicBezTo>
                    <a:cubicBezTo>
                      <a:pt x="f3" y="f13"/>
                      <a:pt x="f10" y="f14"/>
                      <a:pt x="f9" y="f14"/>
                    </a:cubicBezTo>
                    <a:cubicBezTo>
                      <a:pt x="f8" y="f14"/>
                      <a:pt x="f7" y="f14"/>
                      <a:pt x="f5" y="f14"/>
                    </a:cubicBezTo>
                    <a:cubicBezTo>
                      <a:pt x="f5" y="f15"/>
                      <a:pt x="f5" y="f16"/>
                      <a:pt x="f5" y="f17"/>
                    </a:cubicBezTo>
                    <a:cubicBezTo>
                      <a:pt x="f5" y="f18"/>
                      <a:pt x="f5" y="f2"/>
                      <a:pt x="f19" y="f2"/>
                    </a:cubicBezTo>
                    <a:cubicBezTo>
                      <a:pt x="f20" y="f2"/>
                      <a:pt x="f20" y="f18"/>
                      <a:pt x="f20" y="f17"/>
                    </a:cubicBezTo>
                    <a:cubicBezTo>
                      <a:pt x="f20" y="f16"/>
                      <a:pt x="f20" y="f15"/>
                      <a:pt x="f20" y="f14"/>
                    </a:cubicBezTo>
                    <a:cubicBezTo>
                      <a:pt x="f21" y="f14"/>
                      <a:pt x="f22" y="f14"/>
                      <a:pt x="f17" y="f14"/>
                    </a:cubicBezTo>
                    <a:cubicBezTo>
                      <a:pt x="f18" y="f14"/>
                      <a:pt x="f2" y="f13"/>
                      <a:pt x="f2" y="f12"/>
                    </a:cubicBezTo>
                    <a:cubicBezTo>
                      <a:pt x="f2" y="f11"/>
                      <a:pt x="f18" y="f6"/>
                      <a:pt x="f17" y="f6"/>
                    </a:cubicBezTo>
                    <a:cubicBezTo>
                      <a:pt x="f22" y="f6"/>
                      <a:pt x="f21" y="f6"/>
                      <a:pt x="f20" y="f6"/>
                    </a:cubicBezTo>
                    <a:cubicBezTo>
                      <a:pt x="f20" y="f23"/>
                      <a:pt x="f20" y="f24"/>
                      <a:pt x="f20" y="f25"/>
                    </a:cubicBezTo>
                    <a:cubicBezTo>
                      <a:pt x="f20" y="f26"/>
                      <a:pt x="f20" y="f4"/>
                      <a:pt x="f19" y="f4"/>
                    </a:cubicBezTo>
                    <a:cubicBezTo>
                      <a:pt x="f5" y="f4"/>
                      <a:pt x="f5" y="f26"/>
                      <a:pt x="f5" y="f25"/>
                    </a:cubicBezTo>
                    <a:cubicBezTo>
                      <a:pt x="f5" y="f24"/>
                      <a:pt x="f5" y="f23"/>
                      <a:pt x="f5" y="f6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vert="horz" wrap="none" lIns="90004" tIns="44997" rIns="90004" bIns="44997" anchor="ctr" anchorCtr="1" compatLnSpc="0">
                <a:noAutofit/>
              </a:bodyPr>
              <a:lstStyle/>
              <a:p>
                <a:pPr marL="0" marR="0" lvl="0" indent="0" algn="l" defTabSz="914400" rtl="0" fontAlgn="auto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132F9914-39E6-C6B0-E5AA-8EA39BAD8B10}"/>
                  </a:ext>
                </a:extLst>
              </p:cNvPr>
              <p:cNvSpPr/>
              <p:nvPr/>
            </p:nvSpPr>
            <p:spPr>
              <a:xfrm>
                <a:off x="5326919" y="1854723"/>
                <a:ext cx="82442" cy="352437"/>
              </a:xfrm>
              <a:custGeom>
                <a:avLst/>
                <a:gdLst>
                  <a:gd name="f0" fmla="val w"/>
                  <a:gd name="f1" fmla="val h"/>
                  <a:gd name="f2" fmla="val 0"/>
                  <a:gd name="f3" fmla="val 230"/>
                  <a:gd name="f4" fmla="val 980"/>
                  <a:gd name="f5" fmla="val 969"/>
                  <a:gd name="f6" fmla="val 966"/>
                  <a:gd name="f7" fmla="val 213"/>
                  <a:gd name="f8" fmla="val 949"/>
                  <a:gd name="f9" fmla="val 90"/>
                  <a:gd name="f10" fmla="val 824"/>
                  <a:gd name="f11" fmla="val 56"/>
                  <a:gd name="f12" fmla="val 640"/>
                  <a:gd name="f13" fmla="val 489"/>
                  <a:gd name="f14" fmla="val 318"/>
                  <a:gd name="f15" fmla="val 95"/>
                  <a:gd name="f16" fmla="val 148"/>
                  <a:gd name="f17" fmla="val 216"/>
                  <a:gd name="f18" fmla="val 28"/>
                  <a:gd name="f19" fmla="val 14"/>
                  <a:gd name="f20" fmla="val 11"/>
                  <a:gd name="f21" fmla="val 3"/>
                  <a:gd name="f22" fmla="val 224"/>
                  <a:gd name="f23" fmla="val 218"/>
                  <a:gd name="f24" fmla="val 210"/>
                  <a:gd name="f25" fmla="val 120"/>
                  <a:gd name="f26" fmla="val 67"/>
                  <a:gd name="f27" fmla="val 62"/>
                  <a:gd name="f28" fmla="val 193"/>
                  <a:gd name="f29" fmla="val 299"/>
                  <a:gd name="f30" fmla="val 408"/>
                  <a:gd name="f31" fmla="val 567"/>
                  <a:gd name="f32" fmla="val 684"/>
                  <a:gd name="f33" fmla="val 64"/>
                  <a:gd name="f34" fmla="val 796"/>
                  <a:gd name="f35" fmla="val 123"/>
                  <a:gd name="f36" fmla="val 916"/>
                  <a:gd name="f37" fmla="val 977"/>
                  <a:gd name="f38" fmla="*/ f0 1 230"/>
                  <a:gd name="f39" fmla="*/ f1 1 980"/>
                  <a:gd name="f40" fmla="val f2"/>
                  <a:gd name="f41" fmla="val f3"/>
                  <a:gd name="f42" fmla="val f4"/>
                  <a:gd name="f43" fmla="+- f42 0 f40"/>
                  <a:gd name="f44" fmla="+- f41 0 f40"/>
                  <a:gd name="f45" fmla="*/ f44 1 230"/>
                  <a:gd name="f46" fmla="*/ f43 1 980"/>
                  <a:gd name="f47" fmla="*/ f40 1 f45"/>
                  <a:gd name="f48" fmla="*/ f41 1 f45"/>
                  <a:gd name="f49" fmla="*/ f40 1 f46"/>
                  <a:gd name="f50" fmla="*/ f42 1 f46"/>
                  <a:gd name="f51" fmla="*/ f47 f38 1"/>
                  <a:gd name="f52" fmla="*/ f48 f38 1"/>
                  <a:gd name="f53" fmla="*/ f50 f39 1"/>
                  <a:gd name="f54" fmla="*/ f49 f3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51" t="f54" r="f52" b="f53"/>
                <a:pathLst>
                  <a:path w="230" h="980">
                    <a:moveTo>
                      <a:pt x="f3" y="f5"/>
                    </a:moveTo>
                    <a:cubicBezTo>
                      <a:pt x="f3" y="f6"/>
                      <a:pt x="f3" y="f6"/>
                      <a:pt x="f7" y="f8"/>
                    </a:cubicBezTo>
                    <a:cubicBezTo>
                      <a:pt x="f9" y="f10"/>
                      <a:pt x="f11" y="f12"/>
                      <a:pt x="f11" y="f13"/>
                    </a:cubicBezTo>
                    <a:cubicBezTo>
                      <a:pt x="f11" y="f14"/>
                      <a:pt x="f15" y="f16"/>
                      <a:pt x="f17" y="f18"/>
                    </a:cubicBezTo>
                    <a:cubicBezTo>
                      <a:pt x="f3" y="f19"/>
                      <a:pt x="f3" y="f19"/>
                      <a:pt x="f3" y="f20"/>
                    </a:cubicBezTo>
                    <a:cubicBezTo>
                      <a:pt x="f3" y="f21"/>
                      <a:pt x="f22" y="f2"/>
                      <a:pt x="f23" y="f2"/>
                    </a:cubicBezTo>
                    <a:cubicBezTo>
                      <a:pt x="f24" y="f2"/>
                      <a:pt x="f25" y="f26"/>
                      <a:pt x="f27" y="f28"/>
                    </a:cubicBezTo>
                    <a:cubicBezTo>
                      <a:pt x="f20" y="f29"/>
                      <a:pt x="f2" y="f30"/>
                      <a:pt x="f2" y="f13"/>
                    </a:cubicBezTo>
                    <a:cubicBezTo>
                      <a:pt x="f2" y="f31"/>
                      <a:pt x="f20" y="f32"/>
                      <a:pt x="f33" y="f34"/>
                    </a:cubicBezTo>
                    <a:cubicBezTo>
                      <a:pt x="f35" y="f36"/>
                      <a:pt x="f24" y="f4"/>
                      <a:pt x="f23" y="f4"/>
                    </a:cubicBezTo>
                    <a:cubicBezTo>
                      <a:pt x="f22" y="f4"/>
                      <a:pt x="f3" y="f37"/>
                      <a:pt x="f3" y="f5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vert="horz" wrap="none" lIns="90004" tIns="44997" rIns="90004" bIns="44997" anchor="ctr" anchorCtr="1" compatLnSpc="0">
                <a:noAutofit/>
              </a:bodyPr>
              <a:lstStyle/>
              <a:p>
                <a:pPr marL="0" marR="0" lvl="0" indent="0" algn="l" defTabSz="914400" rtl="0" fontAlgn="auto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8A08795E-1B37-D7FC-2623-DDABC49A1E06}"/>
                  </a:ext>
                </a:extLst>
              </p:cNvPr>
              <p:cNvSpPr/>
              <p:nvPr/>
            </p:nvSpPr>
            <p:spPr>
              <a:xfrm>
                <a:off x="5460842" y="1884962"/>
                <a:ext cx="116640" cy="234004"/>
              </a:xfrm>
              <a:custGeom>
                <a:avLst/>
                <a:gdLst>
                  <a:gd name="f0" fmla="val w"/>
                  <a:gd name="f1" fmla="val h"/>
                  <a:gd name="f2" fmla="val 0"/>
                  <a:gd name="f3" fmla="val 325"/>
                  <a:gd name="f4" fmla="val 651"/>
                  <a:gd name="f5" fmla="val 202"/>
                  <a:gd name="f6" fmla="val 25"/>
                  <a:gd name="f7" fmla="val 179"/>
                  <a:gd name="f8" fmla="val 118"/>
                  <a:gd name="f9" fmla="val 61"/>
                  <a:gd name="f10" fmla="val 31"/>
                  <a:gd name="f11" fmla="val 72"/>
                  <a:gd name="f12" fmla="val 82"/>
                  <a:gd name="f13" fmla="val 92"/>
                  <a:gd name="f14" fmla="val 20"/>
                  <a:gd name="f15" fmla="val 78"/>
                  <a:gd name="f16" fmla="val 129"/>
                  <a:gd name="f17" fmla="val 67"/>
                  <a:gd name="f18" fmla="val 236"/>
                  <a:gd name="f19" fmla="val 404"/>
                  <a:gd name="f20" fmla="val 572"/>
                  <a:gd name="f21" fmla="val 609"/>
                  <a:gd name="f22" fmla="val 126"/>
                  <a:gd name="f23" fmla="val 620"/>
                  <a:gd name="f24" fmla="val 39"/>
                  <a:gd name="f25" fmla="val 28"/>
                  <a:gd name="f26" fmla="val 17"/>
                  <a:gd name="f27" fmla="val 6"/>
                  <a:gd name="f28" fmla="val 630"/>
                  <a:gd name="f29" fmla="val 640"/>
                  <a:gd name="f30" fmla="val 42"/>
                  <a:gd name="f31" fmla="val 648"/>
                  <a:gd name="f32" fmla="val 165"/>
                  <a:gd name="f33" fmla="val 204"/>
                  <a:gd name="f34" fmla="val 291"/>
                  <a:gd name="f35" fmla="val 314"/>
                  <a:gd name="f36" fmla="val 304"/>
                  <a:gd name="f37" fmla="val 294"/>
                  <a:gd name="f38" fmla="val 390"/>
                  <a:gd name="f39" fmla="val 208"/>
                  <a:gd name="f40" fmla="*/ f0 1 325"/>
                  <a:gd name="f41" fmla="*/ f1 1 651"/>
                  <a:gd name="f42" fmla="val f2"/>
                  <a:gd name="f43" fmla="val f3"/>
                  <a:gd name="f44" fmla="val f4"/>
                  <a:gd name="f45" fmla="+- f44 0 f42"/>
                  <a:gd name="f46" fmla="+- f43 0 f42"/>
                  <a:gd name="f47" fmla="*/ f46 1 325"/>
                  <a:gd name="f48" fmla="*/ f45 1 651"/>
                  <a:gd name="f49" fmla="*/ f42 1 f47"/>
                  <a:gd name="f50" fmla="*/ f43 1 f47"/>
                  <a:gd name="f51" fmla="*/ f42 1 f48"/>
                  <a:gd name="f52" fmla="*/ f44 1 f48"/>
                  <a:gd name="f53" fmla="*/ f49 f40 1"/>
                  <a:gd name="f54" fmla="*/ f50 f40 1"/>
                  <a:gd name="f55" fmla="*/ f52 f41 1"/>
                  <a:gd name="f56" fmla="*/ f51 f4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53" t="f56" r="f54" b="f55"/>
                <a:pathLst>
                  <a:path w="325" h="651">
                    <a:moveTo>
                      <a:pt x="f5" y="f6"/>
                    </a:moveTo>
                    <a:cubicBezTo>
                      <a:pt x="f5" y="f2"/>
                      <a:pt x="f5" y="f2"/>
                      <a:pt x="f7" y="f2"/>
                    </a:cubicBezTo>
                    <a:cubicBezTo>
                      <a:pt x="f8" y="f9"/>
                      <a:pt x="f10" y="f9"/>
                      <a:pt x="f2" y="f9"/>
                    </a:cubicBezTo>
                    <a:cubicBezTo>
                      <a:pt x="f2" y="f11"/>
                      <a:pt x="f2" y="f12"/>
                      <a:pt x="f2" y="f13"/>
                    </a:cubicBezTo>
                    <a:cubicBezTo>
                      <a:pt x="f14" y="f13"/>
                      <a:pt x="f15" y="f13"/>
                      <a:pt x="f16" y="f17"/>
                    </a:cubicBezTo>
                    <a:cubicBezTo>
                      <a:pt x="f16" y="f18"/>
                      <a:pt x="f16" y="f19"/>
                      <a:pt x="f16" y="f20"/>
                    </a:cubicBezTo>
                    <a:cubicBezTo>
                      <a:pt x="f16" y="f21"/>
                      <a:pt x="f22" y="f23"/>
                      <a:pt x="f24" y="f23"/>
                    </a:cubicBezTo>
                    <a:cubicBezTo>
                      <a:pt x="f25" y="f23"/>
                      <a:pt x="f26" y="f23"/>
                      <a:pt x="f27" y="f23"/>
                    </a:cubicBezTo>
                    <a:cubicBezTo>
                      <a:pt x="f27" y="f28"/>
                      <a:pt x="f27" y="f29"/>
                      <a:pt x="f27" y="f4"/>
                    </a:cubicBezTo>
                    <a:cubicBezTo>
                      <a:pt x="f30" y="f31"/>
                      <a:pt x="f22" y="f31"/>
                      <a:pt x="f32" y="f31"/>
                    </a:cubicBezTo>
                    <a:cubicBezTo>
                      <a:pt x="f33" y="f31"/>
                      <a:pt x="f34" y="f31"/>
                      <a:pt x="f3" y="f4"/>
                    </a:cubicBezTo>
                    <a:cubicBezTo>
                      <a:pt x="f3" y="f29"/>
                      <a:pt x="f3" y="f28"/>
                      <a:pt x="f3" y="f23"/>
                    </a:cubicBezTo>
                    <a:cubicBezTo>
                      <a:pt x="f35" y="f23"/>
                      <a:pt x="f36" y="f23"/>
                      <a:pt x="f37" y="f23"/>
                    </a:cubicBezTo>
                    <a:cubicBezTo>
                      <a:pt x="f33" y="f23"/>
                      <a:pt x="f5" y="f21"/>
                      <a:pt x="f5" y="f20"/>
                    </a:cubicBezTo>
                    <a:cubicBezTo>
                      <a:pt x="f5" y="f38"/>
                      <a:pt x="f5" y="f39"/>
                      <a:pt x="f5" y="f6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vert="horz" wrap="none" lIns="90004" tIns="44997" rIns="90004" bIns="44997" anchor="ctr" anchorCtr="1" compatLnSpc="0">
                <a:noAutofit/>
              </a:bodyPr>
              <a:lstStyle/>
              <a:p>
                <a:pPr marL="0" marR="0" lvl="0" indent="0" algn="l" defTabSz="914400" rtl="0" fontAlgn="auto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0FF44DEF-F6C3-C574-FC4A-AADDAFAB2B49}"/>
                  </a:ext>
                </a:extLst>
              </p:cNvPr>
              <p:cNvSpPr/>
              <p:nvPr/>
            </p:nvSpPr>
            <p:spPr>
              <a:xfrm>
                <a:off x="5715000" y="2023558"/>
                <a:ext cx="216356" cy="14758"/>
              </a:xfrm>
              <a:custGeom>
                <a:avLst/>
                <a:gdLst>
                  <a:gd name="f0" fmla="val w"/>
                  <a:gd name="f1" fmla="val h"/>
                  <a:gd name="f2" fmla="val 0"/>
                  <a:gd name="f3" fmla="val 602"/>
                  <a:gd name="f4" fmla="val 42"/>
                  <a:gd name="f5" fmla="val 565"/>
                  <a:gd name="f6" fmla="val 582"/>
                  <a:gd name="f7" fmla="val 41"/>
                  <a:gd name="f8" fmla="val 20"/>
                  <a:gd name="f9" fmla="val -1"/>
                  <a:gd name="f10" fmla="val 388"/>
                  <a:gd name="f11" fmla="val 211"/>
                  <a:gd name="f12" fmla="val 34"/>
                  <a:gd name="f13" fmla="val 17"/>
                  <a:gd name="f14" fmla="*/ f0 1 602"/>
                  <a:gd name="f15" fmla="*/ f1 1 42"/>
                  <a:gd name="f16" fmla="val f2"/>
                  <a:gd name="f17" fmla="val f3"/>
                  <a:gd name="f18" fmla="val f4"/>
                  <a:gd name="f19" fmla="+- f18 0 f16"/>
                  <a:gd name="f20" fmla="+- f17 0 f16"/>
                  <a:gd name="f21" fmla="*/ f20 1 602"/>
                  <a:gd name="f22" fmla="*/ f19 1 42"/>
                  <a:gd name="f23" fmla="*/ f16 1 f21"/>
                  <a:gd name="f24" fmla="*/ f17 1 f21"/>
                  <a:gd name="f25" fmla="*/ f16 1 f22"/>
                  <a:gd name="f26" fmla="*/ f18 1 f22"/>
                  <a:gd name="f27" fmla="*/ f23 f14 1"/>
                  <a:gd name="f28" fmla="*/ f24 f14 1"/>
                  <a:gd name="f29" fmla="*/ f26 f15 1"/>
                  <a:gd name="f30" fmla="*/ f25 f15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7" t="f30" r="f28" b="f29"/>
                <a:pathLst>
                  <a:path w="602" h="42">
                    <a:moveTo>
                      <a:pt x="f5" y="f4"/>
                    </a:moveTo>
                    <a:cubicBezTo>
                      <a:pt x="f6" y="f4"/>
                      <a:pt x="f3" y="f7"/>
                      <a:pt x="f3" y="f8"/>
                    </a:cubicBezTo>
                    <a:cubicBezTo>
                      <a:pt x="f3" y="f9"/>
                      <a:pt x="f6" y="f2"/>
                      <a:pt x="f5" y="f2"/>
                    </a:cubicBezTo>
                    <a:cubicBezTo>
                      <a:pt x="f10" y="f2"/>
                      <a:pt x="f11" y="f2"/>
                      <a:pt x="f12" y="f2"/>
                    </a:cubicBezTo>
                    <a:cubicBezTo>
                      <a:pt x="f13" y="f2"/>
                      <a:pt x="f2" y="f9"/>
                      <a:pt x="f2" y="f8"/>
                    </a:cubicBezTo>
                    <a:cubicBezTo>
                      <a:pt x="f2" y="f7"/>
                      <a:pt x="f13" y="f4"/>
                      <a:pt x="f12" y="f4"/>
                    </a:cubicBezTo>
                    <a:cubicBezTo>
                      <a:pt x="f11" y="f4"/>
                      <a:pt x="f10" y="f4"/>
                      <a:pt x="f5" y="f4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vert="horz" wrap="none" lIns="90004" tIns="44997" rIns="90004" bIns="44997" anchor="ctr" anchorCtr="1" compatLnSpc="0">
                <a:noAutofit/>
              </a:bodyPr>
              <a:lstStyle/>
              <a:p>
                <a:pPr marL="0" marR="0" lvl="0" indent="0" algn="l" defTabSz="914400" rtl="0" fontAlgn="auto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0D897D4-3281-E6B1-2501-134639627864}"/>
                  </a:ext>
                </a:extLst>
              </p:cNvPr>
              <p:cNvSpPr/>
              <p:nvPr/>
            </p:nvSpPr>
            <p:spPr>
              <a:xfrm>
                <a:off x="6056638" y="1967395"/>
                <a:ext cx="115561" cy="155521"/>
              </a:xfrm>
              <a:custGeom>
                <a:avLst/>
                <a:gdLst>
                  <a:gd name="f0" fmla="val w"/>
                  <a:gd name="f1" fmla="val h"/>
                  <a:gd name="f2" fmla="val 0"/>
                  <a:gd name="f3" fmla="val 322"/>
                  <a:gd name="f4" fmla="val 433"/>
                  <a:gd name="f5" fmla="val 246"/>
                  <a:gd name="f6" fmla="val 201"/>
                  <a:gd name="f7" fmla="val 260"/>
                  <a:gd name="f8" fmla="val 280"/>
                  <a:gd name="f9" fmla="val 184"/>
                  <a:gd name="f10" fmla="val 170"/>
                  <a:gd name="f11" fmla="val 269"/>
                  <a:gd name="f12" fmla="val 252"/>
                  <a:gd name="f13" fmla="val 199"/>
                  <a:gd name="f14" fmla="val 146"/>
                  <a:gd name="f15" fmla="val 92"/>
                  <a:gd name="f16" fmla="val 115"/>
                  <a:gd name="f17" fmla="val 87"/>
                  <a:gd name="f18" fmla="val 171"/>
                  <a:gd name="f19" fmla="val 31"/>
                  <a:gd name="f20" fmla="val 271"/>
                  <a:gd name="f21" fmla="val 281"/>
                  <a:gd name="f22" fmla="val 291"/>
                  <a:gd name="f23" fmla="val 308"/>
                  <a:gd name="f24" fmla="val 14"/>
                  <a:gd name="f25" fmla="val 311"/>
                  <a:gd name="f26" fmla="val 294"/>
                  <a:gd name="f27" fmla="val 282"/>
                  <a:gd name="f28" fmla="val 270"/>
                  <a:gd name="f29" fmla="val 258"/>
                  <a:gd name="f30" fmla="val 132"/>
                  <a:gd name="f31" fmla="val 98"/>
                  <a:gd name="f32" fmla="val 249"/>
                  <a:gd name="f33" fmla="val 355"/>
                  <a:gd name="f34" fmla="val 73"/>
                  <a:gd name="f35" fmla="val 176"/>
                  <a:gd name="f36" fmla="val 241"/>
                  <a:gd name="f37" fmla="val 305"/>
                  <a:gd name="f38" fmla="val 394"/>
                  <a:gd name="f39" fmla="val 383"/>
                  <a:gd name="f40" fmla="val 380"/>
                  <a:gd name="f41" fmla="val 369"/>
                  <a:gd name="f42" fmla="val 290"/>
                  <a:gd name="f43" fmla="val 370"/>
                  <a:gd name="f44" fmla="val 283"/>
                  <a:gd name="f45" fmla="val 374"/>
                  <a:gd name="f46" fmla="val 216"/>
                  <a:gd name="f47" fmla="val 411"/>
                  <a:gd name="f48" fmla="val 179"/>
                  <a:gd name="f49" fmla="val 123"/>
                  <a:gd name="f50" fmla="val 371"/>
                  <a:gd name="f51" fmla="val 285"/>
                  <a:gd name="f52" fmla="val 81"/>
                  <a:gd name="f53" fmla="val 212"/>
                  <a:gd name="f54" fmla="val 84"/>
                  <a:gd name="f55" fmla="val 138"/>
                  <a:gd name="f56" fmla="val 192"/>
                  <a:gd name="f57" fmla="*/ f0 1 322"/>
                  <a:gd name="f58" fmla="*/ f1 1 433"/>
                  <a:gd name="f59" fmla="val f2"/>
                  <a:gd name="f60" fmla="val f3"/>
                  <a:gd name="f61" fmla="val f4"/>
                  <a:gd name="f62" fmla="+- f61 0 f59"/>
                  <a:gd name="f63" fmla="+- f60 0 f59"/>
                  <a:gd name="f64" fmla="*/ f63 1 322"/>
                  <a:gd name="f65" fmla="*/ f62 1 433"/>
                  <a:gd name="f66" fmla="*/ f59 1 f64"/>
                  <a:gd name="f67" fmla="*/ f60 1 f64"/>
                  <a:gd name="f68" fmla="*/ f59 1 f65"/>
                  <a:gd name="f69" fmla="*/ f61 1 f65"/>
                  <a:gd name="f70" fmla="*/ f66 f57 1"/>
                  <a:gd name="f71" fmla="*/ f67 f57 1"/>
                  <a:gd name="f72" fmla="*/ f69 f58 1"/>
                  <a:gd name="f73" fmla="*/ f68 f58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70" t="f73" r="f71" b="f72"/>
                <a:pathLst>
                  <a:path w="322" h="433">
                    <a:moveTo>
                      <a:pt x="f5" y="f6"/>
                    </a:moveTo>
                    <a:cubicBezTo>
                      <a:pt x="f7" y="f6"/>
                      <a:pt x="f8" y="f6"/>
                      <a:pt x="f8" y="f9"/>
                    </a:cubicBezTo>
                    <a:cubicBezTo>
                      <a:pt x="f8" y="f10"/>
                      <a:pt x="f11" y="f10"/>
                      <a:pt x="f12" y="f10"/>
                    </a:cubicBezTo>
                    <a:cubicBezTo>
                      <a:pt x="f13" y="f10"/>
                      <a:pt x="f14" y="f10"/>
                      <a:pt x="f15" y="f10"/>
                    </a:cubicBezTo>
                    <a:cubicBezTo>
                      <a:pt x="f16" y="f17"/>
                      <a:pt x="f18" y="f19"/>
                      <a:pt x="f7" y="f19"/>
                    </a:cubicBezTo>
                    <a:cubicBezTo>
                      <a:pt x="f20" y="f19"/>
                      <a:pt x="f21" y="f19"/>
                      <a:pt x="f22" y="f19"/>
                    </a:cubicBezTo>
                    <a:cubicBezTo>
                      <a:pt x="f23" y="f19"/>
                      <a:pt x="f3" y="f19"/>
                      <a:pt x="f3" y="f24"/>
                    </a:cubicBezTo>
                    <a:cubicBezTo>
                      <a:pt x="f3" y="f2"/>
                      <a:pt x="f25" y="f2"/>
                      <a:pt x="f26" y="f2"/>
                    </a:cubicBezTo>
                    <a:cubicBezTo>
                      <a:pt x="f27" y="f2"/>
                      <a:pt x="f28" y="f2"/>
                      <a:pt x="f29" y="f2"/>
                    </a:cubicBezTo>
                    <a:cubicBezTo>
                      <a:pt x="f30" y="f2"/>
                      <a:pt x="f2" y="f31"/>
                      <a:pt x="f2" y="f32"/>
                    </a:cubicBezTo>
                    <a:cubicBezTo>
                      <a:pt x="f2" y="f33"/>
                      <a:pt x="f34" y="f4"/>
                      <a:pt x="f35" y="f4"/>
                    </a:cubicBezTo>
                    <a:cubicBezTo>
                      <a:pt x="f36" y="f4"/>
                      <a:pt x="f37" y="f38"/>
                      <a:pt x="f37" y="f39"/>
                    </a:cubicBezTo>
                    <a:cubicBezTo>
                      <a:pt x="f37" y="f40"/>
                      <a:pt x="f37" y="f41"/>
                      <a:pt x="f26" y="f41"/>
                    </a:cubicBezTo>
                    <a:cubicBezTo>
                      <a:pt x="f42" y="f43"/>
                      <a:pt x="f22" y="f41"/>
                      <a:pt x="f44" y="f45"/>
                    </a:cubicBezTo>
                    <a:cubicBezTo>
                      <a:pt x="f12" y="f38"/>
                      <a:pt x="f46" y="f47"/>
                      <a:pt x="f48" y="f47"/>
                    </a:cubicBezTo>
                    <a:cubicBezTo>
                      <a:pt x="f49" y="f47"/>
                      <a:pt x="f34" y="f50"/>
                      <a:pt x="f34" y="f51"/>
                    </a:cubicBezTo>
                    <a:cubicBezTo>
                      <a:pt x="f34" y="f32"/>
                      <a:pt x="f52" y="f53"/>
                      <a:pt x="f54" y="f6"/>
                    </a:cubicBezTo>
                    <a:cubicBezTo>
                      <a:pt x="f55" y="f6"/>
                      <a:pt x="f56" y="f6"/>
                      <a:pt x="f5" y="f6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vert="horz" wrap="none" lIns="90004" tIns="44997" rIns="90004" bIns="44997" anchor="ctr" anchorCtr="1" compatLnSpc="0">
                <a:noAutofit/>
              </a:bodyPr>
              <a:lstStyle/>
              <a:p>
                <a:pPr marL="0" marR="0" lvl="0" indent="0" algn="l" defTabSz="914400" rtl="0" fontAlgn="auto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1FE3FBB-BF5A-BCFB-D6F4-8765DD488F5B}"/>
                  </a:ext>
                </a:extLst>
              </p:cNvPr>
              <p:cNvSpPr/>
              <p:nvPr/>
            </p:nvSpPr>
            <p:spPr>
              <a:xfrm>
                <a:off x="6203518" y="1854723"/>
                <a:ext cx="81363" cy="352437"/>
              </a:xfrm>
              <a:custGeom>
                <a:avLst/>
                <a:gdLst>
                  <a:gd name="f0" fmla="val w"/>
                  <a:gd name="f1" fmla="val h"/>
                  <a:gd name="f2" fmla="val 0"/>
                  <a:gd name="f3" fmla="val 227"/>
                  <a:gd name="f4" fmla="val 980"/>
                  <a:gd name="f5" fmla="val 489"/>
                  <a:gd name="f6" fmla="val 413"/>
                  <a:gd name="f7" fmla="val 216"/>
                  <a:gd name="f8" fmla="val 296"/>
                  <a:gd name="f9" fmla="val 162"/>
                  <a:gd name="f10" fmla="val 184"/>
                  <a:gd name="f11" fmla="val 104"/>
                  <a:gd name="f12" fmla="val 64"/>
                  <a:gd name="f13" fmla="val 20"/>
                  <a:gd name="f14" fmla="val 8"/>
                  <a:gd name="f15" fmla="val 3"/>
                  <a:gd name="f16" fmla="val 6"/>
                  <a:gd name="f17" fmla="val 11"/>
                  <a:gd name="f18" fmla="val 14"/>
                  <a:gd name="f19" fmla="val 17"/>
                  <a:gd name="f20" fmla="val 34"/>
                  <a:gd name="f21" fmla="val 115"/>
                  <a:gd name="f22" fmla="val 128"/>
                  <a:gd name="f23" fmla="val 171"/>
                  <a:gd name="f24" fmla="val 285"/>
                  <a:gd name="f25" fmla="val 656"/>
                  <a:gd name="f26" fmla="val 134"/>
                  <a:gd name="f27" fmla="val 829"/>
                  <a:gd name="f28" fmla="val 952"/>
                  <a:gd name="f29" fmla="val 966"/>
                  <a:gd name="f30" fmla="val 969"/>
                  <a:gd name="f31" fmla="val 975"/>
                  <a:gd name="f32" fmla="val 106"/>
                  <a:gd name="f33" fmla="val 913"/>
                  <a:gd name="f34" fmla="val 165"/>
                  <a:gd name="f35" fmla="val 788"/>
                  <a:gd name="f36" fmla="val 681"/>
                  <a:gd name="f37" fmla="val 572"/>
                  <a:gd name="f38" fmla="*/ f0 1 227"/>
                  <a:gd name="f39" fmla="*/ f1 1 980"/>
                  <a:gd name="f40" fmla="val f2"/>
                  <a:gd name="f41" fmla="val f3"/>
                  <a:gd name="f42" fmla="val f4"/>
                  <a:gd name="f43" fmla="+- f42 0 f40"/>
                  <a:gd name="f44" fmla="+- f41 0 f40"/>
                  <a:gd name="f45" fmla="*/ f44 1 227"/>
                  <a:gd name="f46" fmla="*/ f43 1 980"/>
                  <a:gd name="f47" fmla="*/ f40 1 f45"/>
                  <a:gd name="f48" fmla="*/ f41 1 f45"/>
                  <a:gd name="f49" fmla="*/ f40 1 f46"/>
                  <a:gd name="f50" fmla="*/ f42 1 f46"/>
                  <a:gd name="f51" fmla="*/ f47 f38 1"/>
                  <a:gd name="f52" fmla="*/ f48 f38 1"/>
                  <a:gd name="f53" fmla="*/ f50 f39 1"/>
                  <a:gd name="f54" fmla="*/ f49 f3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51" t="f54" r="f52" b="f53"/>
                <a:pathLst>
                  <a:path w="227" h="980">
                    <a:moveTo>
                      <a:pt x="f3" y="f5"/>
                    </a:moveTo>
                    <a:cubicBezTo>
                      <a:pt x="f3" y="f6"/>
                      <a:pt x="f7" y="f8"/>
                      <a:pt x="f9" y="f10"/>
                    </a:cubicBezTo>
                    <a:cubicBezTo>
                      <a:pt x="f11" y="f12"/>
                      <a:pt x="f13" y="f2"/>
                      <a:pt x="f14" y="f2"/>
                    </a:cubicBezTo>
                    <a:cubicBezTo>
                      <a:pt x="f15" y="f2"/>
                      <a:pt x="f2" y="f16"/>
                      <a:pt x="f2" y="f17"/>
                    </a:cubicBezTo>
                    <a:cubicBezTo>
                      <a:pt x="f2" y="f18"/>
                      <a:pt x="f2" y="f18"/>
                      <a:pt x="f19" y="f20"/>
                    </a:cubicBezTo>
                    <a:cubicBezTo>
                      <a:pt x="f21" y="f22"/>
                      <a:pt x="f23" y="f24"/>
                      <a:pt x="f23" y="f5"/>
                    </a:cubicBezTo>
                    <a:cubicBezTo>
                      <a:pt x="f23" y="f25"/>
                      <a:pt x="f26" y="f27"/>
                      <a:pt x="f17" y="f28"/>
                    </a:cubicBezTo>
                    <a:cubicBezTo>
                      <a:pt x="f2" y="f29"/>
                      <a:pt x="f2" y="f29"/>
                      <a:pt x="f2" y="f30"/>
                    </a:cubicBezTo>
                    <a:cubicBezTo>
                      <a:pt x="f2" y="f31"/>
                      <a:pt x="f15" y="f4"/>
                      <a:pt x="f14" y="f4"/>
                    </a:cubicBezTo>
                    <a:cubicBezTo>
                      <a:pt x="f13" y="f4"/>
                      <a:pt x="f32" y="f33"/>
                      <a:pt x="f34" y="f35"/>
                    </a:cubicBezTo>
                    <a:cubicBezTo>
                      <a:pt x="f7" y="f36"/>
                      <a:pt x="f3" y="f37"/>
                      <a:pt x="f3" y="f5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vert="horz" wrap="none" lIns="90004" tIns="44997" rIns="90004" bIns="44997" anchor="ctr" anchorCtr="1" compatLnSpc="0">
                <a:noAutofit/>
              </a:bodyPr>
              <a:lstStyle/>
              <a:p>
                <a:pPr marL="0" marR="0" lvl="0" indent="0" algn="l" defTabSz="914400" rtl="0" fontAlgn="auto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20252F3E-E854-045A-FC24-13C6DA307FC7}"/>
                  </a:ext>
                </a:extLst>
              </p:cNvPr>
              <p:cNvSpPr/>
              <p:nvPr/>
            </p:nvSpPr>
            <p:spPr>
              <a:xfrm>
                <a:off x="6345716" y="1878835"/>
                <a:ext cx="199083" cy="248040"/>
              </a:xfrm>
              <a:custGeom>
                <a:avLst/>
                <a:gdLst>
                  <a:gd name="f0" fmla="val w"/>
                  <a:gd name="f1" fmla="val h"/>
                  <a:gd name="f2" fmla="val 0"/>
                  <a:gd name="f3" fmla="val 554"/>
                  <a:gd name="f4" fmla="val 690"/>
                  <a:gd name="f5" fmla="val 465"/>
                  <a:gd name="f6" fmla="val 70"/>
                  <a:gd name="f7" fmla="val 470"/>
                  <a:gd name="f8" fmla="val 39"/>
                  <a:gd name="f9" fmla="val 473"/>
                  <a:gd name="f10" fmla="val 31"/>
                  <a:gd name="f11" fmla="val 526"/>
                  <a:gd name="f12" fmla="val 543"/>
                  <a:gd name="f13" fmla="val 11"/>
                  <a:gd name="f14" fmla="val 3"/>
                  <a:gd name="f15" fmla="val 549"/>
                  <a:gd name="f16" fmla="val 540"/>
                  <a:gd name="f17" fmla="val 515"/>
                  <a:gd name="f18" fmla="val 456"/>
                  <a:gd name="f19" fmla="val 431"/>
                  <a:gd name="f20" fmla="val 397"/>
                  <a:gd name="f21" fmla="val 319"/>
                  <a:gd name="f22" fmla="val 286"/>
                  <a:gd name="f23" fmla="val 277"/>
                  <a:gd name="f24" fmla="val 266"/>
                  <a:gd name="f25" fmla="val 20"/>
                  <a:gd name="f26" fmla="val 274"/>
                  <a:gd name="f27" fmla="val 300"/>
                  <a:gd name="f28" fmla="val 322"/>
                  <a:gd name="f29" fmla="val 330"/>
                  <a:gd name="f30" fmla="val 356"/>
                  <a:gd name="f31" fmla="val 381"/>
                  <a:gd name="f32" fmla="val 34"/>
                  <a:gd name="f33" fmla="val 386"/>
                  <a:gd name="f34" fmla="val 36"/>
                  <a:gd name="f35" fmla="val 50"/>
                  <a:gd name="f36" fmla="val 56"/>
                  <a:gd name="f37" fmla="val 384"/>
                  <a:gd name="f38" fmla="val 64"/>
                  <a:gd name="f39" fmla="val 73"/>
                  <a:gd name="f40" fmla="val 345"/>
                  <a:gd name="f41" fmla="val 222"/>
                  <a:gd name="f42" fmla="val 307"/>
                  <a:gd name="f43" fmla="val 372"/>
                  <a:gd name="f44" fmla="val 269"/>
                  <a:gd name="f45" fmla="val 522"/>
                  <a:gd name="f46" fmla="val 246"/>
                  <a:gd name="f47" fmla="val 617"/>
                  <a:gd name="f48" fmla="val 179"/>
                  <a:gd name="f49" fmla="val 667"/>
                  <a:gd name="f50" fmla="val 129"/>
                  <a:gd name="f51" fmla="val 104"/>
                  <a:gd name="f52" fmla="val 659"/>
                  <a:gd name="f53" fmla="val 606"/>
                  <a:gd name="f54" fmla="val 609"/>
                  <a:gd name="f55" fmla="val 45"/>
                  <a:gd name="f56" fmla="val 48"/>
                  <a:gd name="f57" fmla="val 84"/>
                  <a:gd name="f58" fmla="val 109"/>
                  <a:gd name="f59" fmla="val 575"/>
                  <a:gd name="f60" fmla="val 545"/>
                  <a:gd name="f61" fmla="val 514"/>
                  <a:gd name="f62" fmla="val 505"/>
                  <a:gd name="f63" fmla="val 67"/>
                  <a:gd name="f64" fmla="val 517"/>
                  <a:gd name="f65" fmla="val 584"/>
                  <a:gd name="f66" fmla="val 642"/>
                  <a:gd name="f67" fmla="val 53"/>
                  <a:gd name="f68" fmla="val 132"/>
                  <a:gd name="f69" fmla="val 221"/>
                  <a:gd name="f70" fmla="val 325"/>
                  <a:gd name="f71" fmla="val 626"/>
                  <a:gd name="f72" fmla="val 347"/>
                  <a:gd name="f73" fmla="val 528"/>
                  <a:gd name="f74" fmla="val 375"/>
                  <a:gd name="f75" fmla="val 425"/>
                  <a:gd name="f76" fmla="*/ f0 1 554"/>
                  <a:gd name="f77" fmla="*/ f1 1 690"/>
                  <a:gd name="f78" fmla="val f2"/>
                  <a:gd name="f79" fmla="val f3"/>
                  <a:gd name="f80" fmla="val f4"/>
                  <a:gd name="f81" fmla="+- f80 0 f78"/>
                  <a:gd name="f82" fmla="+- f79 0 f78"/>
                  <a:gd name="f83" fmla="*/ f82 1 554"/>
                  <a:gd name="f84" fmla="*/ f81 1 690"/>
                  <a:gd name="f85" fmla="*/ f78 1 f83"/>
                  <a:gd name="f86" fmla="*/ f79 1 f83"/>
                  <a:gd name="f87" fmla="*/ f78 1 f84"/>
                  <a:gd name="f88" fmla="*/ f80 1 f84"/>
                  <a:gd name="f89" fmla="*/ f85 f76 1"/>
                  <a:gd name="f90" fmla="*/ f86 f76 1"/>
                  <a:gd name="f91" fmla="*/ f88 f77 1"/>
                  <a:gd name="f92" fmla="*/ f87 f77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89" t="f92" r="f90" b="f91"/>
                <a:pathLst>
                  <a:path w="554" h="690">
                    <a:moveTo>
                      <a:pt x="f5" y="f6"/>
                    </a:moveTo>
                    <a:cubicBezTo>
                      <a:pt x="f7" y="f8"/>
                      <a:pt x="f9" y="f10"/>
                      <a:pt x="f11" y="f10"/>
                    </a:cubicBezTo>
                    <a:cubicBezTo>
                      <a:pt x="f12" y="f10"/>
                      <a:pt x="f3" y="f10"/>
                      <a:pt x="f3" y="f13"/>
                    </a:cubicBezTo>
                    <a:cubicBezTo>
                      <a:pt x="f3" y="f14"/>
                      <a:pt x="f15" y="f2"/>
                      <a:pt x="f16" y="f2"/>
                    </a:cubicBezTo>
                    <a:cubicBezTo>
                      <a:pt x="f17" y="f2"/>
                      <a:pt x="f18" y="f14"/>
                      <a:pt x="f19" y="f14"/>
                    </a:cubicBezTo>
                    <a:cubicBezTo>
                      <a:pt x="f20" y="f14"/>
                      <a:pt x="f21" y="f2"/>
                      <a:pt x="f22" y="f2"/>
                    </a:cubicBezTo>
                    <a:cubicBezTo>
                      <a:pt x="f23" y="f2"/>
                      <a:pt x="f24" y="f2"/>
                      <a:pt x="f24" y="f25"/>
                    </a:cubicBezTo>
                    <a:cubicBezTo>
                      <a:pt x="f24" y="f10"/>
                      <a:pt x="f26" y="f10"/>
                      <a:pt x="f27" y="f10"/>
                    </a:cubicBezTo>
                    <a:cubicBezTo>
                      <a:pt x="f28" y="f10"/>
                      <a:pt x="f29" y="f10"/>
                      <a:pt x="f30" y="f10"/>
                    </a:cubicBezTo>
                    <a:cubicBezTo>
                      <a:pt x="f31" y="f32"/>
                      <a:pt x="f33" y="f34"/>
                      <a:pt x="f33" y="f35"/>
                    </a:cubicBezTo>
                    <a:cubicBezTo>
                      <a:pt x="f33" y="f36"/>
                      <a:pt x="f37" y="f38"/>
                      <a:pt x="f37" y="f39"/>
                    </a:cubicBezTo>
                    <a:cubicBezTo>
                      <a:pt x="f40" y="f41"/>
                      <a:pt x="f42" y="f43"/>
                      <a:pt x="f44" y="f45"/>
                    </a:cubicBezTo>
                    <a:cubicBezTo>
                      <a:pt x="f46" y="f47"/>
                      <a:pt x="f48" y="f49"/>
                      <a:pt x="f50" y="f49"/>
                    </a:cubicBezTo>
                    <a:cubicBezTo>
                      <a:pt x="f51" y="f49"/>
                      <a:pt x="f35" y="f52"/>
                      <a:pt x="f32" y="f53"/>
                    </a:cubicBezTo>
                    <a:cubicBezTo>
                      <a:pt x="f34" y="f54"/>
                      <a:pt x="f55" y="f54"/>
                      <a:pt x="f56" y="f54"/>
                    </a:cubicBezTo>
                    <a:cubicBezTo>
                      <a:pt x="f57" y="f54"/>
                      <a:pt x="f58" y="f59"/>
                      <a:pt x="f58" y="f60"/>
                    </a:cubicBezTo>
                    <a:cubicBezTo>
                      <a:pt x="f58" y="f61"/>
                      <a:pt x="f57" y="f62"/>
                      <a:pt x="f63" y="f62"/>
                    </a:cubicBezTo>
                    <a:cubicBezTo>
                      <a:pt x="f35" y="f62"/>
                      <a:pt x="f2" y="f64"/>
                      <a:pt x="f2" y="f65"/>
                    </a:cubicBezTo>
                    <a:cubicBezTo>
                      <a:pt x="f2" y="f66"/>
                      <a:pt x="f67" y="f4"/>
                      <a:pt x="f68" y="f4"/>
                    </a:cubicBezTo>
                    <a:cubicBezTo>
                      <a:pt x="f69" y="f4"/>
                      <a:pt x="f70" y="f71"/>
                      <a:pt x="f72" y="f73"/>
                    </a:cubicBezTo>
                    <a:cubicBezTo>
                      <a:pt x="f33" y="f74"/>
                      <a:pt x="f75" y="f41"/>
                      <a:pt x="f5" y="f6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vert="horz" wrap="none" lIns="90004" tIns="44997" rIns="90004" bIns="44997" anchor="ctr" anchorCtr="1" compatLnSpc="0">
                <a:noAutofit/>
              </a:bodyPr>
              <a:lstStyle/>
              <a:p>
                <a:pPr marL="0" marR="0" lvl="0" indent="0" algn="l" defTabSz="914400" rtl="0" fontAlgn="auto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88AED940-E228-29A9-4A4D-874E9B557622}"/>
                  </a:ext>
                </a:extLst>
              </p:cNvPr>
              <p:cNvSpPr/>
              <p:nvPr/>
            </p:nvSpPr>
            <p:spPr>
              <a:xfrm>
                <a:off x="6535079" y="2000515"/>
                <a:ext cx="136803" cy="174595"/>
              </a:xfrm>
              <a:custGeom>
                <a:avLst/>
                <a:gdLst>
                  <a:gd name="f0" fmla="val 360"/>
                  <a:gd name="f1" fmla="val w"/>
                  <a:gd name="f2" fmla="val h"/>
                  <a:gd name="f3" fmla="val 0"/>
                  <a:gd name="f4" fmla="val 381"/>
                  <a:gd name="f5" fmla="val 486"/>
                  <a:gd name="f6" fmla="val 230"/>
                  <a:gd name="f7" fmla="val 282"/>
                  <a:gd name="f8" fmla="val 263"/>
                  <a:gd name="f9" fmla="val 302"/>
                  <a:gd name="f10" fmla="val 458"/>
                  <a:gd name="f11" fmla="val 311"/>
                  <a:gd name="f12" fmla="val 466"/>
                  <a:gd name="f13" fmla="val 322"/>
                  <a:gd name="f14" fmla="val 483"/>
                  <a:gd name="f15" fmla="val 336"/>
                  <a:gd name="f16" fmla="val 347"/>
                  <a:gd name="f17" fmla="val 352"/>
                  <a:gd name="f18" fmla="val 356"/>
                  <a:gd name="f19" fmla="val 361"/>
                  <a:gd name="f20" fmla="val 372"/>
                  <a:gd name="f21" fmla="val 475"/>
                  <a:gd name="f22" fmla="val 472"/>
                  <a:gd name="f23" fmla="val 379"/>
                  <a:gd name="f24" fmla="val 471"/>
                  <a:gd name="f25" fmla="val 378"/>
                  <a:gd name="f26" fmla="val 469"/>
                  <a:gd name="f27" fmla="val 370"/>
                  <a:gd name="f28" fmla="val 461"/>
                  <a:gd name="f29" fmla="val 444"/>
                  <a:gd name="f30" fmla="val 358"/>
                  <a:gd name="f31" fmla="val 438"/>
                  <a:gd name="f32" fmla="val 307"/>
                  <a:gd name="f33" fmla="val 246"/>
                  <a:gd name="f34" fmla="val 176"/>
                  <a:gd name="f35" fmla="val 190"/>
                  <a:gd name="f36" fmla="val 45"/>
                  <a:gd name="f37" fmla="val 185"/>
                  <a:gd name="f38" fmla="val 31"/>
                  <a:gd name="f39" fmla="val 171"/>
                  <a:gd name="f40" fmla="val 98"/>
                  <a:gd name="f41" fmla="val 90"/>
                  <a:gd name="f42" fmla="val 81"/>
                  <a:gd name="f43" fmla="val 11"/>
                  <a:gd name="f44" fmla="val 20"/>
                  <a:gd name="f45" fmla="val 87"/>
                  <a:gd name="f46" fmla="val 92"/>
                  <a:gd name="f47" fmla="val 106"/>
                  <a:gd name="f48" fmla="val 22"/>
                  <a:gd name="f49" fmla="val 120"/>
                  <a:gd name="f50" fmla="val 25"/>
                  <a:gd name="f51" fmla="val 137"/>
                  <a:gd name="f52" fmla="val 64"/>
                  <a:gd name="f53" fmla="val 164"/>
                  <a:gd name="f54" fmla="val 128"/>
                  <a:gd name="f55" fmla="val 191"/>
                  <a:gd name="f56" fmla="val 218"/>
                  <a:gd name="f57" fmla="val 254"/>
                  <a:gd name="f58" fmla="val 150"/>
                  <a:gd name="f59" fmla="val 316"/>
                  <a:gd name="f60" fmla="val 82"/>
                  <a:gd name="f61" fmla="val 377"/>
                  <a:gd name="f62" fmla="val 14"/>
                  <a:gd name="f63" fmla="val 6"/>
                  <a:gd name="f64" fmla="val 450"/>
                  <a:gd name="f65" fmla="val 478"/>
                  <a:gd name="f66" fmla="val 39"/>
                  <a:gd name="f67" fmla="val 48"/>
                  <a:gd name="f68" fmla="val 108"/>
                  <a:gd name="f69" fmla="val 411"/>
                  <a:gd name="f70" fmla="val 169"/>
                  <a:gd name="f71" fmla="val 346"/>
                  <a:gd name="f72" fmla="*/ f1 1 381"/>
                  <a:gd name="f73" fmla="*/ f2 1 486"/>
                  <a:gd name="f74" fmla="val f3"/>
                  <a:gd name="f75" fmla="val f4"/>
                  <a:gd name="f76" fmla="val f5"/>
                  <a:gd name="f77" fmla="+- f76 0 f74"/>
                  <a:gd name="f78" fmla="+- f75 0 f74"/>
                  <a:gd name="f79" fmla="*/ f78 1 381"/>
                  <a:gd name="f80" fmla="*/ f77 1 486"/>
                  <a:gd name="f81" fmla="*/ f74 1 f79"/>
                  <a:gd name="f82" fmla="*/ f75 1 f79"/>
                  <a:gd name="f83" fmla="*/ f74 1 f80"/>
                  <a:gd name="f84" fmla="*/ f76 1 f80"/>
                  <a:gd name="f85" fmla="*/ f81 f72 1"/>
                  <a:gd name="f86" fmla="*/ f82 f72 1"/>
                  <a:gd name="f87" fmla="*/ f84 f73 1"/>
                  <a:gd name="f88" fmla="*/ f83 f7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85" t="f88" r="f86" b="f87"/>
                <a:pathLst>
                  <a:path w="381" h="486">
                    <a:moveTo>
                      <a:pt x="f6" y="f7"/>
                    </a:moveTo>
                    <a:cubicBezTo>
                      <a:pt x="f8" y="f0"/>
                      <a:pt x="f9" y="f10"/>
                      <a:pt x="f11" y="f12"/>
                    </a:cubicBezTo>
                    <a:cubicBezTo>
                      <a:pt x="f13" y="f14"/>
                      <a:pt x="f15" y="f14"/>
                      <a:pt x="f16" y="f14"/>
                    </a:cubicBezTo>
                    <a:cubicBezTo>
                      <a:pt x="f17" y="f14"/>
                      <a:pt x="f18" y="f14"/>
                      <a:pt x="f19" y="f14"/>
                    </a:cubicBezTo>
                    <a:cubicBezTo>
                      <a:pt x="f20" y="f14"/>
                      <a:pt x="f4" y="f14"/>
                      <a:pt x="f4" y="f21"/>
                    </a:cubicBezTo>
                    <a:cubicBezTo>
                      <a:pt x="f4" y="f22"/>
                      <a:pt x="f23" y="f24"/>
                      <a:pt x="f25" y="f26"/>
                    </a:cubicBezTo>
                    <a:cubicBezTo>
                      <a:pt x="f27" y="f28"/>
                      <a:pt x="f19" y="f29"/>
                      <a:pt x="f30" y="f31"/>
                    </a:cubicBezTo>
                    <a:cubicBezTo>
                      <a:pt x="f9" y="f32"/>
                      <a:pt x="f33" y="f34"/>
                      <a:pt x="f35" y="f36"/>
                    </a:cubicBezTo>
                    <a:cubicBezTo>
                      <a:pt x="f37" y="f38"/>
                      <a:pt x="f39" y="f3"/>
                      <a:pt x="f40" y="f3"/>
                    </a:cubicBezTo>
                    <a:cubicBezTo>
                      <a:pt x="f41" y="f3"/>
                      <a:pt x="f42" y="f3"/>
                      <a:pt x="f42" y="f43"/>
                    </a:cubicBezTo>
                    <a:cubicBezTo>
                      <a:pt x="f42" y="f44"/>
                      <a:pt x="f45" y="f44"/>
                      <a:pt x="f46" y="f44"/>
                    </a:cubicBezTo>
                    <a:cubicBezTo>
                      <a:pt x="f47" y="f48"/>
                      <a:pt x="f49" y="f50"/>
                      <a:pt x="f51" y="f52"/>
                    </a:cubicBezTo>
                    <a:cubicBezTo>
                      <a:pt x="f53" y="f54"/>
                      <a:pt x="f55" y="f55"/>
                      <a:pt x="f56" y="f57"/>
                    </a:cubicBezTo>
                    <a:cubicBezTo>
                      <a:pt x="f58" y="f59"/>
                      <a:pt x="f60" y="f61"/>
                      <a:pt x="f62" y="f31"/>
                    </a:cubicBezTo>
                    <a:cubicBezTo>
                      <a:pt x="f63" y="f29"/>
                      <a:pt x="f3" y="f64"/>
                      <a:pt x="f3" y="f28"/>
                    </a:cubicBezTo>
                    <a:cubicBezTo>
                      <a:pt x="f3" y="f65"/>
                      <a:pt x="f62" y="f5"/>
                      <a:pt x="f50" y="f5"/>
                    </a:cubicBezTo>
                    <a:cubicBezTo>
                      <a:pt x="f66" y="f5"/>
                      <a:pt x="f36" y="f21"/>
                      <a:pt x="f67" y="f21"/>
                    </a:cubicBezTo>
                    <a:cubicBezTo>
                      <a:pt x="f68" y="f69"/>
                      <a:pt x="f70" y="f71"/>
                      <a:pt x="f6" y="f7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noFill/>
                <a:prstDash val="solid"/>
              </a:ln>
            </p:spPr>
            <p:txBody>
              <a:bodyPr vert="horz" wrap="none" lIns="90004" tIns="44997" rIns="90004" bIns="44997" anchor="ctr" anchorCtr="1" compatLnSpc="0">
                <a:noAutofit/>
              </a:bodyPr>
              <a:lstStyle/>
              <a:p>
                <a:pPr marL="0" marR="0" lvl="0" indent="0" algn="l" defTabSz="914400" rtl="0" fontAlgn="auto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Liberation Sans" pitchFamily="18"/>
                  <a:ea typeface="Microsoft YaHei" pitchFamily="2"/>
                  <a:cs typeface="Arial" pitchFamily="2"/>
                </a:endParaRPr>
              </a:p>
            </p:txBody>
          </p:sp>
        </p:grpSp>
      </p:grpSp>
      <p:pic>
        <p:nvPicPr>
          <p:cNvPr id="21" name="">
            <a:extLst>
              <a:ext uri="{FF2B5EF4-FFF2-40B4-BE49-F238E27FC236}">
                <a16:creationId xmlns:a16="http://schemas.microsoft.com/office/drawing/2014/main" id="{0699EB15-6A25-8575-F43F-D4ECCB5EE267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882597" y="3522963"/>
            <a:ext cx="2311200" cy="849962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400A4-073C-D636-65B6-293418C0D59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>
            <a:spAutoFit/>
          </a:bodyPr>
          <a:lstStyle/>
          <a:p>
            <a:pPr lvl="0"/>
            <a:r>
              <a:rPr lang="en-US"/>
              <a:t>Atom sa dva nivoa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B4FFAE-8A45-87AF-3F9F-4C6A7B7043C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/>
              <a:t>Iako spektralna linija nastaje izmedju dva diskretna energetska nivoa, u principu atomi imaju </a:t>
            </a:r>
            <a:r>
              <a:rPr lang="en-US" b="1"/>
              <a:t>mnogo više </a:t>
            </a:r>
            <a:r>
              <a:rPr lang="en-US"/>
              <a:t>energetskih nivoa.</a:t>
            </a:r>
          </a:p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/>
              <a:t>Jednostavnosti radi, možemo da pretpostavimo da atom ima </a:t>
            </a:r>
            <a:r>
              <a:rPr lang="en-US" b="1"/>
              <a:t>samo ta dva nivoa </a:t>
            </a:r>
            <a:r>
              <a:rPr lang="en-US"/>
              <a:t>te da su jedini dozvoljeni prelazi sa gornjeg na donji i obrnuto.</a:t>
            </a:r>
          </a:p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/>
              <a:t>Te da imamo sudarne i radijativne prelaze.</a:t>
            </a:r>
          </a:p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/>
              <a:t>Sledeća pretpostavka je da su populacije nivoa </a:t>
            </a:r>
            <a:r>
              <a:rPr lang="en-US" b="1"/>
              <a:t>konstantne u vremenu.</a:t>
            </a:r>
          </a:p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/>
              <a:t>Onda ukupan broj de-ekscitacija u našem elementu zapremine, u jedinici vremena mora biti jednak broju ekscitacija: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B456CFA7-B177-7BDA-F4DE-4B7508BE37B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510997" y="4441679"/>
            <a:ext cx="5054400" cy="380518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93A856-9E04-3339-92C2-536DD54B235B}"/>
              </a:ext>
            </a:extLst>
          </p:cNvPr>
          <p:cNvSpPr txBox="1"/>
          <p:nvPr/>
        </p:nvSpPr>
        <p:spPr>
          <a:xfrm>
            <a:off x="2514600" y="5029200"/>
            <a:ext cx="1828800" cy="361800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Sudarni prelazi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210026-3AAE-44DF-E318-F921C3DAC5FE}"/>
              </a:ext>
            </a:extLst>
          </p:cNvPr>
          <p:cNvSpPr txBox="1"/>
          <p:nvPr/>
        </p:nvSpPr>
        <p:spPr>
          <a:xfrm>
            <a:off x="5257800" y="4998604"/>
            <a:ext cx="2057400" cy="48779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Radijativni prelazi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90671D67-103B-8576-AE04-20CB1B913C82}"/>
              </a:ext>
            </a:extLst>
          </p:cNvPr>
          <p:cNvSpPr/>
          <p:nvPr/>
        </p:nvSpPr>
        <p:spPr>
          <a:xfrm flipV="1">
            <a:off x="3429000" y="4822198"/>
            <a:ext cx="0" cy="207001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0" cap="flat">
            <a:solidFill>
              <a:srgbClr val="3465A4"/>
            </a:solidFill>
            <a:prstDash val="solid"/>
            <a:miter/>
            <a:tailEnd type="arrow"/>
          </a:ln>
        </p:spPr>
        <p:txBody>
          <a:bodyPr vert="horz" wrap="non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864F7F04-AB64-D148-3CA3-E019CFC1B09C}"/>
              </a:ext>
            </a:extLst>
          </p:cNvPr>
          <p:cNvSpPr/>
          <p:nvPr/>
        </p:nvSpPr>
        <p:spPr>
          <a:xfrm flipV="1">
            <a:off x="4114800" y="4822198"/>
            <a:ext cx="1828800" cy="435601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0" cap="flat">
            <a:solidFill>
              <a:srgbClr val="3465A4"/>
            </a:solidFill>
            <a:prstDash val="solid"/>
            <a:miter/>
            <a:tailEnd type="arrow"/>
          </a:ln>
        </p:spPr>
        <p:txBody>
          <a:bodyPr vert="horz" wrap="non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67561FA2-4493-3BB8-774D-D4C9E45CF69D}"/>
              </a:ext>
            </a:extLst>
          </p:cNvPr>
          <p:cNvSpPr/>
          <p:nvPr/>
        </p:nvSpPr>
        <p:spPr>
          <a:xfrm flipH="1" flipV="1">
            <a:off x="4343400" y="4822198"/>
            <a:ext cx="914400" cy="435601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0" cap="flat">
            <a:solidFill>
              <a:srgbClr val="3465A4"/>
            </a:solidFill>
            <a:prstDash val="solid"/>
            <a:miter/>
            <a:tailEnd type="arrow"/>
          </a:ln>
        </p:spPr>
        <p:txBody>
          <a:bodyPr vert="horz" wrap="non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5C1A136E-3FA4-A0B8-A26B-6778E6E9323D}"/>
              </a:ext>
            </a:extLst>
          </p:cNvPr>
          <p:cNvSpPr/>
          <p:nvPr/>
        </p:nvSpPr>
        <p:spPr>
          <a:xfrm flipV="1">
            <a:off x="6400800" y="4822198"/>
            <a:ext cx="685800" cy="17639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0" cap="flat">
            <a:solidFill>
              <a:srgbClr val="3465A4"/>
            </a:solidFill>
            <a:prstDash val="solid"/>
            <a:miter/>
            <a:tailEnd type="arrow"/>
          </a:ln>
        </p:spPr>
        <p:txBody>
          <a:bodyPr vert="horz" wrap="non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Microsoft YaHei" pitchFamily="2"/>
              <a:cs typeface="Arial" pitchFamily="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C796F-95C5-0AA3-103B-45AFF62FBDC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Čemu je jednak ukupan broj radijativnih ekscitacija?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7856E-E826-D474-3E41-E8684BC472D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/>
              <a:t>Kako da nadjemo ovo? </a:t>
            </a:r>
            <a:r>
              <a:rPr lang="en-US" b="1"/>
              <a:t>2-3 minuta samostalan rad + diskusija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2A8E0-658C-BFDE-AE08-243AAAF67AA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Čemu je jednak ukupan broj radijativnih ekscitacija?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4C8C46-349A-4DD5-38ED-A69E987E3F0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 dirty="0"/>
              <a:t>= </a:t>
            </a:r>
            <a:r>
              <a:rPr lang="en-US" dirty="0" err="1"/>
              <a:t>Ukupan</a:t>
            </a:r>
            <a:r>
              <a:rPr lang="en-US" dirty="0"/>
              <a:t> 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apsorpcija</a:t>
            </a:r>
            <a:endParaRPr lang="en-US" dirty="0"/>
          </a:p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 dirty="0" err="1"/>
              <a:t>Ukupan</a:t>
            </a:r>
            <a:r>
              <a:rPr lang="en-US" dirty="0"/>
              <a:t> 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apsorpcija</a:t>
            </a:r>
            <a:r>
              <a:rPr lang="en-US" dirty="0"/>
              <a:t> je </a:t>
            </a:r>
            <a:r>
              <a:rPr lang="en-US" dirty="0" err="1"/>
              <a:t>srazmeran</a:t>
            </a:r>
            <a:r>
              <a:rPr lang="en-US" dirty="0"/>
              <a:t> </a:t>
            </a:r>
            <a:r>
              <a:rPr lang="en-US" dirty="0" err="1"/>
              <a:t>ukupnoj</a:t>
            </a:r>
            <a:r>
              <a:rPr lang="en-US" dirty="0"/>
              <a:t> </a:t>
            </a:r>
            <a:r>
              <a:rPr lang="en-US" dirty="0" err="1"/>
              <a:t>apsorpbovanoj</a:t>
            </a:r>
            <a:r>
              <a:rPr lang="en-US" dirty="0"/>
              <a:t> </a:t>
            </a:r>
            <a:r>
              <a:rPr lang="en-US" dirty="0" err="1"/>
              <a:t>energiji</a:t>
            </a:r>
            <a:r>
              <a:rPr lang="en-US" dirty="0"/>
              <a:t> po </a:t>
            </a:r>
            <a:r>
              <a:rPr lang="en-US" dirty="0" err="1"/>
              <a:t>jedinici</a:t>
            </a:r>
            <a:r>
              <a:rPr lang="en-US" dirty="0"/>
              <a:t> </a:t>
            </a:r>
            <a:r>
              <a:rPr lang="en-US" dirty="0" err="1"/>
              <a:t>zapremine</a:t>
            </a:r>
            <a:r>
              <a:rPr lang="en-US" dirty="0"/>
              <a:t> u </a:t>
            </a:r>
            <a:r>
              <a:rPr lang="en-US" dirty="0" err="1"/>
              <a:t>jedinici</a:t>
            </a:r>
            <a:r>
              <a:rPr lang="en-US" dirty="0"/>
              <a:t> </a:t>
            </a:r>
            <a:r>
              <a:rPr lang="en-US" dirty="0" err="1"/>
              <a:t>vremena</a:t>
            </a:r>
            <a:r>
              <a:rPr lang="en-US" dirty="0"/>
              <a:t>.</a:t>
            </a:r>
          </a:p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 dirty="0" err="1"/>
              <a:t>Hajdemo</a:t>
            </a:r>
            <a:r>
              <a:rPr lang="en-US" dirty="0"/>
              <a:t> </a:t>
            </a:r>
            <a:r>
              <a:rPr lang="en-US" dirty="0" err="1"/>
              <a:t>korak</a:t>
            </a:r>
            <a:r>
              <a:rPr lang="en-US" dirty="0"/>
              <a:t> po </a:t>
            </a:r>
            <a:r>
              <a:rPr lang="en-US" dirty="0" err="1"/>
              <a:t>korak</a:t>
            </a:r>
            <a:r>
              <a:rPr lang="en-US" dirty="0"/>
              <a:t>, </a:t>
            </a:r>
            <a:r>
              <a:rPr lang="en-US" dirty="0" err="1"/>
              <a:t>kako</a:t>
            </a:r>
            <a:r>
              <a:rPr lang="en-US" dirty="0"/>
              <a:t> </a:t>
            </a:r>
            <a:r>
              <a:rPr lang="en-US" dirty="0" err="1"/>
              <a:t>biste</a:t>
            </a:r>
            <a:r>
              <a:rPr lang="en-US" dirty="0"/>
              <a:t> </a:t>
            </a:r>
            <a:r>
              <a:rPr lang="en-US" dirty="0" err="1"/>
              <a:t>ovo</a:t>
            </a:r>
            <a:r>
              <a:rPr lang="en-US" dirty="0"/>
              <a:t> </a:t>
            </a:r>
            <a:r>
              <a:rPr lang="en-US" dirty="0" err="1"/>
              <a:t>nazvali</a:t>
            </a:r>
            <a:r>
              <a:rPr lang="en-US" dirty="0"/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C90912-A280-8386-7C52-338657FA976D}"/>
              </a:ext>
            </a:extLst>
          </p:cNvPr>
          <p:cNvSpPr txBox="1"/>
          <p:nvPr/>
        </p:nvSpPr>
        <p:spPr>
          <a:xfrm>
            <a:off x="1681566" y="3886200"/>
            <a:ext cx="2204634" cy="145855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4997" rIns="90004" bIns="44997" anchor="t" anchorCtr="1" compatLnSpc="0">
            <a:sp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Ovde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mislimo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na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ukupan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uklonjeni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intenzitet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iz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snopa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, 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dakle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apsorpcija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 + 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rasejanje</a:t>
            </a:r>
            <a:endParaRPr lang="en-US" sz="1800" b="0" i="0" u="none" strike="noStrike" kern="1200" cap="none" spc="0" baseline="0" dirty="0">
              <a:solidFill>
                <a:srgbClr val="000000"/>
              </a:solidFill>
              <a:uFillTx/>
              <a:latin typeface="Rubik Light" pitchFamily="18"/>
              <a:ea typeface="Microsoft YaHei" pitchFamily="2"/>
              <a:cs typeface="Arial" pitchFamily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7B947C-0984-279E-2F22-DAFCE606B9B6}"/>
              </a:ext>
            </a:extLst>
          </p:cNvPr>
          <p:cNvSpPr txBox="1"/>
          <p:nvPr/>
        </p:nvSpPr>
        <p:spPr>
          <a:xfrm>
            <a:off x="6858000" y="2624401"/>
            <a:ext cx="2057400" cy="147419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4997" rIns="90004" bIns="44997" anchor="t" anchorCtr="1" compatLnSpc="0">
            <a:sp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Ovo “abs” se 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odnosi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samo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na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apsorpciju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, bez 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stimulisane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emisije</a:t>
            </a:r>
            <a:endParaRPr lang="en-US" sz="1800" b="0" i="0" u="none" strike="noStrike" kern="1200" cap="none" spc="0" baseline="0" dirty="0">
              <a:solidFill>
                <a:srgbClr val="000000"/>
              </a:solidFill>
              <a:uFillTx/>
              <a:latin typeface="Rubik Light" pitchFamily="18"/>
              <a:ea typeface="Microsoft YaHei" pitchFamily="2"/>
              <a:cs typeface="Arial" pitchFamily="2"/>
            </a:endParaRP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C9552342-86CB-81CE-B855-A5E49C54493D}"/>
              </a:ext>
            </a:extLst>
          </p:cNvPr>
          <p:cNvSpPr/>
          <p:nvPr/>
        </p:nvSpPr>
        <p:spPr>
          <a:xfrm flipH="1">
            <a:off x="5943600" y="2743200"/>
            <a:ext cx="1143000" cy="4572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0" cap="flat">
            <a:solidFill>
              <a:srgbClr val="3465A4"/>
            </a:solidFill>
            <a:prstDash val="solid"/>
            <a:miter/>
            <a:tailEnd type="arrow"/>
          </a:ln>
        </p:spPr>
        <p:txBody>
          <a:bodyPr vert="horz" wrap="non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Microsoft YaHei" pitchFamily="2"/>
              <a:cs typeface="Arial" pitchFamily="2"/>
            </a:endParaRPr>
          </a:p>
        </p:txBody>
      </p:sp>
      <p:pic>
        <p:nvPicPr>
          <p:cNvPr id="7" name="">
            <a:extLst>
              <a:ext uri="{FF2B5EF4-FFF2-40B4-BE49-F238E27FC236}">
                <a16:creationId xmlns:a16="http://schemas.microsoft.com/office/drawing/2014/main" id="{C3473BC2-A593-7DBF-AC6B-36F6A8CB27C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539880" y="3329641"/>
            <a:ext cx="2997000" cy="444599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8AAFC-680D-9C85-4E53-A5F2AF4C888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Čemu je jednak ukupan broj radijativnih ekscitacija?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01B97C-1551-9CAE-0B20-FBAD1504D6B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 dirty="0"/>
              <a:t>= </a:t>
            </a:r>
            <a:r>
              <a:rPr lang="en-US" dirty="0" err="1"/>
              <a:t>Ukupan</a:t>
            </a:r>
            <a:r>
              <a:rPr lang="en-US" dirty="0"/>
              <a:t> 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apsorpcija</a:t>
            </a:r>
            <a:endParaRPr lang="en-US" dirty="0"/>
          </a:p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 dirty="0" err="1"/>
              <a:t>Ukupan</a:t>
            </a:r>
            <a:r>
              <a:rPr lang="en-US" dirty="0"/>
              <a:t> 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apsorpcija</a:t>
            </a:r>
            <a:r>
              <a:rPr lang="en-US" dirty="0"/>
              <a:t> je </a:t>
            </a:r>
            <a:r>
              <a:rPr lang="en-US" dirty="0" err="1"/>
              <a:t>srazmeran</a:t>
            </a:r>
            <a:r>
              <a:rPr lang="en-US" dirty="0"/>
              <a:t> </a:t>
            </a:r>
            <a:r>
              <a:rPr lang="en-US" dirty="0" err="1"/>
              <a:t>ukupnoj</a:t>
            </a:r>
            <a:r>
              <a:rPr lang="en-US" dirty="0"/>
              <a:t> </a:t>
            </a:r>
            <a:r>
              <a:rPr lang="en-US" dirty="0" err="1"/>
              <a:t>apsorpbovanoj</a:t>
            </a:r>
            <a:r>
              <a:rPr lang="en-US" dirty="0"/>
              <a:t> </a:t>
            </a:r>
            <a:r>
              <a:rPr lang="en-US" dirty="0" err="1"/>
              <a:t>energiji</a:t>
            </a:r>
            <a:r>
              <a:rPr lang="en-US" dirty="0"/>
              <a:t> po </a:t>
            </a:r>
            <a:r>
              <a:rPr lang="en-US" dirty="0" err="1"/>
              <a:t>jedinici</a:t>
            </a:r>
            <a:r>
              <a:rPr lang="en-US" dirty="0"/>
              <a:t> </a:t>
            </a:r>
            <a:r>
              <a:rPr lang="en-US" dirty="0" err="1"/>
              <a:t>zapremine</a:t>
            </a:r>
            <a:r>
              <a:rPr lang="en-US" dirty="0"/>
              <a:t> u </a:t>
            </a:r>
            <a:r>
              <a:rPr lang="en-US" dirty="0" err="1"/>
              <a:t>jedinici</a:t>
            </a:r>
            <a:r>
              <a:rPr lang="en-US" dirty="0"/>
              <a:t> </a:t>
            </a:r>
            <a:r>
              <a:rPr lang="en-US" dirty="0" err="1"/>
              <a:t>vremena</a:t>
            </a:r>
            <a:r>
              <a:rPr lang="en-US" dirty="0"/>
              <a:t>.</a:t>
            </a:r>
          </a:p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 dirty="0" err="1"/>
              <a:t>Hajdemo</a:t>
            </a:r>
            <a:r>
              <a:rPr lang="en-US" dirty="0"/>
              <a:t> </a:t>
            </a:r>
            <a:r>
              <a:rPr lang="en-US" dirty="0" err="1"/>
              <a:t>korak</a:t>
            </a:r>
            <a:r>
              <a:rPr lang="en-US" dirty="0"/>
              <a:t> po </a:t>
            </a:r>
            <a:r>
              <a:rPr lang="en-US" dirty="0" err="1"/>
              <a:t>korak</a:t>
            </a:r>
            <a:r>
              <a:rPr lang="en-US" dirty="0"/>
              <a:t>, </a:t>
            </a:r>
            <a:r>
              <a:rPr lang="en-US" dirty="0" err="1"/>
              <a:t>kako</a:t>
            </a:r>
            <a:r>
              <a:rPr lang="en-US" dirty="0"/>
              <a:t> </a:t>
            </a:r>
            <a:r>
              <a:rPr lang="en-US" dirty="0" err="1"/>
              <a:t>biste</a:t>
            </a:r>
            <a:r>
              <a:rPr lang="en-US" dirty="0"/>
              <a:t> </a:t>
            </a:r>
            <a:r>
              <a:rPr lang="en-US" dirty="0" err="1"/>
              <a:t>ovo</a:t>
            </a:r>
            <a:r>
              <a:rPr lang="en-US" dirty="0"/>
              <a:t> </a:t>
            </a:r>
            <a:r>
              <a:rPr lang="en-US" dirty="0" err="1"/>
              <a:t>nazvali</a:t>
            </a:r>
            <a:r>
              <a:rPr lang="en-US" dirty="0"/>
              <a:t>?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 dirty="0" err="1"/>
              <a:t>Apsorbovana</a:t>
            </a:r>
            <a:r>
              <a:rPr lang="en-US" dirty="0"/>
              <a:t> </a:t>
            </a:r>
            <a:r>
              <a:rPr lang="en-US" dirty="0" err="1"/>
              <a:t>energija</a:t>
            </a:r>
            <a:r>
              <a:rPr lang="en-US" dirty="0"/>
              <a:t> po </a:t>
            </a:r>
            <a:r>
              <a:rPr lang="en-US" dirty="0" err="1"/>
              <a:t>jedinici</a:t>
            </a:r>
            <a:r>
              <a:rPr lang="en-US" dirty="0"/>
              <a:t> </a:t>
            </a:r>
            <a:r>
              <a:rPr lang="en-US" dirty="0" err="1"/>
              <a:t>zapremine</a:t>
            </a:r>
            <a:r>
              <a:rPr lang="en-US" dirty="0"/>
              <a:t>, u </a:t>
            </a:r>
            <a:r>
              <a:rPr lang="en-US" dirty="0" err="1"/>
              <a:t>jedinici</a:t>
            </a:r>
            <a:r>
              <a:rPr lang="en-US" dirty="0"/>
              <a:t> </a:t>
            </a:r>
            <a:r>
              <a:rPr lang="en-US" dirty="0" err="1"/>
              <a:t>vremena</a:t>
            </a:r>
            <a:r>
              <a:rPr lang="en-US" dirty="0"/>
              <a:t>, po </a:t>
            </a:r>
            <a:r>
              <a:rPr lang="en-US" dirty="0" err="1"/>
              <a:t>jediničnom</a:t>
            </a:r>
            <a:r>
              <a:rPr lang="en-US" dirty="0"/>
              <a:t> </a:t>
            </a:r>
            <a:r>
              <a:rPr lang="en-US" dirty="0" err="1"/>
              <a:t>prostornom</a:t>
            </a:r>
            <a:r>
              <a:rPr lang="en-US" dirty="0"/>
              <a:t> </a:t>
            </a:r>
            <a:r>
              <a:rPr lang="en-US" dirty="0" err="1"/>
              <a:t>uglu</a:t>
            </a:r>
            <a:r>
              <a:rPr lang="en-US" dirty="0"/>
              <a:t>. </a:t>
            </a:r>
            <a:r>
              <a:rPr lang="en-US" dirty="0" err="1"/>
              <a:t>Podelimo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energijom</a:t>
            </a:r>
            <a:r>
              <a:rPr lang="en-US" dirty="0"/>
              <a:t> </a:t>
            </a:r>
            <a:r>
              <a:rPr lang="en-US" dirty="0" err="1"/>
              <a:t>jednog</a:t>
            </a:r>
            <a:r>
              <a:rPr lang="en-US" dirty="0"/>
              <a:t> </a:t>
            </a:r>
            <a:r>
              <a:rPr lang="en-US" dirty="0" err="1"/>
              <a:t>fotona</a:t>
            </a:r>
            <a:r>
              <a:rPr lang="en-US" dirty="0"/>
              <a:t> da </a:t>
            </a:r>
            <a:r>
              <a:rPr lang="en-US" dirty="0" err="1"/>
              <a:t>predjemo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apsorpcija</a:t>
            </a:r>
            <a:r>
              <a:rPr lang="en-US" dirty="0"/>
              <a:t>:</a:t>
            </a:r>
          </a:p>
          <a:p>
            <a:pPr lvl="0">
              <a:spcBef>
                <a:spcPts val="0"/>
              </a:spcBef>
              <a:spcAft>
                <a:spcPts val="1580"/>
              </a:spcAft>
            </a:pPr>
            <a:endParaRPr lang="en-US" dirty="0"/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91B0357E-2149-13D2-4298-2754819B5DF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539880" y="2681642"/>
            <a:ext cx="2997000" cy="444599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">
            <a:extLst>
              <a:ext uri="{FF2B5EF4-FFF2-40B4-BE49-F238E27FC236}">
                <a16:creationId xmlns:a16="http://schemas.microsoft.com/office/drawing/2014/main" id="{6E69F251-D563-53D8-0918-8931944994F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2854080" y="4242962"/>
            <a:ext cx="4368600" cy="849962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AEE78-E7EB-412B-0EF9-A2B96C8B6BE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Čemu je jednak ukupan broj radijativnih ekscitacija?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A89F3-E2F6-EBB8-4947-AE2992F5029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/>
              <a:t>= Ukupan broj apsorpcija. Moramo dakle da ovo integralimo po pravcima i talasnim dužinama:</a:t>
            </a: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  <a:p>
            <a:pPr lvl="0">
              <a:spcBef>
                <a:spcPts val="0"/>
              </a:spcBef>
              <a:spcAft>
                <a:spcPts val="1580"/>
              </a:spcAft>
            </a:pPr>
            <a:endParaRPr lang="en-US"/>
          </a:p>
          <a:p>
            <a:pPr lvl="0">
              <a:spcBef>
                <a:spcPts val="0"/>
              </a:spcBef>
              <a:spcAft>
                <a:spcPts val="1580"/>
              </a:spcAft>
            </a:pPr>
            <a:endParaRPr lang="en-US"/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E8A06C4B-2B14-CD89-C93F-A05158D8D50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854080" y="1542958"/>
            <a:ext cx="4368600" cy="84996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">
            <a:extLst>
              <a:ext uri="{FF2B5EF4-FFF2-40B4-BE49-F238E27FC236}">
                <a16:creationId xmlns:a16="http://schemas.microsoft.com/office/drawing/2014/main" id="{834B1059-FD97-2097-91E6-FEF5D7513B2D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1438195" y="2849041"/>
            <a:ext cx="7200360" cy="90179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5A562B-5FB7-61FA-B73F-EEF2BF8D901B}"/>
              </a:ext>
            </a:extLst>
          </p:cNvPr>
          <p:cNvSpPr txBox="1"/>
          <p:nvPr/>
        </p:nvSpPr>
        <p:spPr>
          <a:xfrm>
            <a:off x="1812897" y="3886556"/>
            <a:ext cx="2073659" cy="147419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4997" rIns="90004" bIns="44997" anchor="t" anchorCtr="1" compatLnSpc="0">
            <a:sp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Broj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radijativnih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ekscitacija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 u 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jedinici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vremena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 -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učestanost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 (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eng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: rate)  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ekscitacije</a:t>
            </a:r>
            <a:endParaRPr lang="en-US" sz="1800" b="0" i="0" u="none" strike="noStrike" kern="1200" cap="none" spc="0" baseline="0" dirty="0">
              <a:solidFill>
                <a:srgbClr val="000000"/>
              </a:solidFill>
              <a:uFillTx/>
              <a:latin typeface="Rubik Light" pitchFamily="18"/>
              <a:ea typeface="Microsoft YaHei" pitchFamily="2"/>
              <a:cs typeface="Arial" pitchFamily="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2E9D5E-EFF3-3500-105E-4651CCE7F92B}"/>
              </a:ext>
            </a:extLst>
          </p:cNvPr>
          <p:cNvSpPr txBox="1"/>
          <p:nvPr/>
        </p:nvSpPr>
        <p:spPr>
          <a:xfrm>
            <a:off x="7222680" y="3886922"/>
            <a:ext cx="2280240" cy="147419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4997" rIns="90004" bIns="44997" anchor="t" anchorCtr="1" compatLnSpc="0">
            <a:sp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Integral 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rasejanja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, 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srednji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intenzitet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integraljen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 po 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apsorpcionom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profilu</a:t>
            </a:r>
            <a:endParaRPr lang="en-US" sz="1800" b="0" i="0" u="none" strike="noStrike" kern="1200" cap="none" spc="0" baseline="0" dirty="0">
              <a:solidFill>
                <a:srgbClr val="000000"/>
              </a:solidFill>
              <a:uFillTx/>
              <a:latin typeface="Rubik Light" pitchFamily="18"/>
              <a:ea typeface="Microsoft YaHei" pitchFamily="2"/>
              <a:cs typeface="Arial" pitchFamily="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44BAE-C784-9A25-B892-8187FDD5827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>
            <a:spAutoFit/>
          </a:bodyPr>
          <a:lstStyle/>
          <a:p>
            <a:pPr lvl="0"/>
            <a:r>
              <a:rPr lang="en-US"/>
              <a:t>Radijativne de-ekscitacije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AC8DF1-AA6F-8FBC-6289-4E524591A43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>
            <a:normAutofit lnSpcReduction="10000"/>
          </a:bodyPr>
          <a:lstStyle/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 dirty="0" err="1"/>
              <a:t>Imamo</a:t>
            </a:r>
            <a:r>
              <a:rPr lang="en-US" dirty="0"/>
              <a:t> </a:t>
            </a:r>
            <a:r>
              <a:rPr lang="en-US" dirty="0" err="1"/>
              <a:t>dva</a:t>
            </a:r>
            <a:r>
              <a:rPr lang="en-US" dirty="0"/>
              <a:t> </a:t>
            </a:r>
            <a:r>
              <a:rPr lang="en-US" dirty="0" err="1"/>
              <a:t>procesa</a:t>
            </a:r>
            <a:r>
              <a:rPr lang="en-US" dirty="0"/>
              <a:t>: </a:t>
            </a:r>
            <a:r>
              <a:rPr lang="en-US" dirty="0" err="1"/>
              <a:t>Spontanu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stimulisanu</a:t>
            </a:r>
            <a:r>
              <a:rPr lang="en-US" dirty="0"/>
              <a:t> </a:t>
            </a:r>
            <a:r>
              <a:rPr lang="en-US" dirty="0" err="1"/>
              <a:t>emisiju</a:t>
            </a:r>
            <a:endParaRPr lang="en-US" dirty="0"/>
          </a:p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 dirty="0"/>
              <a:t>Ako </a:t>
            </a:r>
            <a:r>
              <a:rPr lang="en-US" dirty="0" err="1"/>
              <a:t>pretpostavimo</a:t>
            </a:r>
            <a:r>
              <a:rPr lang="en-US" dirty="0"/>
              <a:t> da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emisioni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apsorpcioni</a:t>
            </a:r>
            <a:r>
              <a:rPr lang="en-US" dirty="0"/>
              <a:t> </a:t>
            </a:r>
            <a:r>
              <a:rPr lang="en-US" dirty="0" err="1"/>
              <a:t>profil</a:t>
            </a:r>
            <a:r>
              <a:rPr lang="en-US" dirty="0"/>
              <a:t> </a:t>
            </a:r>
            <a:r>
              <a:rPr lang="en-US" dirty="0" err="1"/>
              <a:t>isti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primenimo</a:t>
            </a:r>
            <a:r>
              <a:rPr lang="en-US" dirty="0"/>
              <a:t> </a:t>
            </a:r>
            <a:r>
              <a:rPr lang="en-US" dirty="0" err="1"/>
              <a:t>prethodnu</a:t>
            </a:r>
            <a:r>
              <a:rPr lang="en-US" dirty="0"/>
              <a:t> </a:t>
            </a:r>
            <a:r>
              <a:rPr lang="en-US" dirty="0" err="1"/>
              <a:t>logiku</a:t>
            </a:r>
            <a:r>
              <a:rPr lang="en-US" dirty="0"/>
              <a:t> </a:t>
            </a:r>
            <a:r>
              <a:rPr lang="en-US" b="1" dirty="0"/>
              <a:t>(</a:t>
            </a:r>
            <a:r>
              <a:rPr lang="en-US" b="1" dirty="0" err="1"/>
              <a:t>tabla</a:t>
            </a:r>
            <a:r>
              <a:rPr lang="en-US" b="1" dirty="0"/>
              <a:t> </a:t>
            </a:r>
            <a:r>
              <a:rPr lang="en-US" b="1" dirty="0" err="1"/>
              <a:t>ako</a:t>
            </a:r>
            <a:r>
              <a:rPr lang="en-US" b="1" dirty="0"/>
              <a:t> </a:t>
            </a:r>
            <a:r>
              <a:rPr lang="en-US" b="1" dirty="0" err="1"/>
              <a:t>zatreba</a:t>
            </a:r>
            <a:r>
              <a:rPr lang="en-US" b="1" dirty="0"/>
              <a:t>) </a:t>
            </a:r>
            <a:r>
              <a:rPr lang="en-US" dirty="0" err="1"/>
              <a:t>dobijamo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 dirty="0" err="1"/>
              <a:t>Poslednji</a:t>
            </a:r>
            <a:r>
              <a:rPr lang="en-US" dirty="0"/>
              <a:t> </a:t>
            </a:r>
            <a:r>
              <a:rPr lang="en-US" dirty="0" err="1"/>
              <a:t>korak</a:t>
            </a:r>
            <a:r>
              <a:rPr lang="en-US" dirty="0"/>
              <a:t> je da </a:t>
            </a:r>
            <a:r>
              <a:rPr lang="en-US" dirty="0" err="1"/>
              <a:t>dodamo</a:t>
            </a:r>
            <a:r>
              <a:rPr lang="en-US" dirty="0"/>
              <a:t> </a:t>
            </a:r>
            <a:r>
              <a:rPr lang="en-US" dirty="0" err="1"/>
              <a:t>sudarne</a:t>
            </a:r>
            <a:r>
              <a:rPr lang="en-US" dirty="0"/>
              <a:t> </a:t>
            </a:r>
            <a:r>
              <a:rPr lang="en-US" dirty="0" err="1"/>
              <a:t>procese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da </a:t>
            </a:r>
            <a:r>
              <a:rPr lang="en-US" dirty="0" err="1"/>
              <a:t>izjednačimo</a:t>
            </a:r>
            <a:r>
              <a:rPr lang="en-US" dirty="0"/>
              <a:t> </a:t>
            </a:r>
            <a:r>
              <a:rPr lang="en-US" dirty="0" err="1"/>
              <a:t>ekscitacije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de-</a:t>
            </a:r>
            <a:r>
              <a:rPr lang="en-US" dirty="0" err="1"/>
              <a:t>ekscitacije</a:t>
            </a:r>
            <a:endParaRPr lang="en-US" dirty="0"/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A45D2AD4-5135-7390-D7EA-4418FB9CFA57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981163" y="2294284"/>
            <a:ext cx="4114443" cy="78731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1FC93F-6CBB-431E-9193-50F50507438B}"/>
              </a:ext>
            </a:extLst>
          </p:cNvPr>
          <p:cNvSpPr txBox="1"/>
          <p:nvPr/>
        </p:nvSpPr>
        <p:spPr>
          <a:xfrm>
            <a:off x="7259541" y="3095280"/>
            <a:ext cx="2135736" cy="147419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4997" rIns="90004" bIns="44997" anchor="t" anchorCtr="1" compatLnSpc="0">
            <a:sp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Integral 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rasejanja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, 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srednji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intenzitet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integraljen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 po 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apsorpcionom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profilu</a:t>
            </a:r>
            <a:endParaRPr lang="en-US" sz="1800" b="0" i="0" u="none" strike="noStrike" kern="1200" cap="none" spc="0" baseline="0" dirty="0">
              <a:solidFill>
                <a:srgbClr val="000000"/>
              </a:solidFill>
              <a:uFillTx/>
              <a:latin typeface="Rubik Light" pitchFamily="18"/>
              <a:ea typeface="Microsoft YaHei" pitchFamily="2"/>
              <a:cs typeface="Arial" pitchFamily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CB2D78-EDBE-C33D-199A-7B059B1812A2}"/>
              </a:ext>
            </a:extLst>
          </p:cNvPr>
          <p:cNvSpPr txBox="1"/>
          <p:nvPr/>
        </p:nvSpPr>
        <p:spPr>
          <a:xfrm>
            <a:off x="4138654" y="3184498"/>
            <a:ext cx="2079266" cy="147419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4997" rIns="90004" bIns="44997" anchor="t" anchorCtr="1" compatLnSpc="0">
            <a:sp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Rubik Light" pitchFamily="18"/>
                <a:ea typeface="Microsoft YaHei" pitchFamily="2"/>
                <a:cs typeface="Arial" pitchFamily="2"/>
              </a:rPr>
              <a:t>Einstein-ov koeficijent spotane emisije je sam po sebi učestanost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BCFA1-F8C4-A0FE-0F0C-7AC3C699D62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>
            <a:spAutoFit/>
          </a:bodyPr>
          <a:lstStyle/>
          <a:p>
            <a:pPr lvl="0"/>
            <a:r>
              <a:rPr lang="en-US"/>
              <a:t>Statistička ravnoteža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3B5519-2EDF-44A8-68D7-663B7FA7D05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/>
              <a:t>Populacije gornjeg i donjeg nivoa su konstantne u vremenu – broj ekscitacija jednak broju de-ekscitacija</a:t>
            </a:r>
          </a:p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/>
              <a:t>Malo generalnije: učestanost procesa koji </a:t>
            </a:r>
            <a:r>
              <a:rPr lang="en-US" b="1"/>
              <a:t>naseljavaju </a:t>
            </a:r>
            <a:r>
              <a:rPr lang="en-US"/>
              <a:t>dati nivo je jednak učestanosti procesa koji </a:t>
            </a:r>
            <a:r>
              <a:rPr lang="en-US" b="1"/>
              <a:t>raseljavaju </a:t>
            </a:r>
            <a:r>
              <a:rPr lang="en-US"/>
              <a:t>dati nivo.</a:t>
            </a:r>
          </a:p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/>
              <a:t>Npr. za nivo n</a:t>
            </a:r>
            <a:r>
              <a:rPr lang="en-US" baseline="-33000"/>
              <a:t>u</a:t>
            </a:r>
            <a:r>
              <a:rPr lang="en-US"/>
              <a:t>: 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 b="1"/>
              <a:t>Tabla / diskusija: </a:t>
            </a:r>
            <a:r>
              <a:rPr lang="en-US"/>
              <a:t>Pokazati da se za donji nivo dobija ista jednačina.</a:t>
            </a:r>
          </a:p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/>
              <a:t>Ako su nam date sve veličine sem populacija, kako da ih dobijemo?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7FF981C2-AC24-698E-8EB1-36E40F05728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742764" y="3342598"/>
            <a:ext cx="6590876" cy="41867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E771A4F1-A30C-36A1-46C8-93F0C64BBA66}"/>
              </a:ext>
            </a:extLst>
          </p:cNvPr>
          <p:cNvSpPr/>
          <p:nvPr/>
        </p:nvSpPr>
        <p:spPr>
          <a:xfrm flipH="1">
            <a:off x="2971800" y="2057400"/>
            <a:ext cx="2286000" cy="1143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0" cap="flat">
            <a:solidFill>
              <a:srgbClr val="3465A4"/>
            </a:solidFill>
            <a:prstDash val="solid"/>
            <a:miter/>
            <a:tailEnd type="arrow"/>
          </a:ln>
        </p:spPr>
        <p:txBody>
          <a:bodyPr vert="horz" wrap="non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0BF63B37-DE13-58F0-894B-6691EE2B8918}"/>
              </a:ext>
            </a:extLst>
          </p:cNvPr>
          <p:cNvSpPr/>
          <p:nvPr/>
        </p:nvSpPr>
        <p:spPr>
          <a:xfrm>
            <a:off x="2514600" y="2286000"/>
            <a:ext cx="3429000" cy="9144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0" cap="flat">
            <a:solidFill>
              <a:srgbClr val="3465A4"/>
            </a:solidFill>
            <a:prstDash val="solid"/>
            <a:miter/>
            <a:tailEnd type="arrow"/>
          </a:ln>
        </p:spPr>
        <p:txBody>
          <a:bodyPr vert="horz" wrap="non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Microsoft YaHei" pitchFamily="2"/>
              <a:cs typeface="Arial" pitchFamily="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33496-D009-D606-5D9D-35863825A76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>
            <a:spAutoFit/>
          </a:bodyPr>
          <a:lstStyle/>
          <a:p>
            <a:pPr lvl="0"/>
            <a:r>
              <a:rPr lang="en-US"/>
              <a:t>Funkcija izvora u atomu sa dva nivoa: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44C4FA-1B0D-CE0B-394B-1DC4461F324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/>
              <a:t>Generalni izraz za funkciju izvora (uvek važi):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/>
              <a:t>A jednačina statističke ravnoteže izgleda ovako: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 b="1"/>
              <a:t>Tabla: </a:t>
            </a:r>
            <a:r>
              <a:rPr lang="en-US"/>
              <a:t>Pokazati da je funkcija izvora u liniji linearna kombinacija Plankove funkcije (B) i integrala rasejanja (J).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DF571741-EE40-E1B8-04E8-03CA50016498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438363" y="1326958"/>
            <a:ext cx="3200043" cy="84996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">
            <a:extLst>
              <a:ext uri="{FF2B5EF4-FFF2-40B4-BE49-F238E27FC236}">
                <a16:creationId xmlns:a16="http://schemas.microsoft.com/office/drawing/2014/main" id="{381F3DA3-130E-1F53-A9FF-DFABC164489C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1742764" y="3090955"/>
            <a:ext cx="6590876" cy="418676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7C5E8-49A6-5540-C0BB-6D6CAD180E8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>
            <a:spAutoFit/>
          </a:bodyPr>
          <a:lstStyle/>
          <a:p>
            <a:pPr lvl="0"/>
            <a:r>
              <a:rPr lang="en-US"/>
              <a:t>Funkcija izvora u atomu sa dva nivoa: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D686A7-0C74-4252-C440-ED81FE25232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3" y="1828800"/>
            <a:ext cx="9685443" cy="3531595"/>
          </a:xfrm>
        </p:spPr>
        <p:txBody>
          <a:bodyPr/>
          <a:lstStyle/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/>
              <a:t>Gde epsilon sada ima malko komplikovaniji oblik: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 i="1"/>
              <a:t>Obratite pažnju da pri izvodjenju ovog izraza moramo da izvedemo relacije izmedju sudarne ekscitacije i de-ekscitacije na osnovu LTR uslova!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CF33818D-D148-B818-4ED9-1ACA83F214E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527636" y="1038602"/>
            <a:ext cx="3021479" cy="41867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">
            <a:extLst>
              <a:ext uri="{FF2B5EF4-FFF2-40B4-BE49-F238E27FC236}">
                <a16:creationId xmlns:a16="http://schemas.microsoft.com/office/drawing/2014/main" id="{FD72B864-B99B-9730-BB19-F520A801CC0A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1565279" y="2386081"/>
            <a:ext cx="6945837" cy="964079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92292-1FD1-8242-E3FA-709CF08780A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>
            <a:spAutoFit/>
          </a:bodyPr>
          <a:lstStyle/>
          <a:p>
            <a:pPr lvl="0"/>
            <a:r>
              <a:rPr lang="en-US"/>
              <a:t>Atom sa dva nivoa u ne-LTR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DCE4F4-C87E-9E38-0E14-1A06AA3D32D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/>
              <a:t>Opet imamo spregnuće. Ovaj put spregnute su JPZ i jednačina statističke ravnoteže:</a:t>
            </a:r>
          </a:p>
          <a:p>
            <a:pPr lvl="0">
              <a:spcBef>
                <a:spcPts val="0"/>
              </a:spcBef>
              <a:spcAft>
                <a:spcPts val="1580"/>
              </a:spcAft>
            </a:pP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/>
              <a:t>Opet ih, po potrebi možemo napisati kao jednu integro-diferencijalnu jednačinu.</a:t>
            </a:r>
          </a:p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/>
              <a:t>Postoji tačno semi-analitičko rešenje, postoje direktna i iterativna numerička rešenja. </a:t>
            </a:r>
            <a:r>
              <a:rPr lang="en-US" b="1"/>
              <a:t>Više o tome na vežbama.</a:t>
            </a:r>
          </a:p>
          <a:p>
            <a:pPr lvl="0">
              <a:spcBef>
                <a:spcPts val="0"/>
              </a:spcBef>
              <a:spcAft>
                <a:spcPts val="1580"/>
              </a:spcAft>
            </a:pPr>
            <a:endParaRPr lang="en-US"/>
          </a:p>
          <a:p>
            <a:pPr lvl="0">
              <a:spcBef>
                <a:spcPts val="0"/>
              </a:spcBef>
              <a:spcAft>
                <a:spcPts val="1580"/>
              </a:spcAft>
            </a:pPr>
            <a:endParaRPr lang="en-US"/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DC564E55-9634-84BB-1C54-B775C23A14C7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225155" y="1509116"/>
            <a:ext cx="5626074" cy="1854000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274A1-1B8C-14D3-6CCF-7827DE3CC2F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>
            <a:spAutoFit/>
          </a:bodyPr>
          <a:lstStyle/>
          <a:p>
            <a:pPr lvl="0"/>
            <a:r>
              <a:rPr lang="en-US"/>
              <a:t>Šta su posledice ne-LTR?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78FA30-C13C-4CF1-8FF8-A2368B15A92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/>
              <a:t>Hajde da sami odgovorimo na to pitanje.</a:t>
            </a:r>
          </a:p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/>
              <a:t>Zamislite da imamo, zadatu, izotermalnu atmosferu </a:t>
            </a:r>
            <a:r>
              <a:rPr lang="en-US" b="1"/>
              <a:t>(B = const).</a:t>
            </a:r>
          </a:p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/>
              <a:t>Pretpostavite </a:t>
            </a:r>
            <a:r>
              <a:rPr lang="en-US" b="1"/>
              <a:t>epsilon = 0.</a:t>
            </a:r>
          </a:p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/>
              <a:t>Ubedite sebe (i mene) da će funkcija izvora pasti ispod B na vrhu atmosfere.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 b="1"/>
              <a:t>Diskusija → Tabla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33CFF-834A-C753-157D-D13EF601909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>
            <a:spAutoFit/>
          </a:bodyPr>
          <a:lstStyle/>
          <a:p>
            <a:pPr lvl="0"/>
            <a:r>
              <a:rPr lang="en-US"/>
              <a:t>Šta su posledice ne-LTR?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24F66E-7845-F969-D998-81B5256C14F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/>
              <a:t>Hajde da sami odgovorimo na to pitanje.</a:t>
            </a:r>
          </a:p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/>
              <a:t>Zamislite da imamo, zadatu, izotermalnu atmosferu </a:t>
            </a:r>
            <a:r>
              <a:rPr lang="en-US" b="1"/>
              <a:t>(B = const).</a:t>
            </a:r>
          </a:p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/>
              <a:t>Pretpostavite </a:t>
            </a:r>
            <a:r>
              <a:rPr lang="en-US" b="1"/>
              <a:t>epsilon = 0.</a:t>
            </a:r>
          </a:p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/>
              <a:t>Ubedite sebe (i mene) da će funkcija izvora pasti ispod B na vrhu atmosfere.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4B0D1062-78E5-F911-E5D6-BC681231406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370155" y="2707556"/>
            <a:ext cx="7336441" cy="2962079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55701-A0EB-1825-6925-C5C0284E7BC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>
            <a:spAutoFit/>
          </a:bodyPr>
          <a:lstStyle/>
          <a:p>
            <a:pPr lvl="0"/>
            <a:r>
              <a:rPr lang="en-US"/>
              <a:t>Tačno rešenje – funkcija izvora bitno pada na vrhu atmosfere</a:t>
            </a:r>
          </a:p>
        </p:txBody>
      </p:sp>
      <p:pic>
        <p:nvPicPr>
          <p:cNvPr id="3" name="">
            <a:extLst>
              <a:ext uri="{FF2B5EF4-FFF2-40B4-BE49-F238E27FC236}">
                <a16:creationId xmlns:a16="http://schemas.microsoft.com/office/drawing/2014/main" id="{EC3B47A6-4AE7-15D8-478A-E299A0BBADE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172239" y="1479599"/>
            <a:ext cx="5234400" cy="351648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4490E04-4427-E946-74CA-0D5CE72DA56D}"/>
              </a:ext>
            </a:extLst>
          </p:cNvPr>
          <p:cNvSpPr/>
          <p:nvPr/>
        </p:nvSpPr>
        <p:spPr>
          <a:xfrm>
            <a:off x="5712842" y="1142643"/>
            <a:ext cx="1828077" cy="1143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*/ 5419351 1 1725033"/>
              <a:gd name="f8" fmla="*/ 10800 10800 1"/>
              <a:gd name="f9" fmla="+- 0 0 360"/>
              <a:gd name="f10" fmla="val 10800"/>
              <a:gd name="f11" fmla="+- 0 0 0"/>
              <a:gd name="f12" fmla="*/ f3 1 21600"/>
              <a:gd name="f13" fmla="*/ f4 1 21600"/>
              <a:gd name="f14" fmla="val f5"/>
              <a:gd name="f15" fmla="val f6"/>
              <a:gd name="f16" fmla="*/ 0 f7 1"/>
              <a:gd name="f17" fmla="*/ f5 f0 1"/>
              <a:gd name="f18" fmla="*/ f9 f0 1"/>
              <a:gd name="f19" fmla="*/ f11 f0 1"/>
              <a:gd name="f20" fmla="+- f15 0 f14"/>
              <a:gd name="f21" fmla="*/ f16 1 f2"/>
              <a:gd name="f22" fmla="*/ f17 1 f2"/>
              <a:gd name="f23" fmla="*/ f18 1 f2"/>
              <a:gd name="f24" fmla="*/ f19 1 f2"/>
              <a:gd name="f25" fmla="*/ f20 1 21600"/>
              <a:gd name="f26" fmla="+- 0 0 f21"/>
              <a:gd name="f27" fmla="+- f22 0 f1"/>
              <a:gd name="f28" fmla="+- f23 0 f1"/>
              <a:gd name="f29" fmla="+- f24 0 f1"/>
              <a:gd name="f30" fmla="*/ 3163 f25 1"/>
              <a:gd name="f31" fmla="*/ 18437 f25 1"/>
              <a:gd name="f32" fmla="*/ 10800 f25 1"/>
              <a:gd name="f33" fmla="*/ 0 f25 1"/>
              <a:gd name="f34" fmla="*/ 21600 f25 1"/>
              <a:gd name="f35" fmla="*/ f26 f0 1"/>
              <a:gd name="f36" fmla="+- f28 0 f27"/>
              <a:gd name="f37" fmla="*/ f35 1 f7"/>
              <a:gd name="f38" fmla="*/ f32 1 f25"/>
              <a:gd name="f39" fmla="*/ f33 1 f25"/>
              <a:gd name="f40" fmla="*/ f30 1 f25"/>
              <a:gd name="f41" fmla="*/ f31 1 f25"/>
              <a:gd name="f42" fmla="*/ f34 1 f25"/>
              <a:gd name="f43" fmla="+- f37 0 f1"/>
              <a:gd name="f44" fmla="*/ f40 f12 1"/>
              <a:gd name="f45" fmla="*/ f41 f12 1"/>
              <a:gd name="f46" fmla="*/ f41 f13 1"/>
              <a:gd name="f47" fmla="*/ f40 f13 1"/>
              <a:gd name="f48" fmla="*/ f38 f12 1"/>
              <a:gd name="f49" fmla="*/ f39 f13 1"/>
              <a:gd name="f50" fmla="*/ f39 f12 1"/>
              <a:gd name="f51" fmla="*/ f38 f13 1"/>
              <a:gd name="f52" fmla="*/ f42 f13 1"/>
              <a:gd name="f53" fmla="*/ f42 f12 1"/>
              <a:gd name="f54" fmla="+- f43 f1 0"/>
              <a:gd name="f55" fmla="*/ f54 f7 1"/>
              <a:gd name="f56" fmla="*/ f55 1 f0"/>
              <a:gd name="f57" fmla="+- 0 0 f56"/>
              <a:gd name="f58" fmla="+- 0 0 f57"/>
              <a:gd name="f59" fmla="*/ f58 f0 1"/>
              <a:gd name="f60" fmla="*/ f59 1 f7"/>
              <a:gd name="f61" fmla="+- f60 0 f1"/>
              <a:gd name="f62" fmla="cos 1 f61"/>
              <a:gd name="f63" fmla="sin 1 f61"/>
              <a:gd name="f64" fmla="+- 0 0 f62"/>
              <a:gd name="f65" fmla="+- 0 0 f63"/>
              <a:gd name="f66" fmla="+- 0 0 f64"/>
              <a:gd name="f67" fmla="+- 0 0 f65"/>
              <a:gd name="f68" fmla="val f66"/>
              <a:gd name="f69" fmla="val f67"/>
              <a:gd name="f70" fmla="+- 0 0 f68"/>
              <a:gd name="f71" fmla="+- 0 0 f69"/>
              <a:gd name="f72" fmla="*/ 10800 f70 1"/>
              <a:gd name="f73" fmla="*/ 10800 f71 1"/>
              <a:gd name="f74" fmla="*/ f72 f72 1"/>
              <a:gd name="f75" fmla="*/ f73 f73 1"/>
              <a:gd name="f76" fmla="+- f74 f75 0"/>
              <a:gd name="f77" fmla="sqrt f76"/>
              <a:gd name="f78" fmla="*/ f8 1 f77"/>
              <a:gd name="f79" fmla="*/ f70 f78 1"/>
              <a:gd name="f80" fmla="*/ f71 f78 1"/>
              <a:gd name="f81" fmla="+- 10800 0 f79"/>
              <a:gd name="f82" fmla="+- 10800 0 f8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48" y="f49"/>
              </a:cxn>
              <a:cxn ang="f29">
                <a:pos x="f44" y="f47"/>
              </a:cxn>
              <a:cxn ang="f29">
                <a:pos x="f50" y="f51"/>
              </a:cxn>
              <a:cxn ang="f29">
                <a:pos x="f44" y="f46"/>
              </a:cxn>
              <a:cxn ang="f29">
                <a:pos x="f48" y="f52"/>
              </a:cxn>
              <a:cxn ang="f29">
                <a:pos x="f45" y="f46"/>
              </a:cxn>
              <a:cxn ang="f29">
                <a:pos x="f53" y="f51"/>
              </a:cxn>
              <a:cxn ang="f29">
                <a:pos x="f45" y="f47"/>
              </a:cxn>
            </a:cxnLst>
            <a:rect l="f44" t="f47" r="f45" b="f46"/>
            <a:pathLst>
              <a:path w="21600" h="21600">
                <a:moveTo>
                  <a:pt x="f81" y="f82"/>
                </a:moveTo>
                <a:arcTo wR="f10" hR="f10" stAng="f27" swAng="f36"/>
                <a:close/>
              </a:path>
            </a:pathLst>
          </a:custGeom>
          <a:noFill/>
          <a:ln w="29160" cap="flat">
            <a:solidFill>
              <a:srgbClr val="3465A4"/>
            </a:solidFill>
            <a:prstDash val="solid"/>
            <a:miter/>
          </a:ln>
        </p:spPr>
        <p:txBody>
          <a:bodyPr vert="horz" wrap="none" lIns="104397" tIns="59399" rIns="104397" bIns="59399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3968C9-F625-D615-0924-119DB4D95C93}"/>
              </a:ext>
            </a:extLst>
          </p:cNvPr>
          <p:cNvSpPr txBox="1"/>
          <p:nvPr/>
        </p:nvSpPr>
        <p:spPr>
          <a:xfrm>
            <a:off x="7281120" y="2057043"/>
            <a:ext cx="2545433" cy="204693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000000"/>
                </a:solidFill>
                <a:uFillTx/>
                <a:latin typeface="Open Sans" pitchFamily="34"/>
                <a:ea typeface="Microsoft YaHei" pitchFamily="2"/>
                <a:cs typeface="Arial" pitchFamily="2"/>
              </a:rPr>
              <a:t>Funkcija izvora dostiže Plankovu funkciju duboko u atmosferi. Ovo nema nikakve veze sa gustinom, već sa ukupnom neprozračnošću.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407A6A5-AD83-EF6F-2A80-F7B0F169F9E1}"/>
              </a:ext>
            </a:extLst>
          </p:cNvPr>
          <p:cNvSpPr/>
          <p:nvPr/>
        </p:nvSpPr>
        <p:spPr>
          <a:xfrm>
            <a:off x="2513521" y="2514243"/>
            <a:ext cx="1828077" cy="205704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*/ 5419351 1 1725033"/>
              <a:gd name="f8" fmla="*/ 10800 10800 1"/>
              <a:gd name="f9" fmla="+- 0 0 360"/>
              <a:gd name="f10" fmla="val 10800"/>
              <a:gd name="f11" fmla="+- 0 0 0"/>
              <a:gd name="f12" fmla="*/ f3 1 21600"/>
              <a:gd name="f13" fmla="*/ f4 1 21600"/>
              <a:gd name="f14" fmla="val f5"/>
              <a:gd name="f15" fmla="val f6"/>
              <a:gd name="f16" fmla="*/ 0 f7 1"/>
              <a:gd name="f17" fmla="*/ f5 f0 1"/>
              <a:gd name="f18" fmla="*/ f9 f0 1"/>
              <a:gd name="f19" fmla="*/ f11 f0 1"/>
              <a:gd name="f20" fmla="+- f15 0 f14"/>
              <a:gd name="f21" fmla="*/ f16 1 f2"/>
              <a:gd name="f22" fmla="*/ f17 1 f2"/>
              <a:gd name="f23" fmla="*/ f18 1 f2"/>
              <a:gd name="f24" fmla="*/ f19 1 f2"/>
              <a:gd name="f25" fmla="*/ f20 1 21600"/>
              <a:gd name="f26" fmla="+- 0 0 f21"/>
              <a:gd name="f27" fmla="+- f22 0 f1"/>
              <a:gd name="f28" fmla="+- f23 0 f1"/>
              <a:gd name="f29" fmla="+- f24 0 f1"/>
              <a:gd name="f30" fmla="*/ 3163 f25 1"/>
              <a:gd name="f31" fmla="*/ 18437 f25 1"/>
              <a:gd name="f32" fmla="*/ 10800 f25 1"/>
              <a:gd name="f33" fmla="*/ 0 f25 1"/>
              <a:gd name="f34" fmla="*/ 21600 f25 1"/>
              <a:gd name="f35" fmla="*/ f26 f0 1"/>
              <a:gd name="f36" fmla="+- f28 0 f27"/>
              <a:gd name="f37" fmla="*/ f35 1 f7"/>
              <a:gd name="f38" fmla="*/ f32 1 f25"/>
              <a:gd name="f39" fmla="*/ f33 1 f25"/>
              <a:gd name="f40" fmla="*/ f30 1 f25"/>
              <a:gd name="f41" fmla="*/ f31 1 f25"/>
              <a:gd name="f42" fmla="*/ f34 1 f25"/>
              <a:gd name="f43" fmla="+- f37 0 f1"/>
              <a:gd name="f44" fmla="*/ f40 f12 1"/>
              <a:gd name="f45" fmla="*/ f41 f12 1"/>
              <a:gd name="f46" fmla="*/ f41 f13 1"/>
              <a:gd name="f47" fmla="*/ f40 f13 1"/>
              <a:gd name="f48" fmla="*/ f38 f12 1"/>
              <a:gd name="f49" fmla="*/ f39 f13 1"/>
              <a:gd name="f50" fmla="*/ f39 f12 1"/>
              <a:gd name="f51" fmla="*/ f38 f13 1"/>
              <a:gd name="f52" fmla="*/ f42 f13 1"/>
              <a:gd name="f53" fmla="*/ f42 f12 1"/>
              <a:gd name="f54" fmla="+- f43 f1 0"/>
              <a:gd name="f55" fmla="*/ f54 f7 1"/>
              <a:gd name="f56" fmla="*/ f55 1 f0"/>
              <a:gd name="f57" fmla="+- 0 0 f56"/>
              <a:gd name="f58" fmla="+- 0 0 f57"/>
              <a:gd name="f59" fmla="*/ f58 f0 1"/>
              <a:gd name="f60" fmla="*/ f59 1 f7"/>
              <a:gd name="f61" fmla="+- f60 0 f1"/>
              <a:gd name="f62" fmla="cos 1 f61"/>
              <a:gd name="f63" fmla="sin 1 f61"/>
              <a:gd name="f64" fmla="+- 0 0 f62"/>
              <a:gd name="f65" fmla="+- 0 0 f63"/>
              <a:gd name="f66" fmla="+- 0 0 f64"/>
              <a:gd name="f67" fmla="+- 0 0 f65"/>
              <a:gd name="f68" fmla="val f66"/>
              <a:gd name="f69" fmla="val f67"/>
              <a:gd name="f70" fmla="+- 0 0 f68"/>
              <a:gd name="f71" fmla="+- 0 0 f69"/>
              <a:gd name="f72" fmla="*/ 10800 f70 1"/>
              <a:gd name="f73" fmla="*/ 10800 f71 1"/>
              <a:gd name="f74" fmla="*/ f72 f72 1"/>
              <a:gd name="f75" fmla="*/ f73 f73 1"/>
              <a:gd name="f76" fmla="+- f74 f75 0"/>
              <a:gd name="f77" fmla="sqrt f76"/>
              <a:gd name="f78" fmla="*/ f8 1 f77"/>
              <a:gd name="f79" fmla="*/ f70 f78 1"/>
              <a:gd name="f80" fmla="*/ f71 f78 1"/>
              <a:gd name="f81" fmla="+- 10800 0 f79"/>
              <a:gd name="f82" fmla="+- 10800 0 f8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48" y="f49"/>
              </a:cxn>
              <a:cxn ang="f29">
                <a:pos x="f44" y="f47"/>
              </a:cxn>
              <a:cxn ang="f29">
                <a:pos x="f50" y="f51"/>
              </a:cxn>
              <a:cxn ang="f29">
                <a:pos x="f44" y="f46"/>
              </a:cxn>
              <a:cxn ang="f29">
                <a:pos x="f48" y="f52"/>
              </a:cxn>
              <a:cxn ang="f29">
                <a:pos x="f45" y="f46"/>
              </a:cxn>
              <a:cxn ang="f29">
                <a:pos x="f53" y="f51"/>
              </a:cxn>
              <a:cxn ang="f29">
                <a:pos x="f45" y="f47"/>
              </a:cxn>
            </a:cxnLst>
            <a:rect l="f44" t="f47" r="f45" b="f46"/>
            <a:pathLst>
              <a:path w="21600" h="21600">
                <a:moveTo>
                  <a:pt x="f81" y="f82"/>
                </a:moveTo>
                <a:arcTo wR="f10" hR="f10" stAng="f27" swAng="f36"/>
                <a:close/>
              </a:path>
            </a:pathLst>
          </a:custGeom>
          <a:noFill/>
          <a:ln w="29160" cap="flat">
            <a:solidFill>
              <a:srgbClr val="3465A4"/>
            </a:solidFill>
            <a:prstDash val="solid"/>
            <a:miter/>
          </a:ln>
        </p:spPr>
        <p:txBody>
          <a:bodyPr vert="horz" wrap="none" lIns="104397" tIns="59399" rIns="104397" bIns="59399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92F6AE-5065-128F-4C2F-2F45E4D0931C}"/>
              </a:ext>
            </a:extLst>
          </p:cNvPr>
          <p:cNvSpPr txBox="1"/>
          <p:nvPr/>
        </p:nvSpPr>
        <p:spPr>
          <a:xfrm>
            <a:off x="93597" y="2780553"/>
            <a:ext cx="2379241" cy="204693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000000"/>
                </a:solidFill>
                <a:uFillTx/>
                <a:latin typeface="Open Sans" pitchFamily="34"/>
                <a:ea typeface="Microsoft YaHei" pitchFamily="2"/>
                <a:cs typeface="Arial" pitchFamily="2"/>
              </a:rPr>
              <a:t>Vrh atmosfere – mala vrednost funkcije izvora. Ovo je zato što fotoni “beže” iz atmosfere, pa J pada, a samim tim i S.</a:t>
            </a:r>
          </a:p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600" b="0" i="0" u="none" strike="noStrike" kern="1200" cap="none" spc="0" baseline="0">
              <a:solidFill>
                <a:srgbClr val="000000"/>
              </a:solidFill>
              <a:uFillTx/>
              <a:latin typeface="Open Sans" pitchFamily="34"/>
              <a:ea typeface="Microsoft YaHei" pitchFamily="2"/>
              <a:cs typeface="Arial" pitchFamily="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7EDE7B0B-8D99-38B0-072A-D371B3BFB6A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386001" y="17282"/>
            <a:ext cx="7304400" cy="5668923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B3CCE-A8D1-7B4C-A1FC-B95CED0D109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87642" y="81719"/>
            <a:ext cx="9538563" cy="603723"/>
          </a:xfrm>
        </p:spPr>
        <p:txBody>
          <a:bodyPr>
            <a:spAutoFit/>
          </a:bodyPr>
          <a:lstStyle/>
          <a:p>
            <a:pPr lvl="0"/>
            <a:r>
              <a:rPr lang="en-US" sz="2200"/>
              <a:t>Ovo prouzrokuje jako duboko spektralne linije! (Ovo su D linije Natrijuma)</a:t>
            </a:r>
          </a:p>
        </p:txBody>
      </p:sp>
      <p:pic>
        <p:nvPicPr>
          <p:cNvPr id="3" name="">
            <a:extLst>
              <a:ext uri="{FF2B5EF4-FFF2-40B4-BE49-F238E27FC236}">
                <a16:creationId xmlns:a16="http://schemas.microsoft.com/office/drawing/2014/main" id="{1CC7A39E-EA3A-B62E-EC9C-1586C061ED0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437482" y="914043"/>
            <a:ext cx="6703923" cy="4647602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2365D-BA9F-EA52-E2ED-5D53A9C156D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Šokantno-frapantan zaključak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AE65D9-4B89-BEB0-D7CA-54C8C6BA622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/>
              <a:t>U prisustvu ne-LTR efekata čak i u izotermalnoj atmosferi dobijamo apsorpcionu liniju!</a:t>
            </a:r>
          </a:p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/>
              <a:t>U realističnoj atmosferi (npr Sunčevoj), ovo dovodi da u jakim, ne-LTR spektralnim linijama, funkcija izvora ima sledeći trend: </a:t>
            </a:r>
            <a:br>
              <a:rPr lang="en-US"/>
            </a:br>
            <a:br>
              <a:rPr lang="en-US"/>
            </a:br>
            <a:r>
              <a:rPr lang="en-US" b="1"/>
              <a:t>Opada</a:t>
            </a:r>
            <a:r>
              <a:rPr lang="en-US"/>
              <a:t> – fotosferski pad temperature</a:t>
            </a:r>
            <a:br>
              <a:rPr lang="en-US"/>
            </a:br>
            <a:br>
              <a:rPr lang="en-US"/>
            </a:br>
            <a:r>
              <a:rPr lang="en-US" b="1"/>
              <a:t>Raste</a:t>
            </a:r>
            <a:r>
              <a:rPr lang="en-US"/>
              <a:t> – hromosferski rast temperature </a:t>
            </a:r>
            <a:br>
              <a:rPr lang="en-US"/>
            </a:br>
            <a:br>
              <a:rPr lang="en-US"/>
            </a:br>
            <a:r>
              <a:rPr lang="en-US" b="1"/>
              <a:t>Opada</a:t>
            </a:r>
            <a:r>
              <a:rPr lang="en-US"/>
              <a:t> – neLTR efekti u visokoj hromosferi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FFC661A6-C7EF-3967-6AF8-0D96934EAE5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715000" y="1828800"/>
            <a:ext cx="3886200" cy="3765599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C72CD-2B75-7AB1-DA72-9494B8E944B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>
            <a:spAutoFit/>
          </a:bodyPr>
          <a:lstStyle/>
          <a:p>
            <a:pPr lvl="0"/>
            <a:r>
              <a:rPr lang="en-US"/>
              <a:t>Sada konačno razumemo h &amp; k linije Mg II</a:t>
            </a:r>
          </a:p>
        </p:txBody>
      </p:sp>
      <p:pic>
        <p:nvPicPr>
          <p:cNvPr id="3" name="">
            <a:extLst>
              <a:ext uri="{FF2B5EF4-FFF2-40B4-BE49-F238E27FC236}">
                <a16:creationId xmlns:a16="http://schemas.microsoft.com/office/drawing/2014/main" id="{910CE974-C42A-2FAD-0108-C0F1532D88C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 r="30332"/>
          <a:stretch>
            <a:fillRect/>
          </a:stretch>
        </p:blipFill>
        <p:spPr>
          <a:xfrm>
            <a:off x="228600" y="1143000"/>
            <a:ext cx="7086600" cy="312624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">
            <a:extLst>
              <a:ext uri="{FF2B5EF4-FFF2-40B4-BE49-F238E27FC236}">
                <a16:creationId xmlns:a16="http://schemas.microsoft.com/office/drawing/2014/main" id="{C18E95AA-7662-A293-88CB-8EC4764E04F9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6352556" y="2514600"/>
            <a:ext cx="3724195" cy="3154679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1AEAB-DF7A-C205-100D-57EFB454D83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>
            <a:spAutoFit/>
          </a:bodyPr>
          <a:lstStyle/>
          <a:p>
            <a:pPr lvl="0"/>
            <a:r>
              <a:rPr lang="en-US"/>
              <a:t>Neki zaključci: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619B55-A663-FFBA-903B-5C863B0D466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87642" y="914043"/>
            <a:ext cx="9538563" cy="4114443"/>
          </a:xfrm>
        </p:spPr>
        <p:txBody>
          <a:bodyPr/>
          <a:lstStyle/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/>
              <a:t>Rasejanje tj. Ne-LTR dovodi do spregnuća jednačine statističke ravnoteže i jednačine prenosa zračenja</a:t>
            </a:r>
          </a:p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/>
              <a:t>Da bismo znali intenzitet na jednoj talasnoj dužini i jednom pravcu – moramo da znamo intenzitet na svim talasnim dužinama u svim pravcima</a:t>
            </a:r>
          </a:p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/>
              <a:t>Rešenje je ne-trivijalno, u generalnom slučaju mora biti numeričko</a:t>
            </a:r>
          </a:p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/>
              <a:t>Do sada smo gledali slučaj atoma sa dva nivoa – </a:t>
            </a:r>
            <a:r>
              <a:rPr lang="en-US" b="1"/>
              <a:t>linearan problem</a:t>
            </a:r>
          </a:p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/>
              <a:t>U generalnom slučaju imamo atome sa više nivoa (eng: multilevel atom case).</a:t>
            </a:r>
          </a:p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/>
              <a:t>Najvažniji rad u ovoj oblasti je verovatno </a:t>
            </a:r>
            <a:r>
              <a:rPr lang="en-US" i="1"/>
              <a:t>Rybicki &amp; Hummer (1991): An accelerated lambda iteration method for multilevel radiative transfer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AFC3C-D129-04C2-6F65-01F4E2C2832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>
            <a:spAutoFit/>
          </a:bodyPr>
          <a:lstStyle/>
          <a:p>
            <a:pPr lvl="0"/>
            <a:r>
              <a:rPr lang="en-US"/>
              <a:t>Jednačina statističke ravnoteže za atom sa više nivoa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0E21B2-9AB4-6926-336A-91E4248B883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/>
              <a:t>Populacija svakog od nivoa je konstantna u vremenu. 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/>
              <a:t>Ako napišemo ovo za svaki nivo, jedna jednačina će biti višak (neodredjen sistem).</a:t>
            </a:r>
          </a:p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/>
              <a:t>Umesto toga, sistem zatvaramo sa: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/>
              <a:t>Gde je n_total ukupna koncentracija čestica datog elementa </a:t>
            </a:r>
            <a:r>
              <a:rPr lang="en-US" b="1"/>
              <a:t>(diskusija).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D118E38F-8DEA-B037-FB8F-535F905D4F9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41362" y="1644118"/>
            <a:ext cx="9193679" cy="86364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">
            <a:extLst>
              <a:ext uri="{FF2B5EF4-FFF2-40B4-BE49-F238E27FC236}">
                <a16:creationId xmlns:a16="http://schemas.microsoft.com/office/drawing/2014/main" id="{D1247302-814E-7D7B-071C-E797D4663AC1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889436" y="3722037"/>
            <a:ext cx="2297521" cy="811804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89EB8-4906-AD03-336F-8A3254D3B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843E1-AAB8-40B1-6D9A-7AFEFA6E20B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65403" y="198914"/>
            <a:ext cx="9675357" cy="369332"/>
          </a:xfrm>
        </p:spPr>
        <p:txBody>
          <a:bodyPr>
            <a:spAutoFit/>
          </a:bodyPr>
          <a:lstStyle/>
          <a:p>
            <a:pPr lvl="0"/>
            <a:r>
              <a:rPr lang="en-US" dirty="0"/>
              <a:t>Grotrian diagram Ca II </a:t>
            </a:r>
            <a:r>
              <a:rPr lang="en-US" dirty="0" err="1"/>
              <a:t>atoma</a:t>
            </a:r>
            <a:r>
              <a:rPr lang="en-US" dirty="0"/>
              <a:t>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81F38EB-EF63-A118-63B1-DC506EC995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1810" y="-1"/>
            <a:ext cx="3879850" cy="5668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690E5803-5CF7-F991-FC28-05D50CD05969}"/>
              </a:ext>
            </a:extLst>
          </p:cNvPr>
          <p:cNvSpPr txBox="1">
            <a:spLocks/>
          </p:cNvSpPr>
          <p:nvPr/>
        </p:nvSpPr>
        <p:spPr>
          <a:xfrm>
            <a:off x="287643" y="914043"/>
            <a:ext cx="5004168" cy="411444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>
            <a:lvl1pPr marL="0" marR="0" lvl="0" indent="0" defTabSz="914400" rtl="0" fontAlgn="auto" hangingPunct="0">
              <a:lnSpc>
                <a:spcPct val="100000"/>
              </a:lnSpc>
              <a:spcBef>
                <a:spcPts val="1700"/>
              </a:spcBef>
              <a:spcAft>
                <a:spcPts val="285"/>
              </a:spcAft>
              <a:buSzPct val="45000"/>
              <a:buFont typeface="StarSymbol"/>
              <a:buChar char="●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uFillTx/>
                <a:latin typeface="Rubik Light" pitchFamily="2"/>
                <a:ea typeface="Microsoft YaHei" pitchFamily="2"/>
                <a:cs typeface="Arial" pitchFamily="2"/>
              </a:defRPr>
            </a:lvl1pPr>
            <a:lvl2pPr marL="0" marR="0" lvl="1" indent="0" defTabSz="914400" rtl="0" fontAlgn="auto" hangingPunct="0">
              <a:lnSpc>
                <a:spcPct val="100000"/>
              </a:lnSpc>
              <a:spcBef>
                <a:spcPts val="1415"/>
              </a:spcBef>
              <a:spcAft>
                <a:spcPts val="285"/>
              </a:spcAft>
              <a:buSzPct val="75000"/>
              <a:buFont typeface="StarSymbol"/>
              <a:buChar char="–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uFillTx/>
                <a:latin typeface="Rubik Light" pitchFamily="2"/>
                <a:ea typeface="Microsoft YaHei" pitchFamily="2"/>
                <a:cs typeface="Arial" pitchFamily="2"/>
              </a:defRPr>
            </a:lvl2pPr>
            <a:lvl3pPr marL="0" marR="0" lvl="2" indent="0" defTabSz="914400" rtl="0" fontAlgn="auto" hangingPunct="0">
              <a:lnSpc>
                <a:spcPct val="100000"/>
              </a:lnSpc>
              <a:spcBef>
                <a:spcPts val="1135"/>
              </a:spcBef>
              <a:spcAft>
                <a:spcPts val="285"/>
              </a:spcAft>
              <a:buSzPct val="45000"/>
              <a:buFont typeface="StarSymbol"/>
              <a:buChar char="●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uFillTx/>
                <a:latin typeface="Rubik Light" pitchFamily="2"/>
                <a:ea typeface="Microsoft YaHei" pitchFamily="2"/>
                <a:cs typeface="Arial" pitchFamily="2"/>
              </a:defRPr>
            </a:lvl3pPr>
            <a:lvl4pPr marL="0" marR="0" lvl="3" indent="0" defTabSz="914400" rtl="0" fontAlgn="auto" hangingPunct="0">
              <a:lnSpc>
                <a:spcPct val="100000"/>
              </a:lnSpc>
              <a:spcBef>
                <a:spcPts val="850"/>
              </a:spcBef>
              <a:spcAft>
                <a:spcPts val="285"/>
              </a:spcAft>
              <a:buSzPct val="75000"/>
              <a:buFont typeface="StarSymbol"/>
              <a:buChar char="–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uFillTx/>
                <a:latin typeface="Rubik Light" pitchFamily="2"/>
                <a:ea typeface="Microsoft YaHei" pitchFamily="2"/>
                <a:cs typeface="Arial" pitchFamily="2"/>
              </a:defRPr>
            </a:lvl4pPr>
            <a:lvl5pPr marL="0" marR="0" lvl="4" indent="0" defTabSz="914400" rtl="0" fontAlgn="auto" hangingPunct="0">
              <a:lnSpc>
                <a:spcPct val="100000"/>
              </a:lnSpc>
              <a:spcBef>
                <a:spcPts val="565"/>
              </a:spcBef>
              <a:spcAft>
                <a:spcPts val="285"/>
              </a:spcAft>
              <a:buSzPct val="45000"/>
              <a:buFont typeface="StarSymbol"/>
              <a:buChar char="●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uFillTx/>
                <a:latin typeface="Rubik Light" pitchFamily="2"/>
                <a:ea typeface="Microsoft YaHei" pitchFamily="2"/>
                <a:cs typeface="Arial" pitchFamily="2"/>
              </a:defRPr>
            </a:lvl5pPr>
            <a:lvl6pPr marL="0" marR="0" lvl="5" indent="0" defTabSz="914400" rtl="0" fontAlgn="auto" hangingPunct="0">
              <a:lnSpc>
                <a:spcPct val="100000"/>
              </a:lnSpc>
              <a:spcBef>
                <a:spcPts val="565"/>
              </a:spcBef>
              <a:spcAft>
                <a:spcPts val="285"/>
              </a:spcAft>
              <a:buSzPct val="45000"/>
              <a:buFont typeface="StarSymbol"/>
              <a:buChar char="●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uFillTx/>
                <a:latin typeface="Rubik Light" pitchFamily="2"/>
                <a:ea typeface="Microsoft YaHei" pitchFamily="2"/>
                <a:cs typeface="Arial" pitchFamily="2"/>
              </a:defRPr>
            </a:lvl6pPr>
            <a:lvl7pPr marL="0" marR="0" lvl="6" indent="0" defTabSz="914400" rtl="0" fontAlgn="auto" hangingPunct="0">
              <a:lnSpc>
                <a:spcPct val="100000"/>
              </a:lnSpc>
              <a:spcBef>
                <a:spcPts val="565"/>
              </a:spcBef>
              <a:spcAft>
                <a:spcPts val="285"/>
              </a:spcAft>
              <a:buSzPct val="45000"/>
              <a:buFont typeface="StarSymbol"/>
              <a:buChar char="●"/>
              <a:tabLst/>
              <a:defRPr lang="en-US" sz="1600" b="0" i="0" u="none" strike="noStrike" kern="1200" cap="none" spc="0" baseline="0"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uFillTx/>
                <a:latin typeface="Rubik Light" pitchFamily="2"/>
                <a:ea typeface="Microsoft YaHei" pitchFamily="2"/>
                <a:cs typeface="Arial" pitchFamily="2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580"/>
              </a:spcAft>
            </a:pPr>
            <a:r>
              <a:rPr lang="en-US" dirty="0" err="1"/>
              <a:t>Glavna</a:t>
            </a:r>
            <a:r>
              <a:rPr lang="en-US" dirty="0"/>
              <a:t> </a:t>
            </a:r>
            <a:r>
              <a:rPr lang="en-US" dirty="0" err="1"/>
              <a:t>komplikacija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 ne-LTR je </a:t>
            </a:r>
            <a:r>
              <a:rPr lang="en-US" dirty="0" err="1"/>
              <a:t>slede</a:t>
            </a:r>
            <a:r>
              <a:rPr lang="sr-Latn-RS" dirty="0"/>
              <a:t>ća:</a:t>
            </a:r>
          </a:p>
          <a:p>
            <a:pPr>
              <a:spcBef>
                <a:spcPts val="0"/>
              </a:spcBef>
              <a:spcAft>
                <a:spcPts val="1580"/>
              </a:spcAft>
            </a:pPr>
            <a:r>
              <a:rPr lang="sr-Latn-RS" dirty="0"/>
              <a:t>Iako nas zanima samo jedna linija (npr. Ca II 854.2 nm), mi moramo da izmodelujemo sve prelaze koji su sa njim povezani, direktno ili indirektno. </a:t>
            </a:r>
          </a:p>
          <a:p>
            <a:pPr>
              <a:spcBef>
                <a:spcPts val="0"/>
              </a:spcBef>
              <a:spcAft>
                <a:spcPts val="1580"/>
              </a:spcAft>
            </a:pPr>
            <a:r>
              <a:rPr lang="sr-Latn-RS" dirty="0"/>
              <a:t>Dakle imamo mnogo više frekvencija </a:t>
            </a:r>
          </a:p>
          <a:p>
            <a:pPr>
              <a:spcBef>
                <a:spcPts val="0"/>
              </a:spcBef>
              <a:spcAft>
                <a:spcPts val="1580"/>
              </a:spcAft>
            </a:pPr>
            <a:r>
              <a:rPr lang="sr-Latn-RS" dirty="0"/>
              <a:t>Takodje za svaki od tih prelaza nam treba integral rasejanja, dakle moramo da rešimo JPZ, i to u nekoliko pravaca. </a:t>
            </a:r>
          </a:p>
          <a:p>
            <a:pPr>
              <a:spcBef>
                <a:spcPts val="0"/>
              </a:spcBef>
              <a:spcAft>
                <a:spcPts val="1580"/>
              </a:spcAft>
            </a:pPr>
            <a:r>
              <a:rPr lang="sr-Latn-RS" dirty="0"/>
              <a:t>Uporedimo to sa LTR slučajem!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0709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8AE98-E587-D0B4-D989-EA83AF0E6D8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Kako ovo rešiti?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2E1656-368E-16FD-0964-66565DB723B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/>
              <a:t>Ne-LTR u atomima sa više nivoa nije analitički rešiv problem</a:t>
            </a:r>
          </a:p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/>
              <a:t>Ako bismo raspisali sve zavisnosti dobili bismo ogroman </a:t>
            </a:r>
            <a:r>
              <a:rPr lang="en-US" b="1"/>
              <a:t>nelinearan </a:t>
            </a:r>
            <a:r>
              <a:rPr lang="en-US"/>
              <a:t>sistem</a:t>
            </a:r>
          </a:p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/>
              <a:t>Zato se rešava iterativno: </a:t>
            </a:r>
            <a:br>
              <a:rPr lang="en-US"/>
            </a:br>
            <a:br>
              <a:rPr lang="en-US"/>
            </a:br>
            <a:r>
              <a:rPr lang="en-US"/>
              <a:t>Pretpostavimo početne vrednosti populacija (npr LTE)</a:t>
            </a:r>
          </a:p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en-US"/>
              <a:t>Izračunamo intenzitete (aps, em → JPZ)</a:t>
            </a:r>
            <a:br>
              <a:rPr lang="en-US"/>
            </a:br>
            <a:br>
              <a:rPr lang="en-US"/>
            </a:br>
            <a:r>
              <a:rPr lang="en-US"/>
              <a:t>Izračunamo J </a:t>
            </a:r>
            <a:br>
              <a:rPr lang="en-US"/>
            </a:br>
            <a:br>
              <a:rPr lang="en-US"/>
            </a:br>
            <a:r>
              <a:rPr lang="en-US"/>
              <a:t>Statistička ravnoteža, dobijamo nove vrednosti populacija </a:t>
            </a:r>
            <a:br>
              <a:rPr lang="en-US"/>
            </a:br>
            <a:br>
              <a:rPr lang="en-US"/>
            </a:br>
            <a:r>
              <a:rPr lang="en-US"/>
              <a:t>Ponavljamo do konvergencije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2E322-945A-F89D-C0B8-1E784B704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FC8A8-DD87-8D56-424B-6C076300385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sr-Latn-RS" dirty="0"/>
              <a:t>Kraj našeg kursa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09CB68-0C03-0900-FAFF-8FE2F25EA83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sr-Latn-RS" dirty="0"/>
              <a:t>Svaka čast, izdržali ste ovaj komplikovan semestar! </a:t>
            </a:r>
          </a:p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sr-Latn-RS" dirty="0"/>
              <a:t>Nije i dalje kraj: još jedan domaći + jedan izveštaj sa vežbi</a:t>
            </a:r>
          </a:p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sr-Latn-RS" dirty="0"/>
              <a:t>Ispiti – po dogovoru </a:t>
            </a:r>
          </a:p>
          <a:p>
            <a:pPr lvl="0">
              <a:spcBef>
                <a:spcPts val="0"/>
              </a:spcBef>
              <a:spcAft>
                <a:spcPts val="1580"/>
              </a:spcAft>
            </a:pPr>
            <a:r>
              <a:rPr lang="sr-Latn-RS" dirty="0"/>
              <a:t>Zapamtite tri celine: </a:t>
            </a:r>
            <a:br>
              <a:rPr lang="sr-Latn-RS" dirty="0"/>
            </a:br>
            <a:br>
              <a:rPr lang="sr-Latn-RS" dirty="0"/>
            </a:br>
            <a:r>
              <a:rPr lang="sr-Latn-RS" b="1" dirty="0"/>
              <a:t>Osnove prenosa zračenja, statistika gasa i neprozračnost u kontinuumu </a:t>
            </a:r>
          </a:p>
          <a:p>
            <a:pPr lvl="0">
              <a:spcBef>
                <a:spcPts val="0"/>
              </a:spcBef>
              <a:spcAft>
                <a:spcPts val="1580"/>
              </a:spcAft>
              <a:buNone/>
            </a:pPr>
            <a:r>
              <a:rPr lang="sr-Latn-RS" b="1" dirty="0"/>
              <a:t>Atmosfera u ravnoteži zračenja </a:t>
            </a:r>
          </a:p>
          <a:p>
            <a:pPr lvl="0">
              <a:spcBef>
                <a:spcPts val="0"/>
              </a:spcBef>
              <a:spcAft>
                <a:spcPts val="1580"/>
              </a:spcAft>
              <a:buNone/>
            </a:pPr>
            <a:r>
              <a:rPr lang="sr-Latn-RS" b="1" dirty="0"/>
              <a:t>Spektralne linije </a:t>
            </a:r>
          </a:p>
          <a:p>
            <a:pPr lvl="0">
              <a:spcBef>
                <a:spcPts val="0"/>
              </a:spcBef>
              <a:spcAft>
                <a:spcPts val="1580"/>
              </a:spcAft>
              <a:buNone/>
            </a:pPr>
            <a:r>
              <a:rPr lang="sr-Latn-RS" b="1" dirty="0"/>
              <a:t>Srećno i javite šta god treba!</a:t>
            </a:r>
          </a:p>
        </p:txBody>
      </p:sp>
    </p:spTree>
    <p:extLst>
      <p:ext uri="{BB962C8B-B14F-4D97-AF65-F5344CB8AC3E}">
        <p14:creationId xmlns:p14="http://schemas.microsoft.com/office/powerpoint/2010/main" val="963636733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21168</TotalTime>
  <Words>1426</Words>
  <Application>Microsoft Office PowerPoint</Application>
  <PresentationFormat>Widescreen</PresentationFormat>
  <Paragraphs>146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Liberation Sans</vt:lpstr>
      <vt:lpstr>Liberation Serif</vt:lpstr>
      <vt:lpstr>Open Sans</vt:lpstr>
      <vt:lpstr>Rubik</vt:lpstr>
      <vt:lpstr>Rubik Light</vt:lpstr>
      <vt:lpstr>StarSymbol</vt:lpstr>
      <vt:lpstr>Default</vt:lpstr>
      <vt:lpstr>PowerPoint Presentation</vt:lpstr>
      <vt:lpstr>Podsetnik</vt:lpstr>
      <vt:lpstr>Zašto “pogotovo gornjeg?</vt:lpstr>
      <vt:lpstr>Podsetnik – koherentno rasejanje</vt:lpstr>
      <vt:lpstr>Atom sa dva nivoa</vt:lpstr>
      <vt:lpstr>Čemu je jednak ukupan broj radijativnih ekscitacija?</vt:lpstr>
      <vt:lpstr>Čemu je jednak ukupan broj radijativnih ekscitacija?</vt:lpstr>
      <vt:lpstr>Čemu je jednak ukupan broj radijativnih ekscitacija?</vt:lpstr>
      <vt:lpstr>Čemu je jednak ukupan broj radijativnih ekscitacija?</vt:lpstr>
      <vt:lpstr>Radijativne de-ekscitacije</vt:lpstr>
      <vt:lpstr>Statistička ravnoteža</vt:lpstr>
      <vt:lpstr>Funkcija izvora u atomu sa dva nivoa:</vt:lpstr>
      <vt:lpstr>Funkcija izvora u atomu sa dva nivoa:</vt:lpstr>
      <vt:lpstr>Atom sa dva nivoa u ne-LTR</vt:lpstr>
      <vt:lpstr>Šta su posledice ne-LTR?</vt:lpstr>
      <vt:lpstr>Šta su posledice ne-LTR?</vt:lpstr>
      <vt:lpstr>Tačno rešenje – funkcija izvora bitno pada na vrhu atmosfere</vt:lpstr>
      <vt:lpstr>PowerPoint Presentation</vt:lpstr>
      <vt:lpstr>Ovo prouzrokuje jako duboko spektralne linije! (Ovo su D linije Natrijuma)</vt:lpstr>
      <vt:lpstr>Šokantno-frapantan zaključak</vt:lpstr>
      <vt:lpstr>Sada konačno razumemo h &amp; k linije Mg II</vt:lpstr>
      <vt:lpstr>Neki zaključci:</vt:lpstr>
      <vt:lpstr>Jednačina statističke ravnoteže za atom sa više nivoa</vt:lpstr>
      <vt:lpstr>Grotrian diagram Ca II atoma </vt:lpstr>
      <vt:lpstr>Kako ovo rešiti?</vt:lpstr>
      <vt:lpstr>Kraj našeg kursa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Ivan Milic</cp:lastModifiedBy>
  <cp:revision>2676</cp:revision>
  <dcterms:created xsi:type="dcterms:W3CDTF">2021-01-12T21:16:47Z</dcterms:created>
  <dcterms:modified xsi:type="dcterms:W3CDTF">2026-02-06T13:23:13Z</dcterms:modified>
</cp:coreProperties>
</file>